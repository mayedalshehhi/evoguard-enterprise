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c4808964a643fb" /><Relationship Type="http://schemas.openxmlformats.org/officeDocument/2006/relationships/extended-properties" Target="/docProps/app.xml" Id="Rb713233f357b4eb1" /><Relationship Type="http://schemas.openxmlformats.org/officeDocument/2006/relationships/officeDocument" Target="/ppt/presentation.xml" Id="R1e53f3887d0b45f5" /></Relationships>
</file>

<file path=ppt/presentation.xml><?xml version="1.0" encoding="utf-8"?>
<p:presentation xmlns:p="http://schemas.openxmlformats.org/presentationml/2006/main">
  <p:sldMasterIdLst>
    <p:sldMasterId xmlns:r="http://schemas.openxmlformats.org/officeDocument/2006/relationships" id="2147483648" r:id="Rcd376225e56649e5"/>
  </p:sldMasterIdLst>
  <p:notesMasterIdLst>
    <p:notesMasterId xmlns:r="http://schemas.openxmlformats.org/officeDocument/2006/relationships" r:id="Rcc93405569bb42c5"/>
  </p:notesMasterIdLst>
  <p:sldIdLst>
    <p:sldId xmlns:r="http://schemas.openxmlformats.org/officeDocument/2006/relationships" id="256" r:id="Rf64798c5f42b4834"/>
    <p:sldId xmlns:r="http://schemas.openxmlformats.org/officeDocument/2006/relationships" id="257" r:id="R8cb6740cae5c4785"/>
    <p:sldId xmlns:r="http://schemas.openxmlformats.org/officeDocument/2006/relationships" id="258" r:id="Re517baf35b6b47c8"/>
    <p:sldId xmlns:r="http://schemas.openxmlformats.org/officeDocument/2006/relationships" id="259" r:id="Rc2a3adb290144ec6"/>
    <p:sldId xmlns:r="http://schemas.openxmlformats.org/officeDocument/2006/relationships" id="260" r:id="Rcec20ad1967643fa"/>
    <p:sldId xmlns:r="http://schemas.openxmlformats.org/officeDocument/2006/relationships" id="261" r:id="Rff0eb98f8915402e"/>
    <p:sldId xmlns:r="http://schemas.openxmlformats.org/officeDocument/2006/relationships" id="262" r:id="Raff78a603b3c4f83"/>
    <p:sldId xmlns:r="http://schemas.openxmlformats.org/officeDocument/2006/relationships" id="263" r:id="Rf607fe898ec64836"/>
    <p:sldId xmlns:r="http://schemas.openxmlformats.org/officeDocument/2006/relationships" id="264" r:id="R09cd44b4486d4b5b"/>
    <p:sldId xmlns:r="http://schemas.openxmlformats.org/officeDocument/2006/relationships" id="265" r:id="R2db505f2f99340fc"/>
    <p:sldId xmlns:r="http://schemas.openxmlformats.org/officeDocument/2006/relationships" id="266" r:id="R9e3157deba684c7a"/>
    <p:sldId xmlns:r="http://schemas.openxmlformats.org/officeDocument/2006/relationships" id="267" r:id="R781335146819482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cd376225e56649e5" /><Relationship Type="http://schemas.openxmlformats.org/officeDocument/2006/relationships/theme" Target="/ppt/theme/theme1.xml" Id="Rbdd2c0de84684867" /><Relationship Type="http://schemas.openxmlformats.org/officeDocument/2006/relationships/notesMaster" Target="/ppt/notesMasters/notesMaster1.xml" Id="Rcc93405569bb42c5" /><Relationship Type="http://schemas.openxmlformats.org/officeDocument/2006/relationships/presProps" Target="/ppt/presProps.xml" Id="R0c81cd6711a743c9" /><Relationship Type="http://schemas.openxmlformats.org/officeDocument/2006/relationships/viewProps" Target="/ppt/viewProps.xml" Id="Rb9c27b83a8c64d2c" /><Relationship Type="http://schemas.openxmlformats.org/officeDocument/2006/relationships/tableStyles" Target="/ppt/tableStyles.xml" Id="Rb75f417a2d1846c2" /><Relationship Type="http://schemas.openxmlformats.org/officeDocument/2006/relationships/slide" Target="/ppt/slides/slide1.xml" Id="Rf64798c5f42b4834" /><Relationship Type="http://schemas.openxmlformats.org/officeDocument/2006/relationships/slide" Target="/ppt/slides/slide2.xml" Id="R8cb6740cae5c4785" /><Relationship Type="http://schemas.openxmlformats.org/officeDocument/2006/relationships/slide" Target="/ppt/slides/slide3.xml" Id="Re517baf35b6b47c8" /><Relationship Type="http://schemas.openxmlformats.org/officeDocument/2006/relationships/slide" Target="/ppt/slides/slide4.xml" Id="Rc2a3adb290144ec6" /><Relationship Type="http://schemas.openxmlformats.org/officeDocument/2006/relationships/slide" Target="/ppt/slides/slide5.xml" Id="Rcec20ad1967643fa" /><Relationship Type="http://schemas.openxmlformats.org/officeDocument/2006/relationships/slide" Target="/ppt/slides/slide6.xml" Id="Rff0eb98f8915402e" /><Relationship Type="http://schemas.openxmlformats.org/officeDocument/2006/relationships/slide" Target="/ppt/slides/slide7.xml" Id="Raff78a603b3c4f83" /><Relationship Type="http://schemas.openxmlformats.org/officeDocument/2006/relationships/slide" Target="/ppt/slides/slide8.xml" Id="Rf607fe898ec64836" /><Relationship Type="http://schemas.openxmlformats.org/officeDocument/2006/relationships/slide" Target="/ppt/slides/slide9.xml" Id="R09cd44b4486d4b5b" /><Relationship Type="http://schemas.openxmlformats.org/officeDocument/2006/relationships/slide" Target="/ppt/slides/slide10.xml" Id="R2db505f2f99340fc" /><Relationship Type="http://schemas.openxmlformats.org/officeDocument/2006/relationships/slide" Target="/ppt/slides/slide11.xml" Id="R9e3157deba684c7a" /><Relationship Type="http://schemas.openxmlformats.org/officeDocument/2006/relationships/slide" Target="/ppt/slides/slide12.xml" Id="R78133514681948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9bbf287d310246a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adf0e71bd14367" /><Relationship Type="http://schemas.openxmlformats.org/officeDocument/2006/relationships/notesMaster" Target="/ppt/notesMasters/notesMaster1.xml" Id="R9710fe43c51b44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d9bf2912414bb0" /><Relationship Type="http://schemas.openxmlformats.org/officeDocument/2006/relationships/notesMaster" Target="/ppt/notesMasters/notesMaster1.xml" Id="R62a3d4f96fd048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044eefbd0544af" /><Relationship Type="http://schemas.openxmlformats.org/officeDocument/2006/relationships/notesMaster" Target="/ppt/notesMasters/notesMaster1.xml" Id="R8b396d67073b41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545909bf694381" /><Relationship Type="http://schemas.openxmlformats.org/officeDocument/2006/relationships/notesMaster" Target="/ppt/notesMasters/notesMaster1.xml" Id="Re8eadd4acf784a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065ff5396e4730" /><Relationship Type="http://schemas.openxmlformats.org/officeDocument/2006/relationships/notesMaster" Target="/ppt/notesMasters/notesMaster1.xml" Id="R677adef1876f43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5dad91aeb142f5" /><Relationship Type="http://schemas.openxmlformats.org/officeDocument/2006/relationships/notesMaster" Target="/ppt/notesMasters/notesMaster1.xml" Id="R2bf9affaf0d045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2d243c858f10498d" /><Relationship Type="http://schemas.openxmlformats.org/officeDocument/2006/relationships/notesMaster" Target="/ppt/notesMasters/notesMaster1.xml" Id="R3f4b7627957543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5accd1114b441a" /><Relationship Type="http://schemas.openxmlformats.org/officeDocument/2006/relationships/notesMaster" Target="/ppt/notesMasters/notesMaster1.xml" Id="Ra57544f0e5b849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535dd15bdc4699" /><Relationship Type="http://schemas.openxmlformats.org/officeDocument/2006/relationships/notesMaster" Target="/ppt/notesMasters/notesMaster1.xml" Id="R649421d6f8d249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2d1844ecb14037" /><Relationship Type="http://schemas.openxmlformats.org/officeDocument/2006/relationships/notesMaster" Target="/ppt/notesMasters/notesMaster1.xml" Id="R248950850cb7429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3ecc9f505a24af4" /><Relationship Type="http://schemas.openxmlformats.org/officeDocument/2006/relationships/notesMaster" Target="/ppt/notesMasters/notesMaster1.xml" Id="Rc8db3fec3402469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3a8f6d3619e4b58" /><Relationship Type="http://schemas.openxmlformats.org/officeDocument/2006/relationships/notesMaster" Target="/ppt/notesMasters/notesMaster1.xml" Id="Rbd2fc7c40f2443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869c0a6b7647f2"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f10627759c684c37" /><Relationship Type="http://schemas.openxmlformats.org/officeDocument/2006/relationships/slideLayout" Target="/ppt/slideLayouts/slideLayout2.xml" Id="R3691dfc24e6646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91dfc24e6646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9e9191e888bd4910" /><Relationship Type="http://schemas.openxmlformats.org/officeDocument/2006/relationships/notesSlide" Target="/ppt/notesSlides/notesSlide1.xml" Id="Ra94fd00fe1af44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70abf09ad0ac4eb4" /><Relationship Type="http://schemas.openxmlformats.org/officeDocument/2006/relationships/notesSlide" Target="/ppt/notesSlides/notesSlide2.xml" Id="R1fd2d33ab23a4e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ef7f69f5db7d44e0" /><Relationship Type="http://schemas.openxmlformats.org/officeDocument/2006/relationships/notesSlide" Target="/ppt/notesSlides/notesSlide3.xml" Id="R706d98f6f45f48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3813aedd6a3940f0" /><Relationship Type="http://schemas.openxmlformats.org/officeDocument/2006/relationships/image" Target="/ppt/media/image.jpeg" Id="R69a896ac5a204298" /><Relationship Type="http://schemas.openxmlformats.org/officeDocument/2006/relationships/notesSlide" Target="/ppt/notesSlides/notesSlide4.xml" Id="Rc1f4edc55fbf4d4a"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6760595d5416401d" /><Relationship Type="http://schemas.openxmlformats.org/officeDocument/2006/relationships/image" Target="/ppt/media/image2.jpeg" Id="R3bedfe5a451f4301" /><Relationship Type="http://schemas.openxmlformats.org/officeDocument/2006/relationships/notesSlide" Target="/ppt/notesSlides/notesSlide5.xml" Id="Rdee192da05a344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5a284c58fb434ebc" /><Relationship Type="http://schemas.openxmlformats.org/officeDocument/2006/relationships/image" Target="/ppt/media/image3.jpeg" Id="R06c30d8e3472424c" /><Relationship Type="http://schemas.openxmlformats.org/officeDocument/2006/relationships/notesSlide" Target="/ppt/notesSlides/notesSlide6.xml" Id="Re92037e5d02249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29e956bad55b47d0" /><Relationship Type="http://schemas.openxmlformats.org/officeDocument/2006/relationships/image" Target="/ppt/media/image4.jpeg" Id="R5638487bc819474b" /><Relationship Type="http://schemas.openxmlformats.org/officeDocument/2006/relationships/notesSlide" Target="/ppt/notesSlides/notesSlide7.xml" Id="R0817e44ce5cc45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d2edc0980f0e4286" /><Relationship Type="http://schemas.openxmlformats.org/officeDocument/2006/relationships/image" Target="/ppt/media/image5.jpeg" Id="R99e7975bdddc42c9" /><Relationship Type="http://schemas.openxmlformats.org/officeDocument/2006/relationships/notesSlide" Target="/ppt/notesSlides/notesSlide8.xml" Id="Rab156e69c2624eb8"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58433716c9c4486c" /><Relationship Type="http://schemas.openxmlformats.org/officeDocument/2006/relationships/notesSlide" Target="/ppt/notesSlides/notesSlide9.xml" Id="Rbf7a2853c1fc46f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7019a8f37cd64be5" /><Relationship Type="http://schemas.openxmlformats.org/officeDocument/2006/relationships/notesSlide" Target="/ppt/notesSlides/notesSlide10.xml" Id="Ra9d656569e594aa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f952476837f5443c" /><Relationship Type="http://schemas.openxmlformats.org/officeDocument/2006/relationships/notesSlide" Target="/ppt/notesSlides/notesSlide11.xml" Id="R3276ed4164994e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ec0d846ec67140df" /><Relationship Type="http://schemas.openxmlformats.org/officeDocument/2006/relationships/notesSlide" Target="/ppt/notesSlides/notesSlide12.xml" Id="R065f11eb79be4da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5FD55EE-786D-4CBB-A3F2-B419D023ECE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0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D9EDFFF-CFA6-42E4-AA69-27706D3919C9}"/>
              </a:ext>
            </a:extLst>
          </p:cNvPr>
          <p:cNvSpPr>
            <a:spLocks xmlns:a="http://schemas.openxmlformats.org/drawingml/2006/main" noGrp="1"/>
          </p:cNvSpPr>
          <p:nvPr/>
        </p:nvSpPr>
        <p:spPr>
          <a:xfrm xmlns:a="http://schemas.openxmlformats.org/drawingml/2006/main">
            <a:off x="-1190625" y="-1333500"/>
            <a:ext cx="4095750" cy="4095750"/>
          </a:xfrm>
          <a:prstGeom xmlns:a="http://schemas.openxmlformats.org/drawingml/2006/main" prst="ellipse">
            <a:avLst/>
          </a:prstGeom>
          <a:solidFill xmlns:a="http://schemas.openxmlformats.org/drawingml/2006/main">
            <a:srgbClr val="32004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3261E26-F811-4404-BF39-49F07D6FA053}"/>
              </a:ext>
            </a:extLst>
          </p:cNvPr>
          <p:cNvSpPr>
            <a:spLocks xmlns:a="http://schemas.openxmlformats.org/drawingml/2006/main" noGrp="1"/>
          </p:cNvSpPr>
          <p:nvPr/>
        </p:nvSpPr>
        <p:spPr>
          <a:xfrm xmlns:a="http://schemas.openxmlformats.org/drawingml/2006/main">
            <a:off x="9048750" y="-1143000"/>
            <a:ext cx="4095750" cy="4095750"/>
          </a:xfrm>
          <a:prstGeom xmlns:a="http://schemas.openxmlformats.org/drawingml/2006/main" prst="ellipse">
            <a:avLst/>
          </a:prstGeom>
          <a:solidFill xmlns:a="http://schemas.openxmlformats.org/drawingml/2006/main">
            <a:srgbClr val="160A34"/>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4D030F0A-CE62-44A1-B141-D792013F870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33DA9E8E-E3B2-4037-8E84-4FE2F65DA345}"/>
              </a:ext>
            </a:extLst>
          </p:cNvPr>
          <p:cNvSpPr>
            <a:spLocks xmlns:a="http://schemas.openxmlformats.org/drawingml/2006/main" noGrp="1"/>
          </p:cNvSpPr>
          <p:nvPr/>
        </p:nvSpPr>
        <p:spPr>
          <a:xfrm xmlns:a="http://schemas.openxmlformats.org/drawingml/2006/main">
            <a:off x="0" y="76200"/>
            <a:ext cx="12192000" cy="28575"/>
          </a:xfrm>
          <a:prstGeom xmlns:a="http://schemas.openxmlformats.org/drawingml/2006/main" prst="rect">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A5636B95-0231-40BF-BDE1-73EAAE3E393B}"/>
              </a:ext>
            </a:extLst>
          </p:cNvPr>
          <p:cNvSpPr>
            <a:spLocks xmlns:a="http://schemas.openxmlformats.org/drawingml/2006/main" noGrp="1"/>
          </p:cNvSpPr>
          <p:nvPr/>
        </p:nvSpPr>
        <p:spPr>
          <a:xfrm xmlns:a="http://schemas.openxmlformats.org/drawingml/2006/main">
            <a:off x="685800" y="781050"/>
            <a:ext cx="609600" cy="609600"/>
          </a:xfrm>
          <a:prstGeom xmlns:a="http://schemas.openxmlformats.org/drawingml/2006/main" prst="ellipse">
            <a:avLst/>
          </a:prstGeom>
          <a:solidFill xmlns:a="http://schemas.openxmlformats.org/drawingml/2006/main">
            <a:srgbClr val="140022"/>
          </a:solidFill>
          <a:ln xmlns:a="http://schemas.openxmlformats.org/drawingml/2006/main" w="19050">
            <a:solidFill>
              <a:srgbClr val="00FFE0"/>
            </a:solidFill>
            <a:prstDash val="solid"/>
          </a:ln>
        </p:spPr>
      </p:sp>
      <p:sp>
        <p:nvSpPr>
          <p:cNvPr id="7" name="">
            <a:extLst xmlns:a="http://schemas.openxmlformats.org/drawingml/2006/main">
              <a:ext uri="{FF2B5EF4-FFF2-40B4-BE49-F238E27FC236}">
                <a16:creationId xmlns:a16="http://schemas.microsoft.com/office/drawing/2014/main" id="{7888F156-8DDD-4203-9FB7-AEB6F6CC10C8}"/>
              </a:ext>
            </a:extLst>
          </p:cNvPr>
          <p:cNvSpPr>
            <a:spLocks xmlns:a="http://schemas.openxmlformats.org/drawingml/2006/main" noGrp="1"/>
          </p:cNvSpPr>
          <p:nvPr/>
        </p:nvSpPr>
        <p:spPr>
          <a:xfrm xmlns:a="http://schemas.openxmlformats.org/drawingml/2006/main">
            <a:off x="685800" y="942975"/>
            <a:ext cx="609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725" b="1">
                <a:solidFill>
                  <a:srgbClr val="00FFE0"/>
                </a:solidFill>
                <a:latin typeface="Aptos"/>
                <a:ea typeface="Aptos"/>
                <a:cs typeface="Aptos"/>
              </a:defRPr>
            </a:pPr>
            <a:r>
              <a:rPr sz="1725" b="1">
                <a:solidFill>
                  <a:srgbClr val="00FFE0"/>
                </a:solidFill>
                <a:latin typeface="Aptos"/>
                <a:ea typeface="Aptos"/>
                <a:cs typeface="Aptos"/>
              </a:rPr>
              <a:t>E</a:t>
            </a:r>
          </a:p>
        </p:txBody>
      </p:sp>
      <p:sp>
        <p:nvSpPr>
          <p:cNvPr id="8" name="">
            <a:extLst xmlns:a="http://schemas.openxmlformats.org/drawingml/2006/main">
              <a:ext uri="{FF2B5EF4-FFF2-40B4-BE49-F238E27FC236}">
                <a16:creationId xmlns:a16="http://schemas.microsoft.com/office/drawing/2014/main" id="{A5EAB8C2-ADC5-4860-9B77-E657A38DA44A}"/>
              </a:ext>
            </a:extLst>
          </p:cNvPr>
          <p:cNvSpPr>
            <a:spLocks xmlns:a="http://schemas.openxmlformats.org/drawingml/2006/main" noGrp="1"/>
          </p:cNvSpPr>
          <p:nvPr/>
        </p:nvSpPr>
        <p:spPr>
          <a:xfrm xmlns:a="http://schemas.openxmlformats.org/drawingml/2006/main">
            <a:off x="1581150" y="742950"/>
            <a:ext cx="7239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00FFE0"/>
                </a:solidFill>
                <a:latin typeface="Aptos Display"/>
                <a:ea typeface="Aptos Display"/>
                <a:cs typeface="Aptos Display"/>
              </a:defRPr>
            </a:pPr>
            <a:r>
              <a:rPr sz="3000" b="1">
                <a:solidFill>
                  <a:srgbClr val="00FFE0"/>
                </a:solidFill>
                <a:latin typeface="Aptos Display"/>
                <a:ea typeface="Aptos Display"/>
                <a:cs typeface="Aptos Display"/>
              </a:rPr>
              <a:t>EvoGuard Enterprise</a:t>
            </a:r>
          </a:p>
        </p:txBody>
      </p:sp>
      <p:sp>
        <p:nvSpPr>
          <p:cNvPr id="9" name="">
            <a:extLst xmlns:a="http://schemas.openxmlformats.org/drawingml/2006/main">
              <a:ext uri="{FF2B5EF4-FFF2-40B4-BE49-F238E27FC236}">
                <a16:creationId xmlns:a16="http://schemas.microsoft.com/office/drawing/2014/main" id="{2982793A-4ED4-49BB-8E6F-4DC05BF8903B}"/>
              </a:ext>
            </a:extLst>
          </p:cNvPr>
          <p:cNvSpPr>
            <a:spLocks xmlns:a="http://schemas.openxmlformats.org/drawingml/2006/main" noGrp="1"/>
          </p:cNvSpPr>
          <p:nvPr/>
        </p:nvSpPr>
        <p:spPr>
          <a:xfrm xmlns:a="http://schemas.openxmlformats.org/drawingml/2006/main">
            <a:off x="1600200" y="1409700"/>
            <a:ext cx="5905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7ECFF"/>
                </a:solidFill>
                <a:latin typeface="Aptos"/>
                <a:ea typeface="Aptos"/>
                <a:cs typeface="Aptos"/>
              </a:defRPr>
            </a:pPr>
            <a:r>
              <a:rPr sz="1350" b="0">
                <a:solidFill>
                  <a:srgbClr val="F7ECFF"/>
                </a:solidFill>
                <a:latin typeface="Aptos"/>
                <a:ea typeface="Aptos"/>
                <a:cs typeface="Aptos"/>
              </a:rPr>
              <a:t>Agentic AI Cyber Defense Platform</a:t>
            </a:r>
          </a:p>
        </p:txBody>
      </p:sp>
      <p:sp>
        <p:nvSpPr>
          <p:cNvPr id="10" name="">
            <a:extLst xmlns:a="http://schemas.openxmlformats.org/drawingml/2006/main">
              <a:ext uri="{FF2B5EF4-FFF2-40B4-BE49-F238E27FC236}">
                <a16:creationId xmlns:a16="http://schemas.microsoft.com/office/drawing/2014/main" id="{6D784752-5AC2-4BDD-8684-70591B22CFAA}"/>
              </a:ext>
            </a:extLst>
          </p:cNvPr>
          <p:cNvSpPr>
            <a:spLocks xmlns:a="http://schemas.openxmlformats.org/drawingml/2006/main" noGrp="1"/>
          </p:cNvSpPr>
          <p:nvPr/>
        </p:nvSpPr>
        <p:spPr>
          <a:xfrm xmlns:a="http://schemas.openxmlformats.org/drawingml/2006/main">
            <a:off x="685800" y="2190750"/>
            <a:ext cx="685800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7ECFF"/>
                </a:solidFill>
                <a:latin typeface="Aptos"/>
                <a:ea typeface="Aptos"/>
                <a:cs typeface="Aptos"/>
              </a:defRPr>
            </a:pPr>
            <a:r>
              <a:rPr sz="1800" b="1">
                <a:solidFill>
                  <a:srgbClr val="F7ECFF"/>
                </a:solidFill>
                <a:latin typeface="Aptos"/>
                <a:ea typeface="Aptos"/>
                <a:cs typeface="Aptos"/>
              </a:rPr>
              <a:t>A senior project prototype that simulates, monitors, analyzes, and responds to cyber threats through an AI-powered SOC dashboard.</a:t>
            </a:r>
          </a:p>
        </p:txBody>
      </p:sp>
      <p:sp>
        <p:nvSpPr>
          <p:cNvPr id="11" name="">
            <a:extLst xmlns:a="http://schemas.openxmlformats.org/drawingml/2006/main">
              <a:ext uri="{FF2B5EF4-FFF2-40B4-BE49-F238E27FC236}">
                <a16:creationId xmlns:a16="http://schemas.microsoft.com/office/drawing/2014/main" id="{E747AD43-06BB-4D16-A19F-B6CE2B16BBD6}"/>
              </a:ext>
            </a:extLst>
          </p:cNvPr>
          <p:cNvSpPr>
            <a:spLocks xmlns:a="http://schemas.openxmlformats.org/drawingml/2006/main" noGrp="1"/>
          </p:cNvSpPr>
          <p:nvPr/>
        </p:nvSpPr>
        <p:spPr>
          <a:xfrm xmlns:a="http://schemas.openxmlformats.org/drawingml/2006/main">
            <a:off x="704850" y="3600450"/>
            <a:ext cx="1485900" cy="285750"/>
          </a:xfrm>
          <a:prstGeom xmlns:a="http://schemas.openxmlformats.org/drawingml/2006/main" prst="rect">
            <a:avLst/>
          </a:prstGeom>
          <a:solidFill xmlns:a="http://schemas.openxmlformats.org/drawingml/2006/main">
            <a:srgbClr val="12001E"/>
          </a:solidFill>
          <a:ln xmlns:a="http://schemas.openxmlformats.org/drawingml/2006/main" w="9525">
            <a:solidFill>
              <a:srgbClr val="00FFE0"/>
            </a:solidFill>
            <a:prstDash val="solid"/>
          </a:ln>
        </p:spPr>
      </p:sp>
      <p:sp>
        <p:nvSpPr>
          <p:cNvPr id="12" name="">
            <a:extLst xmlns:a="http://schemas.openxmlformats.org/drawingml/2006/main">
              <a:ext uri="{FF2B5EF4-FFF2-40B4-BE49-F238E27FC236}">
                <a16:creationId xmlns:a16="http://schemas.microsoft.com/office/drawing/2014/main" id="{7B1C8892-3881-4865-AA0E-D1B2694FCE57}"/>
              </a:ext>
            </a:extLst>
          </p:cNvPr>
          <p:cNvSpPr>
            <a:spLocks xmlns:a="http://schemas.openxmlformats.org/drawingml/2006/main" noGrp="1"/>
          </p:cNvSpPr>
          <p:nvPr/>
        </p:nvSpPr>
        <p:spPr>
          <a:xfrm xmlns:a="http://schemas.openxmlformats.org/drawingml/2006/main">
            <a:off x="704850" y="3686175"/>
            <a:ext cx="14859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00FFE0"/>
                </a:solidFill>
                <a:latin typeface="Aptos"/>
                <a:ea typeface="Aptos"/>
                <a:cs typeface="Aptos"/>
              </a:defRPr>
            </a:pPr>
            <a:r>
              <a:rPr sz="675" b="1">
                <a:solidFill>
                  <a:srgbClr val="00FFE0"/>
                </a:solidFill>
                <a:latin typeface="Aptos"/>
                <a:ea typeface="Aptos"/>
                <a:cs typeface="Aptos"/>
              </a:rPr>
              <a:t>React Frontend</a:t>
            </a:r>
          </a:p>
        </p:txBody>
      </p:sp>
      <p:sp>
        <p:nvSpPr>
          <p:cNvPr id="13" name="">
            <a:extLst xmlns:a="http://schemas.openxmlformats.org/drawingml/2006/main">
              <a:ext uri="{FF2B5EF4-FFF2-40B4-BE49-F238E27FC236}">
                <a16:creationId xmlns:a16="http://schemas.microsoft.com/office/drawing/2014/main" id="{2B57FA32-6BD7-4F97-A6B7-256AE78BCB56}"/>
              </a:ext>
            </a:extLst>
          </p:cNvPr>
          <p:cNvSpPr>
            <a:spLocks xmlns:a="http://schemas.openxmlformats.org/drawingml/2006/main" noGrp="1"/>
          </p:cNvSpPr>
          <p:nvPr/>
        </p:nvSpPr>
        <p:spPr>
          <a:xfrm xmlns:a="http://schemas.openxmlformats.org/drawingml/2006/main">
            <a:off x="2343150" y="3600450"/>
            <a:ext cx="1485900" cy="285750"/>
          </a:xfrm>
          <a:prstGeom xmlns:a="http://schemas.openxmlformats.org/drawingml/2006/main" prst="rect">
            <a:avLst/>
          </a:prstGeom>
          <a:solidFill xmlns:a="http://schemas.openxmlformats.org/drawingml/2006/main">
            <a:srgbClr val="12001E"/>
          </a:solidFill>
          <a:ln xmlns:a="http://schemas.openxmlformats.org/drawingml/2006/main" w="9525">
            <a:solidFill>
              <a:srgbClr val="FF2BD6"/>
            </a:solidFill>
            <a:prstDash val="solid"/>
          </a:ln>
        </p:spPr>
      </p:sp>
      <p:sp>
        <p:nvSpPr>
          <p:cNvPr id="14" name="">
            <a:extLst xmlns:a="http://schemas.openxmlformats.org/drawingml/2006/main">
              <a:ext uri="{FF2B5EF4-FFF2-40B4-BE49-F238E27FC236}">
                <a16:creationId xmlns:a16="http://schemas.microsoft.com/office/drawing/2014/main" id="{63CB6955-FC2C-4039-BBC5-42702C8BAA07}"/>
              </a:ext>
            </a:extLst>
          </p:cNvPr>
          <p:cNvSpPr>
            <a:spLocks xmlns:a="http://schemas.openxmlformats.org/drawingml/2006/main" noGrp="1"/>
          </p:cNvSpPr>
          <p:nvPr/>
        </p:nvSpPr>
        <p:spPr>
          <a:xfrm xmlns:a="http://schemas.openxmlformats.org/drawingml/2006/main">
            <a:off x="2343150" y="3686175"/>
            <a:ext cx="14859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FF2BD6"/>
                </a:solidFill>
                <a:latin typeface="Aptos"/>
                <a:ea typeface="Aptos"/>
                <a:cs typeface="Aptos"/>
              </a:defRPr>
            </a:pPr>
            <a:r>
              <a:rPr sz="675" b="1">
                <a:solidFill>
                  <a:srgbClr val="FF2BD6"/>
                </a:solidFill>
                <a:latin typeface="Aptos"/>
                <a:ea typeface="Aptos"/>
                <a:cs typeface="Aptos"/>
              </a:rPr>
              <a:t>Flask Backend</a:t>
            </a:r>
          </a:p>
        </p:txBody>
      </p:sp>
      <p:sp>
        <p:nvSpPr>
          <p:cNvPr id="15" name="">
            <a:extLst xmlns:a="http://schemas.openxmlformats.org/drawingml/2006/main">
              <a:ext uri="{FF2B5EF4-FFF2-40B4-BE49-F238E27FC236}">
                <a16:creationId xmlns:a16="http://schemas.microsoft.com/office/drawing/2014/main" id="{5F37956D-2A43-4F73-A0BF-72908E638EDF}"/>
              </a:ext>
            </a:extLst>
          </p:cNvPr>
          <p:cNvSpPr>
            <a:spLocks xmlns:a="http://schemas.openxmlformats.org/drawingml/2006/main" noGrp="1"/>
          </p:cNvSpPr>
          <p:nvPr/>
        </p:nvSpPr>
        <p:spPr>
          <a:xfrm xmlns:a="http://schemas.openxmlformats.org/drawingml/2006/main">
            <a:off x="3981450" y="3600450"/>
            <a:ext cx="1485900" cy="285750"/>
          </a:xfrm>
          <a:prstGeom xmlns:a="http://schemas.openxmlformats.org/drawingml/2006/main" prst="rect">
            <a:avLst/>
          </a:prstGeom>
          <a:solidFill xmlns:a="http://schemas.openxmlformats.org/drawingml/2006/main">
            <a:srgbClr val="12001E"/>
          </a:solidFill>
          <a:ln xmlns:a="http://schemas.openxmlformats.org/drawingml/2006/main" w="9525">
            <a:solidFill>
              <a:srgbClr val="2CFF9B"/>
            </a:solidFill>
            <a:prstDash val="solid"/>
          </a:ln>
        </p:spPr>
      </p:sp>
      <p:sp>
        <p:nvSpPr>
          <p:cNvPr id="16" name="">
            <a:extLst xmlns:a="http://schemas.openxmlformats.org/drawingml/2006/main">
              <a:ext uri="{FF2B5EF4-FFF2-40B4-BE49-F238E27FC236}">
                <a16:creationId xmlns:a16="http://schemas.microsoft.com/office/drawing/2014/main" id="{3ED622F6-EEF3-4015-9288-7E00BEC0FFF3}"/>
              </a:ext>
            </a:extLst>
          </p:cNvPr>
          <p:cNvSpPr>
            <a:spLocks xmlns:a="http://schemas.openxmlformats.org/drawingml/2006/main" noGrp="1"/>
          </p:cNvSpPr>
          <p:nvPr/>
        </p:nvSpPr>
        <p:spPr>
          <a:xfrm xmlns:a="http://schemas.openxmlformats.org/drawingml/2006/main">
            <a:off x="3981450" y="3686175"/>
            <a:ext cx="14859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2CFF9B"/>
                </a:solidFill>
                <a:latin typeface="Aptos"/>
                <a:ea typeface="Aptos"/>
                <a:cs typeface="Aptos"/>
              </a:defRPr>
            </a:pPr>
            <a:r>
              <a:rPr sz="675" b="1">
                <a:solidFill>
                  <a:srgbClr val="2CFF9B"/>
                </a:solidFill>
                <a:latin typeface="Aptos"/>
                <a:ea typeface="Aptos"/>
                <a:cs typeface="Aptos"/>
              </a:rPr>
              <a:t>AI Engine</a:t>
            </a:r>
          </a:p>
        </p:txBody>
      </p:sp>
      <p:sp>
        <p:nvSpPr>
          <p:cNvPr id="17" name="">
            <a:extLst xmlns:a="http://schemas.openxmlformats.org/drawingml/2006/main">
              <a:ext uri="{FF2B5EF4-FFF2-40B4-BE49-F238E27FC236}">
                <a16:creationId xmlns:a16="http://schemas.microsoft.com/office/drawing/2014/main" id="{AB12C9CF-CD1D-42D4-8AB3-47FCED064333}"/>
              </a:ext>
            </a:extLst>
          </p:cNvPr>
          <p:cNvSpPr>
            <a:spLocks xmlns:a="http://schemas.openxmlformats.org/drawingml/2006/main" noGrp="1"/>
          </p:cNvSpPr>
          <p:nvPr/>
        </p:nvSpPr>
        <p:spPr>
          <a:xfrm xmlns:a="http://schemas.openxmlformats.org/drawingml/2006/main">
            <a:off x="5619750" y="3600450"/>
            <a:ext cx="1485900" cy="285750"/>
          </a:xfrm>
          <a:prstGeom xmlns:a="http://schemas.openxmlformats.org/drawingml/2006/main" prst="rect">
            <a:avLst/>
          </a:prstGeom>
          <a:solidFill xmlns:a="http://schemas.openxmlformats.org/drawingml/2006/main">
            <a:srgbClr val="12001E"/>
          </a:solidFill>
          <a:ln xmlns:a="http://schemas.openxmlformats.org/drawingml/2006/main" w="9525">
            <a:solidFill>
              <a:srgbClr val="FF9F1C"/>
            </a:solidFill>
            <a:prstDash val="solid"/>
          </a:ln>
        </p:spPr>
      </p:sp>
      <p:sp>
        <p:nvSpPr>
          <p:cNvPr id="18" name="">
            <a:extLst xmlns:a="http://schemas.openxmlformats.org/drawingml/2006/main">
              <a:ext uri="{FF2B5EF4-FFF2-40B4-BE49-F238E27FC236}">
                <a16:creationId xmlns:a16="http://schemas.microsoft.com/office/drawing/2014/main" id="{FCC6C30B-5D8F-430A-AB6D-756E67CE3605}"/>
              </a:ext>
            </a:extLst>
          </p:cNvPr>
          <p:cNvSpPr>
            <a:spLocks xmlns:a="http://schemas.openxmlformats.org/drawingml/2006/main" noGrp="1"/>
          </p:cNvSpPr>
          <p:nvPr/>
        </p:nvSpPr>
        <p:spPr>
          <a:xfrm xmlns:a="http://schemas.openxmlformats.org/drawingml/2006/main">
            <a:off x="5619750" y="3686175"/>
            <a:ext cx="14859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FF9F1C"/>
                </a:solidFill>
                <a:latin typeface="Aptos"/>
                <a:ea typeface="Aptos"/>
                <a:cs typeface="Aptos"/>
              </a:defRPr>
            </a:pPr>
            <a:r>
              <a:rPr sz="675" b="1">
                <a:solidFill>
                  <a:srgbClr val="FF9F1C"/>
                </a:solidFill>
                <a:latin typeface="Aptos"/>
                <a:ea typeface="Aptos"/>
                <a:cs typeface="Aptos"/>
              </a:rPr>
              <a:t>Realtime SOC</a:t>
            </a:r>
          </a:p>
        </p:txBody>
      </p:sp>
      <p:sp>
        <p:nvSpPr>
          <p:cNvPr id="19" name="">
            <a:extLst xmlns:a="http://schemas.openxmlformats.org/drawingml/2006/main">
              <a:ext uri="{FF2B5EF4-FFF2-40B4-BE49-F238E27FC236}">
                <a16:creationId xmlns:a16="http://schemas.microsoft.com/office/drawing/2014/main" id="{DF4E088B-29A0-4BC2-B849-DDEC0B83A4AF}"/>
              </a:ext>
            </a:extLst>
          </p:cNvPr>
          <p:cNvSpPr>
            <a:spLocks xmlns:a="http://schemas.openxmlformats.org/drawingml/2006/main" noGrp="1"/>
          </p:cNvSpPr>
          <p:nvPr/>
        </p:nvSpPr>
        <p:spPr>
          <a:xfrm xmlns:a="http://schemas.openxmlformats.org/drawingml/2006/main">
            <a:off x="8096250" y="914400"/>
            <a:ext cx="2952750" cy="4095750"/>
          </a:xfrm>
          <a:prstGeom xmlns:a="http://schemas.openxmlformats.org/drawingml/2006/main" prst="rect">
            <a:avLst/>
          </a:prstGeom>
          <a:solidFill xmlns:a="http://schemas.openxmlformats.org/drawingml/2006/main">
            <a:srgbClr val="12001E"/>
          </a:solidFill>
          <a:ln xmlns:a="http://schemas.openxmlformats.org/drawingml/2006/main" w="9525">
            <a:solidFill>
              <a:srgbClr val="342043"/>
            </a:solidFill>
            <a:prstDash val="solid"/>
          </a:ln>
        </p:spPr>
      </p:sp>
      <p:sp>
        <p:nvSpPr>
          <p:cNvPr id="20" name="">
            <a:extLst xmlns:a="http://schemas.openxmlformats.org/drawingml/2006/main">
              <a:ext uri="{FF2B5EF4-FFF2-40B4-BE49-F238E27FC236}">
                <a16:creationId xmlns:a16="http://schemas.microsoft.com/office/drawing/2014/main" id="{D12F10CA-5872-486A-BC60-B7C5D369D842}"/>
              </a:ext>
            </a:extLst>
          </p:cNvPr>
          <p:cNvSpPr>
            <a:spLocks xmlns:a="http://schemas.openxmlformats.org/drawingml/2006/main" noGrp="1"/>
          </p:cNvSpPr>
          <p:nvPr/>
        </p:nvSpPr>
        <p:spPr>
          <a:xfrm xmlns:a="http://schemas.openxmlformats.org/drawingml/2006/main">
            <a:off x="8096250" y="914400"/>
            <a:ext cx="38100" cy="4095750"/>
          </a:xfrm>
          <a:prstGeom xmlns:a="http://schemas.openxmlformats.org/drawingml/2006/main" prst="rect">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17C7ABE1-C1FC-462A-B508-A65AE1DBAD26}"/>
              </a:ext>
            </a:extLst>
          </p:cNvPr>
          <p:cNvSpPr>
            <a:spLocks xmlns:a="http://schemas.openxmlformats.org/drawingml/2006/main" noGrp="1"/>
          </p:cNvSpPr>
          <p:nvPr/>
        </p:nvSpPr>
        <p:spPr>
          <a:xfrm xmlns:a="http://schemas.openxmlformats.org/drawingml/2006/main">
            <a:off x="8382000" y="1200150"/>
            <a:ext cx="2381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0FFE0"/>
                </a:solidFill>
                <a:latin typeface="Aptos"/>
                <a:ea typeface="Aptos"/>
                <a:cs typeface="Aptos"/>
              </a:defRPr>
            </a:pPr>
            <a:r>
              <a:rPr sz="1350" b="1">
                <a:solidFill>
                  <a:srgbClr val="00FFE0"/>
                </a:solidFill>
                <a:latin typeface="Aptos"/>
                <a:ea typeface="Aptos"/>
                <a:cs typeface="Aptos"/>
              </a:rPr>
              <a:t>Live Demo</a:t>
            </a:r>
          </a:p>
        </p:txBody>
      </p:sp>
      <p:sp>
        <p:nvSpPr>
          <p:cNvPr id="22" name="">
            <a:extLst xmlns:a="http://schemas.openxmlformats.org/drawingml/2006/main">
              <a:ext uri="{FF2B5EF4-FFF2-40B4-BE49-F238E27FC236}">
                <a16:creationId xmlns:a16="http://schemas.microsoft.com/office/drawing/2014/main" id="{6F016067-B628-4B58-95DB-B038329C2317}"/>
              </a:ext>
            </a:extLst>
          </p:cNvPr>
          <p:cNvSpPr>
            <a:spLocks xmlns:a="http://schemas.openxmlformats.org/drawingml/2006/main" noGrp="1"/>
          </p:cNvSpPr>
          <p:nvPr/>
        </p:nvSpPr>
        <p:spPr>
          <a:xfrm xmlns:a="http://schemas.openxmlformats.org/drawingml/2006/main">
            <a:off x="8382000" y="1676400"/>
            <a:ext cx="2381250" cy="2247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7ECFF"/>
                </a:solidFill>
                <a:latin typeface="Aptos"/>
                <a:ea typeface="Aptos"/>
                <a:cs typeface="Aptos"/>
              </a:defRPr>
            </a:pPr>
            <a:r>
              <a:rPr sz="975" b="0">
                <a:solidFill>
                  <a:srgbClr val="F7ECFF"/>
                </a:solidFill>
                <a:latin typeface="Aptos"/>
                <a:ea typeface="Aptos"/>
                <a:cs typeface="Aptos"/>
              </a:rPr>
              <a:t>Frontend</a:t>
            </a:r>
          </a:p>
          <a:p xmlns:a="http://schemas.openxmlformats.org/drawingml/2006/main">
            <a:pPr algn="l">
              <a:defRPr sz="975" b="0">
                <a:solidFill>
                  <a:srgbClr val="F7ECFF"/>
                </a:solidFill>
                <a:latin typeface="Aptos"/>
                <a:ea typeface="Aptos"/>
                <a:cs typeface="Aptos"/>
              </a:defRPr>
            </a:pPr>
            <a:r>
              <a:rPr sz="975" b="0">
                <a:solidFill>
                  <a:srgbClr val="F7ECFF"/>
                </a:solidFill>
                <a:latin typeface="Aptos"/>
                <a:ea typeface="Aptos"/>
                <a:cs typeface="Aptos"/>
              </a:rPr>
              <a:t>https://mayedalshehhi.github.io/EvoGuard-Enterprise/</a:t>
            </a:r>
          </a:p>
          <a:p xmlns:a="http://schemas.openxmlformats.org/drawingml/2006/main">
            <a:r>
              <a:t/>
            </a:r>
          </a:p>
          <a:p xmlns:a="http://schemas.openxmlformats.org/drawingml/2006/main">
            <a:pPr algn="l">
              <a:defRPr sz="975" b="0">
                <a:solidFill>
                  <a:srgbClr val="F7ECFF"/>
                </a:solidFill>
                <a:latin typeface="Aptos"/>
                <a:ea typeface="Aptos"/>
                <a:cs typeface="Aptos"/>
              </a:defRPr>
            </a:pPr>
            <a:r>
              <a:rPr sz="975" b="0">
                <a:solidFill>
                  <a:srgbClr val="F7ECFF"/>
                </a:solidFill>
                <a:latin typeface="Aptos"/>
                <a:ea typeface="Aptos"/>
                <a:cs typeface="Aptos"/>
              </a:rPr>
              <a:t>Backend API</a:t>
            </a:r>
          </a:p>
          <a:p xmlns:a="http://schemas.openxmlformats.org/drawingml/2006/main">
            <a:pPr algn="l">
              <a:defRPr sz="975" b="0">
                <a:solidFill>
                  <a:srgbClr val="F7ECFF"/>
                </a:solidFill>
                <a:latin typeface="Aptos"/>
                <a:ea typeface="Aptos"/>
                <a:cs typeface="Aptos"/>
              </a:defRPr>
            </a:pPr>
            <a:r>
              <a:rPr sz="975" b="0">
                <a:solidFill>
                  <a:srgbClr val="F7ECFF"/>
                </a:solidFill>
                <a:latin typeface="Aptos"/>
                <a:ea typeface="Aptos"/>
                <a:cs typeface="Aptos"/>
              </a:rPr>
              <a:t>https://evoguard-enterprise-backend.onrender.com</a:t>
            </a:r>
          </a:p>
          <a:p xmlns:a="http://schemas.openxmlformats.org/drawingml/2006/main">
            <a:r>
              <a:t/>
            </a:r>
          </a:p>
          <a:p xmlns:a="http://schemas.openxmlformats.org/drawingml/2006/main">
            <a:pPr algn="l">
              <a:defRPr sz="975" b="0">
                <a:solidFill>
                  <a:srgbClr val="F7ECFF"/>
                </a:solidFill>
                <a:latin typeface="Aptos"/>
                <a:ea typeface="Aptos"/>
                <a:cs typeface="Aptos"/>
              </a:defRPr>
            </a:pPr>
            <a:r>
              <a:rPr sz="975" b="0">
                <a:solidFill>
                  <a:srgbClr val="F7ECFF"/>
                </a:solidFill>
                <a:latin typeface="Aptos"/>
                <a:ea typeface="Aptos"/>
                <a:cs typeface="Aptos"/>
              </a:rPr>
              <a:t>Repository</a:t>
            </a:r>
          </a:p>
          <a:p xmlns:a="http://schemas.openxmlformats.org/drawingml/2006/main">
            <a:pPr algn="l">
              <a:defRPr sz="975" b="0">
                <a:solidFill>
                  <a:srgbClr val="F7ECFF"/>
                </a:solidFill>
                <a:latin typeface="Aptos"/>
                <a:ea typeface="Aptos"/>
                <a:cs typeface="Aptos"/>
              </a:defRPr>
            </a:pPr>
            <a:r>
              <a:rPr sz="975" b="0">
                <a:solidFill>
                  <a:srgbClr val="F7ECFF"/>
                </a:solidFill>
                <a:latin typeface="Aptos"/>
                <a:ea typeface="Aptos"/>
                <a:cs typeface="Aptos"/>
              </a:rPr>
              <a:t>https://github.com/MayedAlshehhi/EvoGuard-Enterprise</a:t>
            </a:r>
          </a:p>
        </p:txBody>
      </p:sp>
      <p:sp>
        <p:nvSpPr>
          <p:cNvPr id="23" name="">
            <a:extLst xmlns:a="http://schemas.openxmlformats.org/drawingml/2006/main">
              <a:ext uri="{FF2B5EF4-FFF2-40B4-BE49-F238E27FC236}">
                <a16:creationId xmlns:a16="http://schemas.microsoft.com/office/drawing/2014/main" id="{C6510F2B-2E93-49AC-A8F1-D73D78947034}"/>
              </a:ext>
            </a:extLst>
          </p:cNvPr>
          <p:cNvSpPr>
            <a:spLocks xmlns:a="http://schemas.openxmlformats.org/drawingml/2006/main" noGrp="1"/>
          </p:cNvSpPr>
          <p:nvPr/>
        </p:nvSpPr>
        <p:spPr>
          <a:xfrm xmlns:a="http://schemas.openxmlformats.org/drawingml/2006/main">
            <a:off x="8382000" y="4210050"/>
            <a:ext cx="23812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2CFF9B"/>
                </a:solidFill>
                <a:latin typeface="Aptos"/>
                <a:ea typeface="Aptos"/>
                <a:cs typeface="Aptos"/>
              </a:defRPr>
            </a:pPr>
            <a:r>
              <a:rPr sz="1050" b="1">
                <a:solidFill>
                  <a:srgbClr val="2CFF9B"/>
                </a:solidFill>
                <a:latin typeface="Aptos"/>
                <a:ea typeface="Aptos"/>
                <a:cs typeface="Aptos"/>
              </a:rPr>
              <a:t>Demo login</a:t>
            </a:r>
          </a:p>
          <a:p xmlns:a="http://schemas.openxmlformats.org/drawingml/2006/main">
            <a:pPr algn="l">
              <a:defRPr sz="1050" b="1">
                <a:solidFill>
                  <a:srgbClr val="2CFF9B"/>
                </a:solidFill>
                <a:latin typeface="Aptos"/>
                <a:ea typeface="Aptos"/>
                <a:cs typeface="Aptos"/>
              </a:defRPr>
            </a:pPr>
            <a:r>
              <a:rPr sz="1050" b="1">
                <a:solidFill>
                  <a:srgbClr val="2CFF9B"/>
                </a:solidFill>
                <a:latin typeface="Aptos"/>
                <a:ea typeface="Aptos"/>
                <a:cs typeface="Aptos"/>
              </a:rPr>
              <a:t>username: mayed</a:t>
            </a:r>
          </a:p>
          <a:p xmlns:a="http://schemas.openxmlformats.org/drawingml/2006/main">
            <a:pPr algn="l">
              <a:defRPr sz="1050" b="1">
                <a:solidFill>
                  <a:srgbClr val="2CFF9B"/>
                </a:solidFill>
                <a:latin typeface="Aptos"/>
                <a:ea typeface="Aptos"/>
                <a:cs typeface="Aptos"/>
              </a:defRPr>
            </a:pPr>
            <a:r>
              <a:rPr sz="1050" b="1">
                <a:solidFill>
                  <a:srgbClr val="2CFF9B"/>
                </a:solidFill>
                <a:latin typeface="Aptos"/>
                <a:ea typeface="Aptos"/>
                <a:cs typeface="Aptos"/>
              </a:rPr>
              <a:t>password: mayed123</a:t>
            </a:r>
          </a:p>
        </p:txBody>
      </p:sp>
      <p:sp>
        <p:nvSpPr>
          <p:cNvPr id="24" name="">
            <a:extLst xmlns:a="http://schemas.openxmlformats.org/drawingml/2006/main">
              <a:ext uri="{FF2B5EF4-FFF2-40B4-BE49-F238E27FC236}">
                <a16:creationId xmlns:a16="http://schemas.microsoft.com/office/drawing/2014/main" id="{3E745990-6F22-4E9D-BA27-5E05F200F261}"/>
              </a:ext>
            </a:extLst>
          </p:cNvPr>
          <p:cNvSpPr>
            <a:spLocks xmlns:a="http://schemas.openxmlformats.org/drawingml/2006/main" noGrp="1"/>
          </p:cNvSpPr>
          <p:nvPr/>
        </p:nvSpPr>
        <p:spPr>
          <a:xfrm xmlns:a="http://schemas.openxmlformats.org/drawingml/2006/main">
            <a:off x="685800" y="6400800"/>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A997BA"/>
                </a:solidFill>
                <a:latin typeface="Aptos"/>
                <a:ea typeface="Aptos"/>
                <a:cs typeface="Aptos"/>
              </a:defRPr>
            </a:pPr>
            <a:r>
              <a:rPr sz="750" b="0">
                <a:solidFill>
                  <a:srgbClr val="A997BA"/>
                </a:solidFill>
                <a:latin typeface="Aptos"/>
                <a:ea typeface="Aptos"/>
                <a:cs typeface="Aptos"/>
              </a:rPr>
              <a:t>EvoGuard Enterprise - Agentic AI Cyber Defense Platform</a:t>
            </a:r>
          </a:p>
        </p:txBody>
      </p:sp>
      <p:sp>
        <p:nvSpPr>
          <p:cNvPr id="25" name="">
            <a:extLst xmlns:a="http://schemas.openxmlformats.org/drawingml/2006/main">
              <a:ext uri="{FF2B5EF4-FFF2-40B4-BE49-F238E27FC236}">
                <a16:creationId xmlns:a16="http://schemas.microsoft.com/office/drawing/2014/main" id="{9E5A7B20-D1EF-4782-8DE3-DD4BC41A811F}"/>
              </a:ext>
            </a:extLst>
          </p:cNvPr>
          <p:cNvSpPr>
            <a:spLocks xmlns:a="http://schemas.openxmlformats.org/drawingml/2006/main" noGrp="1"/>
          </p:cNvSpPr>
          <p:nvPr/>
        </p:nvSpPr>
        <p:spPr>
          <a:xfrm xmlns:a="http://schemas.openxmlformats.org/drawingml/2006/main">
            <a:off x="11125200" y="636270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0FFE0"/>
                </a:solidFill>
                <a:latin typeface="Aptos"/>
                <a:ea typeface="Aptos"/>
                <a:cs typeface="Aptos"/>
              </a:defRPr>
            </a:pPr>
            <a:r>
              <a:rPr sz="975" b="1">
                <a:solidFill>
                  <a:srgbClr val="00FFE0"/>
                </a:solidFill>
                <a:latin typeface="Aptos"/>
                <a:ea typeface="Aptos"/>
                <a:cs typeface="Aptos"/>
              </a:rPr>
              <a:t>01</a:t>
            </a:r>
          </a:p>
        </p:txBody>
      </p:sp>
    </p:spTree>
    <p:extLst>
      <p:ext uri="{BB962C8B-B14F-4D97-AF65-F5344CB8AC3E}">
        <p14:creationId xmlns:p14="http://schemas.microsoft.com/office/powerpoint/2010/main" val="23540057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BDF1393-04D7-414C-8947-8AAF315F55B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0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CAC8539-4F55-4072-9CA7-510DE60B0CF8}"/>
              </a:ext>
            </a:extLst>
          </p:cNvPr>
          <p:cNvSpPr>
            <a:spLocks xmlns:a="http://schemas.openxmlformats.org/drawingml/2006/main" noGrp="1"/>
          </p:cNvSpPr>
          <p:nvPr/>
        </p:nvSpPr>
        <p:spPr>
          <a:xfrm xmlns:a="http://schemas.openxmlformats.org/drawingml/2006/main">
            <a:off x="-1190625" y="-1333500"/>
            <a:ext cx="4095750" cy="4095750"/>
          </a:xfrm>
          <a:prstGeom xmlns:a="http://schemas.openxmlformats.org/drawingml/2006/main" prst="ellipse">
            <a:avLst/>
          </a:prstGeom>
          <a:solidFill xmlns:a="http://schemas.openxmlformats.org/drawingml/2006/main">
            <a:srgbClr val="32004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619ECA88-1835-4919-9846-F57018CDC2C8}"/>
              </a:ext>
            </a:extLst>
          </p:cNvPr>
          <p:cNvSpPr>
            <a:spLocks xmlns:a="http://schemas.openxmlformats.org/drawingml/2006/main" noGrp="1"/>
          </p:cNvSpPr>
          <p:nvPr/>
        </p:nvSpPr>
        <p:spPr>
          <a:xfrm xmlns:a="http://schemas.openxmlformats.org/drawingml/2006/main">
            <a:off x="9048750" y="-1143000"/>
            <a:ext cx="4095750" cy="4095750"/>
          </a:xfrm>
          <a:prstGeom xmlns:a="http://schemas.openxmlformats.org/drawingml/2006/main" prst="ellipse">
            <a:avLst/>
          </a:prstGeom>
          <a:solidFill xmlns:a="http://schemas.openxmlformats.org/drawingml/2006/main">
            <a:srgbClr val="160A34"/>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0E67AA9-D5B0-4E43-9B11-825C4F74FED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0D766EDF-9B16-4497-863D-15F4F3AF31FA}"/>
              </a:ext>
            </a:extLst>
          </p:cNvPr>
          <p:cNvSpPr>
            <a:spLocks xmlns:a="http://schemas.openxmlformats.org/drawingml/2006/main" noGrp="1"/>
          </p:cNvSpPr>
          <p:nvPr/>
        </p:nvSpPr>
        <p:spPr>
          <a:xfrm xmlns:a="http://schemas.openxmlformats.org/drawingml/2006/main">
            <a:off x="0" y="76200"/>
            <a:ext cx="12192000" cy="28575"/>
          </a:xfrm>
          <a:prstGeom xmlns:a="http://schemas.openxmlformats.org/drawingml/2006/main" prst="rect">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02A8E925-481A-442C-AC64-1FEF50C0A103}"/>
              </a:ext>
            </a:extLst>
          </p:cNvPr>
          <p:cNvSpPr>
            <a:spLocks xmlns:a="http://schemas.openxmlformats.org/drawingml/2006/main" noGrp="1"/>
          </p:cNvSpPr>
          <p:nvPr/>
        </p:nvSpPr>
        <p:spPr>
          <a:xfrm xmlns:a="http://schemas.openxmlformats.org/drawingml/2006/main">
            <a:off x="685800" y="323850"/>
            <a:ext cx="400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00FFE0"/>
                </a:solidFill>
                <a:latin typeface="Aptos"/>
                <a:ea typeface="Aptos"/>
                <a:cs typeface="Aptos"/>
              </a:defRPr>
            </a:pPr>
            <a:r>
              <a:rPr sz="825" b="1">
                <a:solidFill>
                  <a:srgbClr val="00FFE0"/>
                </a:solidFill>
                <a:latin typeface="Aptos"/>
                <a:ea typeface="Aptos"/>
                <a:cs typeface="Aptos"/>
              </a:rPr>
              <a:t>PROJECT THESIS</a:t>
            </a:r>
          </a:p>
        </p:txBody>
      </p:sp>
      <p:sp>
        <p:nvSpPr>
          <p:cNvPr id="7" name="">
            <a:extLst xmlns:a="http://schemas.openxmlformats.org/drawingml/2006/main">
              <a:ext uri="{FF2B5EF4-FFF2-40B4-BE49-F238E27FC236}">
                <a16:creationId xmlns:a16="http://schemas.microsoft.com/office/drawing/2014/main" id="{446D6D52-7F0B-48D1-8540-07D9D36FA561}"/>
              </a:ext>
            </a:extLst>
          </p:cNvPr>
          <p:cNvSpPr>
            <a:spLocks xmlns:a="http://schemas.openxmlformats.org/drawingml/2006/main" noGrp="1"/>
          </p:cNvSpPr>
          <p:nvPr/>
        </p:nvSpPr>
        <p:spPr>
          <a:xfrm xmlns:a="http://schemas.openxmlformats.org/drawingml/2006/main">
            <a:off x="685800" y="66675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F2BD6"/>
                </a:solidFill>
                <a:latin typeface="Aptos"/>
                <a:ea typeface="Aptos"/>
                <a:cs typeface="Aptos"/>
              </a:defRPr>
            </a:pPr>
            <a:r>
              <a:rPr sz="825" b="1">
                <a:solidFill>
                  <a:srgbClr val="FF2BD6"/>
                </a:solidFill>
                <a:latin typeface="Aptos"/>
                <a:ea typeface="Aptos"/>
                <a:cs typeface="Aptos"/>
              </a:rPr>
              <a:t>WHY IT MATTERS</a:t>
            </a:r>
          </a:p>
        </p:txBody>
      </p:sp>
      <p:sp>
        <p:nvSpPr>
          <p:cNvPr id="8" name="">
            <a:extLst xmlns:a="http://schemas.openxmlformats.org/drawingml/2006/main">
              <a:ext uri="{FF2B5EF4-FFF2-40B4-BE49-F238E27FC236}">
                <a16:creationId xmlns:a16="http://schemas.microsoft.com/office/drawing/2014/main" id="{62257C5C-F1FF-413E-B124-C5120FEB3E24}"/>
              </a:ext>
            </a:extLst>
          </p:cNvPr>
          <p:cNvSpPr>
            <a:spLocks xmlns:a="http://schemas.openxmlformats.org/drawingml/2006/main" noGrp="1"/>
          </p:cNvSpPr>
          <p:nvPr/>
        </p:nvSpPr>
        <p:spPr>
          <a:xfrm xmlns:a="http://schemas.openxmlformats.org/drawingml/2006/main">
            <a:off x="685800" y="933450"/>
            <a:ext cx="88582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7ECFF"/>
                </a:solidFill>
                <a:latin typeface="Aptos Display"/>
                <a:ea typeface="Aptos Display"/>
                <a:cs typeface="Aptos Display"/>
              </a:defRPr>
            </a:pPr>
            <a:r>
              <a:rPr sz="2550" b="1">
                <a:solidFill>
                  <a:srgbClr val="F7ECFF"/>
                </a:solidFill>
                <a:latin typeface="Aptos Display"/>
                <a:ea typeface="Aptos Display"/>
                <a:cs typeface="Aptos Display"/>
              </a:rPr>
              <a:t>EvoGuard turns attack simulation into an explainable AI defense workflow.</a:t>
            </a:r>
          </a:p>
        </p:txBody>
      </p:sp>
      <p:sp>
        <p:nvSpPr>
          <p:cNvPr id="9" name="">
            <a:extLst xmlns:a="http://schemas.openxmlformats.org/drawingml/2006/main">
              <a:ext uri="{FF2B5EF4-FFF2-40B4-BE49-F238E27FC236}">
                <a16:creationId xmlns:a16="http://schemas.microsoft.com/office/drawing/2014/main" id="{AECD1975-C3D2-43FB-9D60-766F34D493AE}"/>
              </a:ext>
            </a:extLst>
          </p:cNvPr>
          <p:cNvSpPr>
            <a:spLocks xmlns:a="http://schemas.openxmlformats.org/drawingml/2006/main" noGrp="1"/>
          </p:cNvSpPr>
          <p:nvPr/>
        </p:nvSpPr>
        <p:spPr>
          <a:xfrm xmlns:a="http://schemas.openxmlformats.org/drawingml/2006/main">
            <a:off x="704850" y="1752600"/>
            <a:ext cx="8667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997BA"/>
                </a:solidFill>
                <a:latin typeface="Aptos"/>
                <a:ea typeface="Aptos"/>
                <a:cs typeface="Aptos"/>
              </a:defRPr>
            </a:pPr>
            <a:r>
              <a:rPr sz="1050" b="0">
                <a:solidFill>
                  <a:srgbClr val="A997BA"/>
                </a:solidFill>
                <a:latin typeface="Aptos"/>
                <a:ea typeface="Aptos"/>
                <a:cs typeface="Aptos"/>
              </a:rPr>
              <a:t>The system demonstrates a complete SOC loop: event intake, AI classification, threat intelligence enrichment, response execution, reporting, and live monitoring.</a:t>
            </a:r>
          </a:p>
        </p:txBody>
      </p:sp>
      <p:sp>
        <p:nvSpPr>
          <p:cNvPr id="10" name="">
            <a:extLst xmlns:a="http://schemas.openxmlformats.org/drawingml/2006/main">
              <a:ext uri="{FF2B5EF4-FFF2-40B4-BE49-F238E27FC236}">
                <a16:creationId xmlns:a16="http://schemas.microsoft.com/office/drawing/2014/main" id="{F313D7A3-0A63-4B6C-8FC6-469668D6C818}"/>
              </a:ext>
            </a:extLst>
          </p:cNvPr>
          <p:cNvSpPr>
            <a:spLocks xmlns:a="http://schemas.openxmlformats.org/drawingml/2006/main" noGrp="1"/>
          </p:cNvSpPr>
          <p:nvPr/>
        </p:nvSpPr>
        <p:spPr>
          <a:xfrm xmlns:a="http://schemas.openxmlformats.org/drawingml/2006/main">
            <a:off x="857250" y="2781300"/>
            <a:ext cx="3048000" cy="1695450"/>
          </a:xfrm>
          <a:prstGeom xmlns:a="http://schemas.openxmlformats.org/drawingml/2006/main" prst="rect">
            <a:avLst/>
          </a:prstGeom>
          <a:solidFill xmlns:a="http://schemas.openxmlformats.org/drawingml/2006/main">
            <a:srgbClr val="12001E"/>
          </a:solidFill>
          <a:ln xmlns:a="http://schemas.openxmlformats.org/drawingml/2006/main" w="9525">
            <a:solidFill>
              <a:srgbClr val="342043"/>
            </a:solidFill>
            <a:prstDash val="solid"/>
          </a:ln>
        </p:spPr>
      </p:sp>
      <p:sp>
        <p:nvSpPr>
          <p:cNvPr id="11" name="">
            <a:extLst xmlns:a="http://schemas.openxmlformats.org/drawingml/2006/main">
              <a:ext uri="{FF2B5EF4-FFF2-40B4-BE49-F238E27FC236}">
                <a16:creationId xmlns:a16="http://schemas.microsoft.com/office/drawing/2014/main" id="{57A423FD-1A08-479A-848F-E503681CE388}"/>
              </a:ext>
            </a:extLst>
          </p:cNvPr>
          <p:cNvSpPr>
            <a:spLocks xmlns:a="http://schemas.openxmlformats.org/drawingml/2006/main" noGrp="1"/>
          </p:cNvSpPr>
          <p:nvPr/>
        </p:nvSpPr>
        <p:spPr>
          <a:xfrm xmlns:a="http://schemas.openxmlformats.org/drawingml/2006/main">
            <a:off x="857250" y="2781300"/>
            <a:ext cx="38100" cy="1695450"/>
          </a:xfrm>
          <a:prstGeom xmlns:a="http://schemas.openxmlformats.org/drawingml/2006/main" prst="rect">
            <a:avLst/>
          </a:prstGeom>
          <a:solidFill xmlns:a="http://schemas.openxmlformats.org/drawingml/2006/main">
            <a:srgbClr val="FF3B6B"/>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42DB4606-CF74-4A16-BE52-9DF1407426D3}"/>
              </a:ext>
            </a:extLst>
          </p:cNvPr>
          <p:cNvSpPr>
            <a:spLocks xmlns:a="http://schemas.openxmlformats.org/drawingml/2006/main" noGrp="1"/>
          </p:cNvSpPr>
          <p:nvPr/>
        </p:nvSpPr>
        <p:spPr>
          <a:xfrm xmlns:a="http://schemas.openxmlformats.org/drawingml/2006/main">
            <a:off x="1085850" y="3048000"/>
            <a:ext cx="238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F3B6B"/>
                </a:solidFill>
                <a:latin typeface="Aptos"/>
                <a:ea typeface="Aptos"/>
                <a:cs typeface="Aptos"/>
              </a:defRPr>
            </a:pPr>
            <a:r>
              <a:rPr sz="1425" b="1">
                <a:solidFill>
                  <a:srgbClr val="FF3B6B"/>
                </a:solidFill>
                <a:latin typeface="Aptos"/>
                <a:ea typeface="Aptos"/>
                <a:cs typeface="Aptos"/>
              </a:rPr>
              <a:t>Problem</a:t>
            </a:r>
          </a:p>
        </p:txBody>
      </p:sp>
      <p:sp>
        <p:nvSpPr>
          <p:cNvPr id="13" name="">
            <a:extLst xmlns:a="http://schemas.openxmlformats.org/drawingml/2006/main">
              <a:ext uri="{FF2B5EF4-FFF2-40B4-BE49-F238E27FC236}">
                <a16:creationId xmlns:a16="http://schemas.microsoft.com/office/drawing/2014/main" id="{6BBCB96F-48E7-47F5-B849-21BD8456331B}"/>
              </a:ext>
            </a:extLst>
          </p:cNvPr>
          <p:cNvSpPr>
            <a:spLocks xmlns:a="http://schemas.openxmlformats.org/drawingml/2006/main" noGrp="1"/>
          </p:cNvSpPr>
          <p:nvPr/>
        </p:nvSpPr>
        <p:spPr>
          <a:xfrm xmlns:a="http://schemas.openxmlformats.org/drawingml/2006/main">
            <a:off x="1085850" y="3467100"/>
            <a:ext cx="24765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7ECFF"/>
                </a:solidFill>
                <a:latin typeface="Aptos"/>
                <a:ea typeface="Aptos"/>
                <a:cs typeface="Aptos"/>
              </a:defRPr>
            </a:pPr>
            <a:r>
              <a:rPr sz="1125" b="0">
                <a:solidFill>
                  <a:srgbClr val="F7ECFF"/>
                </a:solidFill>
                <a:latin typeface="Aptos"/>
                <a:ea typeface="Aptos"/>
                <a:cs typeface="Aptos"/>
              </a:rPr>
              <a:t>Dashboards often show alerts without explaining risk, response logic, or attack context.</a:t>
            </a:r>
          </a:p>
        </p:txBody>
      </p:sp>
      <p:sp>
        <p:nvSpPr>
          <p:cNvPr id="14" name="">
            <a:extLst xmlns:a="http://schemas.openxmlformats.org/drawingml/2006/main">
              <a:ext uri="{FF2B5EF4-FFF2-40B4-BE49-F238E27FC236}">
                <a16:creationId xmlns:a16="http://schemas.microsoft.com/office/drawing/2014/main" id="{36CC6239-1111-4857-A9AA-C19FBCB44694}"/>
              </a:ext>
            </a:extLst>
          </p:cNvPr>
          <p:cNvSpPr>
            <a:spLocks xmlns:a="http://schemas.openxmlformats.org/drawingml/2006/main" noGrp="1"/>
          </p:cNvSpPr>
          <p:nvPr/>
        </p:nvSpPr>
        <p:spPr>
          <a:xfrm xmlns:a="http://schemas.openxmlformats.org/drawingml/2006/main">
            <a:off x="4381500" y="2781300"/>
            <a:ext cx="3048000" cy="1695450"/>
          </a:xfrm>
          <a:prstGeom xmlns:a="http://schemas.openxmlformats.org/drawingml/2006/main" prst="rect">
            <a:avLst/>
          </a:prstGeom>
          <a:solidFill xmlns:a="http://schemas.openxmlformats.org/drawingml/2006/main">
            <a:srgbClr val="12001E"/>
          </a:solidFill>
          <a:ln xmlns:a="http://schemas.openxmlformats.org/drawingml/2006/main" w="9525">
            <a:solidFill>
              <a:srgbClr val="342043"/>
            </a:solidFill>
            <a:prstDash val="solid"/>
          </a:ln>
        </p:spPr>
      </p:sp>
      <p:sp>
        <p:nvSpPr>
          <p:cNvPr id="15" name="">
            <a:extLst xmlns:a="http://schemas.openxmlformats.org/drawingml/2006/main">
              <a:ext uri="{FF2B5EF4-FFF2-40B4-BE49-F238E27FC236}">
                <a16:creationId xmlns:a16="http://schemas.microsoft.com/office/drawing/2014/main" id="{A9631714-A723-477B-B21C-08BCF99A16E0}"/>
              </a:ext>
            </a:extLst>
          </p:cNvPr>
          <p:cNvSpPr>
            <a:spLocks xmlns:a="http://schemas.openxmlformats.org/drawingml/2006/main" noGrp="1"/>
          </p:cNvSpPr>
          <p:nvPr/>
        </p:nvSpPr>
        <p:spPr>
          <a:xfrm xmlns:a="http://schemas.openxmlformats.org/drawingml/2006/main">
            <a:off x="4381500" y="2781300"/>
            <a:ext cx="38100" cy="1695450"/>
          </a:xfrm>
          <a:prstGeom xmlns:a="http://schemas.openxmlformats.org/drawingml/2006/main" prst="rect">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43B721E1-D6EB-4738-9F68-2A8CDE817985}"/>
              </a:ext>
            </a:extLst>
          </p:cNvPr>
          <p:cNvSpPr>
            <a:spLocks xmlns:a="http://schemas.openxmlformats.org/drawingml/2006/main" noGrp="1"/>
          </p:cNvSpPr>
          <p:nvPr/>
        </p:nvSpPr>
        <p:spPr>
          <a:xfrm xmlns:a="http://schemas.openxmlformats.org/drawingml/2006/main">
            <a:off x="4610100" y="3048000"/>
            <a:ext cx="238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00FFE0"/>
                </a:solidFill>
                <a:latin typeface="Aptos"/>
                <a:ea typeface="Aptos"/>
                <a:cs typeface="Aptos"/>
              </a:defRPr>
            </a:pPr>
            <a:r>
              <a:rPr sz="1425" b="1">
                <a:solidFill>
                  <a:srgbClr val="00FFE0"/>
                </a:solidFill>
                <a:latin typeface="Aptos"/>
                <a:ea typeface="Aptos"/>
                <a:cs typeface="Aptos"/>
              </a:rPr>
              <a:t>Approach</a:t>
            </a:r>
          </a:p>
        </p:txBody>
      </p:sp>
      <p:sp>
        <p:nvSpPr>
          <p:cNvPr id="17" name="">
            <a:extLst xmlns:a="http://schemas.openxmlformats.org/drawingml/2006/main">
              <a:ext uri="{FF2B5EF4-FFF2-40B4-BE49-F238E27FC236}">
                <a16:creationId xmlns:a16="http://schemas.microsoft.com/office/drawing/2014/main" id="{90A230F2-F500-4F4E-B718-7B5949EDD25A}"/>
              </a:ext>
            </a:extLst>
          </p:cNvPr>
          <p:cNvSpPr>
            <a:spLocks xmlns:a="http://schemas.openxmlformats.org/drawingml/2006/main" noGrp="1"/>
          </p:cNvSpPr>
          <p:nvPr/>
        </p:nvSpPr>
        <p:spPr>
          <a:xfrm xmlns:a="http://schemas.openxmlformats.org/drawingml/2006/main">
            <a:off x="4610100" y="3467100"/>
            <a:ext cx="24765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7ECFF"/>
                </a:solidFill>
                <a:latin typeface="Aptos"/>
                <a:ea typeface="Aptos"/>
                <a:cs typeface="Aptos"/>
              </a:defRPr>
            </a:pPr>
            <a:r>
              <a:rPr sz="1125" b="0">
                <a:solidFill>
                  <a:srgbClr val="F7ECFF"/>
                </a:solidFill>
                <a:latin typeface="Aptos"/>
                <a:ea typeface="Aptos"/>
                <a:cs typeface="Aptos"/>
              </a:rPr>
              <a:t>EvoGuard connects simulations and live-style events to backend AI analysis and response workflows.</a:t>
            </a:r>
          </a:p>
        </p:txBody>
      </p:sp>
      <p:sp>
        <p:nvSpPr>
          <p:cNvPr id="18" name="">
            <a:extLst xmlns:a="http://schemas.openxmlformats.org/drawingml/2006/main">
              <a:ext uri="{FF2B5EF4-FFF2-40B4-BE49-F238E27FC236}">
                <a16:creationId xmlns:a16="http://schemas.microsoft.com/office/drawing/2014/main" id="{4A93221F-1CB3-4E68-A19C-C266730D0DAA}"/>
              </a:ext>
            </a:extLst>
          </p:cNvPr>
          <p:cNvSpPr>
            <a:spLocks xmlns:a="http://schemas.openxmlformats.org/drawingml/2006/main" noGrp="1"/>
          </p:cNvSpPr>
          <p:nvPr/>
        </p:nvSpPr>
        <p:spPr>
          <a:xfrm xmlns:a="http://schemas.openxmlformats.org/drawingml/2006/main">
            <a:off x="7905750" y="2781300"/>
            <a:ext cx="3048000" cy="1695450"/>
          </a:xfrm>
          <a:prstGeom xmlns:a="http://schemas.openxmlformats.org/drawingml/2006/main" prst="rect">
            <a:avLst/>
          </a:prstGeom>
          <a:solidFill xmlns:a="http://schemas.openxmlformats.org/drawingml/2006/main">
            <a:srgbClr val="12001E"/>
          </a:solidFill>
          <a:ln xmlns:a="http://schemas.openxmlformats.org/drawingml/2006/main" w="9525">
            <a:solidFill>
              <a:srgbClr val="342043"/>
            </a:solidFill>
            <a:prstDash val="solid"/>
          </a:ln>
        </p:spPr>
      </p:sp>
      <p:sp>
        <p:nvSpPr>
          <p:cNvPr id="19" name="">
            <a:extLst xmlns:a="http://schemas.openxmlformats.org/drawingml/2006/main">
              <a:ext uri="{FF2B5EF4-FFF2-40B4-BE49-F238E27FC236}">
                <a16:creationId xmlns:a16="http://schemas.microsoft.com/office/drawing/2014/main" id="{B12C15C8-0319-4B20-A4DF-9C839DE6180D}"/>
              </a:ext>
            </a:extLst>
          </p:cNvPr>
          <p:cNvSpPr>
            <a:spLocks xmlns:a="http://schemas.openxmlformats.org/drawingml/2006/main" noGrp="1"/>
          </p:cNvSpPr>
          <p:nvPr/>
        </p:nvSpPr>
        <p:spPr>
          <a:xfrm xmlns:a="http://schemas.openxmlformats.org/drawingml/2006/main">
            <a:off x="7905750" y="2781300"/>
            <a:ext cx="38100" cy="1695450"/>
          </a:xfrm>
          <a:prstGeom xmlns:a="http://schemas.openxmlformats.org/drawingml/2006/main" prst="rect">
            <a:avLst/>
          </a:prstGeom>
          <a:solidFill xmlns:a="http://schemas.openxmlformats.org/drawingml/2006/main">
            <a:srgbClr val="2CFF9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9B033C68-4425-4DFA-9E6C-06A3FB86B813}"/>
              </a:ext>
            </a:extLst>
          </p:cNvPr>
          <p:cNvSpPr>
            <a:spLocks xmlns:a="http://schemas.openxmlformats.org/drawingml/2006/main" noGrp="1"/>
          </p:cNvSpPr>
          <p:nvPr/>
        </p:nvSpPr>
        <p:spPr>
          <a:xfrm xmlns:a="http://schemas.openxmlformats.org/drawingml/2006/main">
            <a:off x="8134350" y="3048000"/>
            <a:ext cx="238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2CFF9B"/>
                </a:solidFill>
                <a:latin typeface="Aptos"/>
                <a:ea typeface="Aptos"/>
                <a:cs typeface="Aptos"/>
              </a:defRPr>
            </a:pPr>
            <a:r>
              <a:rPr sz="1425" b="1">
                <a:solidFill>
                  <a:srgbClr val="2CFF9B"/>
                </a:solidFill>
                <a:latin typeface="Aptos"/>
                <a:ea typeface="Aptos"/>
                <a:cs typeface="Aptos"/>
              </a:rPr>
              <a:t>Outcome</a:t>
            </a:r>
          </a:p>
        </p:txBody>
      </p:sp>
      <p:sp>
        <p:nvSpPr>
          <p:cNvPr id="21" name="">
            <a:extLst xmlns:a="http://schemas.openxmlformats.org/drawingml/2006/main">
              <a:ext uri="{FF2B5EF4-FFF2-40B4-BE49-F238E27FC236}">
                <a16:creationId xmlns:a16="http://schemas.microsoft.com/office/drawing/2014/main" id="{FDB3D140-04F8-40C7-9A56-9EC4E5851C90}"/>
              </a:ext>
            </a:extLst>
          </p:cNvPr>
          <p:cNvSpPr>
            <a:spLocks xmlns:a="http://schemas.openxmlformats.org/drawingml/2006/main" noGrp="1"/>
          </p:cNvSpPr>
          <p:nvPr/>
        </p:nvSpPr>
        <p:spPr>
          <a:xfrm xmlns:a="http://schemas.openxmlformats.org/drawingml/2006/main">
            <a:off x="8134350" y="3467100"/>
            <a:ext cx="24765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7ECFF"/>
                </a:solidFill>
                <a:latin typeface="Aptos"/>
                <a:ea typeface="Aptos"/>
                <a:cs typeface="Aptos"/>
              </a:defRPr>
            </a:pPr>
            <a:r>
              <a:rPr sz="1125" b="0">
                <a:solidFill>
                  <a:srgbClr val="F7ECFF"/>
                </a:solidFill>
                <a:latin typeface="Aptos"/>
                <a:ea typeface="Aptos"/>
                <a:cs typeface="Aptos"/>
              </a:rPr>
              <a:t>The prototype behaves like a command-center platform rather than a static dashboard.</a:t>
            </a:r>
          </a:p>
        </p:txBody>
      </p:sp>
      <p:sp>
        <p:nvSpPr>
          <p:cNvPr id="22" name="">
            <a:extLst xmlns:a="http://schemas.openxmlformats.org/drawingml/2006/main">
              <a:ext uri="{FF2B5EF4-FFF2-40B4-BE49-F238E27FC236}">
                <a16:creationId xmlns:a16="http://schemas.microsoft.com/office/drawing/2014/main" id="{FC9F57AE-6EAA-42BE-9754-6275BFA7DA40}"/>
              </a:ext>
            </a:extLst>
          </p:cNvPr>
          <p:cNvSpPr>
            <a:spLocks xmlns:a="http://schemas.openxmlformats.org/drawingml/2006/main" noGrp="1"/>
          </p:cNvSpPr>
          <p:nvPr/>
        </p:nvSpPr>
        <p:spPr>
          <a:xfrm xmlns:a="http://schemas.openxmlformats.org/drawingml/2006/main">
            <a:off x="1143000" y="4953000"/>
            <a:ext cx="2857500" cy="1066800"/>
          </a:xfrm>
          <a:prstGeom xmlns:a="http://schemas.openxmlformats.org/drawingml/2006/main" prst="rect">
            <a:avLst/>
          </a:prstGeom>
          <a:solidFill xmlns:a="http://schemas.openxmlformats.org/drawingml/2006/main">
            <a:srgbClr val="12001E"/>
          </a:solidFill>
          <a:ln xmlns:a="http://schemas.openxmlformats.org/drawingml/2006/main" w="9525">
            <a:solidFill>
              <a:srgbClr val="342043"/>
            </a:solidFill>
            <a:prstDash val="solid"/>
          </a:ln>
        </p:spPr>
      </p:sp>
      <p:sp>
        <p:nvSpPr>
          <p:cNvPr id="23" name="">
            <a:extLst xmlns:a="http://schemas.openxmlformats.org/drawingml/2006/main">
              <a:ext uri="{FF2B5EF4-FFF2-40B4-BE49-F238E27FC236}">
                <a16:creationId xmlns:a16="http://schemas.microsoft.com/office/drawing/2014/main" id="{981DB7C7-B1D3-4FDE-BE37-719A2FFE3338}"/>
              </a:ext>
            </a:extLst>
          </p:cNvPr>
          <p:cNvSpPr>
            <a:spLocks xmlns:a="http://schemas.openxmlformats.org/drawingml/2006/main" noGrp="1"/>
          </p:cNvSpPr>
          <p:nvPr/>
        </p:nvSpPr>
        <p:spPr>
          <a:xfrm xmlns:a="http://schemas.openxmlformats.org/drawingml/2006/main">
            <a:off x="1143000" y="4953000"/>
            <a:ext cx="38100" cy="1066800"/>
          </a:xfrm>
          <a:prstGeom xmlns:a="http://schemas.openxmlformats.org/drawingml/2006/main" prst="rect">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D0BC9F4F-DFE0-450E-B3AB-C4DFF5F861DD}"/>
              </a:ext>
            </a:extLst>
          </p:cNvPr>
          <p:cNvSpPr>
            <a:spLocks xmlns:a="http://schemas.openxmlformats.org/drawingml/2006/main" noGrp="1"/>
          </p:cNvSpPr>
          <p:nvPr/>
        </p:nvSpPr>
        <p:spPr>
          <a:xfrm xmlns:a="http://schemas.openxmlformats.org/drawingml/2006/main">
            <a:off x="1352550" y="5143500"/>
            <a:ext cx="24384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A997BA"/>
                </a:solidFill>
                <a:latin typeface="Aptos"/>
                <a:ea typeface="Aptos"/>
                <a:cs typeface="Aptos"/>
              </a:defRPr>
            </a:pPr>
            <a:r>
              <a:rPr sz="750" b="1">
                <a:solidFill>
                  <a:srgbClr val="A997BA"/>
                </a:solidFill>
                <a:latin typeface="Aptos"/>
                <a:ea typeface="Aptos"/>
                <a:cs typeface="Aptos"/>
              </a:rPr>
              <a:t>PROJECT TYPE</a:t>
            </a:r>
          </a:p>
        </p:txBody>
      </p:sp>
      <p:sp>
        <p:nvSpPr>
          <p:cNvPr id="25" name="">
            <a:extLst xmlns:a="http://schemas.openxmlformats.org/drawingml/2006/main">
              <a:ext uri="{FF2B5EF4-FFF2-40B4-BE49-F238E27FC236}">
                <a16:creationId xmlns:a16="http://schemas.microsoft.com/office/drawing/2014/main" id="{765F69AD-BE65-42CE-B680-C7D20C64FED3}"/>
              </a:ext>
            </a:extLst>
          </p:cNvPr>
          <p:cNvSpPr>
            <a:spLocks xmlns:a="http://schemas.openxmlformats.org/drawingml/2006/main" noGrp="1"/>
          </p:cNvSpPr>
          <p:nvPr/>
        </p:nvSpPr>
        <p:spPr>
          <a:xfrm xmlns:a="http://schemas.openxmlformats.org/drawingml/2006/main">
            <a:off x="1352550" y="5353050"/>
            <a:ext cx="24384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0FFE0"/>
                </a:solidFill>
                <a:latin typeface="Aptos"/>
                <a:ea typeface="Aptos"/>
                <a:cs typeface="Aptos"/>
              </a:defRPr>
            </a:pPr>
            <a:r>
              <a:rPr sz="2100" b="1">
                <a:solidFill>
                  <a:srgbClr val="00FFE0"/>
                </a:solidFill>
                <a:latin typeface="Aptos"/>
                <a:ea typeface="Aptos"/>
                <a:cs typeface="Aptos"/>
              </a:rPr>
              <a:t>Enterprise SOC Prototype</a:t>
            </a:r>
          </a:p>
        </p:txBody>
      </p:sp>
      <p:sp>
        <p:nvSpPr>
          <p:cNvPr id="26" name="">
            <a:extLst xmlns:a="http://schemas.openxmlformats.org/drawingml/2006/main">
              <a:ext uri="{FF2B5EF4-FFF2-40B4-BE49-F238E27FC236}">
                <a16:creationId xmlns:a16="http://schemas.microsoft.com/office/drawing/2014/main" id="{8AC9063B-6EB2-4FE4-8669-304DFC3ABF19}"/>
              </a:ext>
            </a:extLst>
          </p:cNvPr>
          <p:cNvSpPr>
            <a:spLocks xmlns:a="http://schemas.openxmlformats.org/drawingml/2006/main" noGrp="1"/>
          </p:cNvSpPr>
          <p:nvPr/>
        </p:nvSpPr>
        <p:spPr>
          <a:xfrm xmlns:a="http://schemas.openxmlformats.org/drawingml/2006/main">
            <a:off x="1352550" y="5753100"/>
            <a:ext cx="24384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997BA"/>
                </a:solidFill>
                <a:latin typeface="Aptos"/>
                <a:ea typeface="Aptos"/>
                <a:cs typeface="Aptos"/>
              </a:defRPr>
            </a:pPr>
            <a:r>
              <a:rPr sz="825" b="0">
                <a:solidFill>
                  <a:srgbClr val="A997BA"/>
                </a:solidFill>
                <a:latin typeface="Aptos"/>
                <a:ea typeface="Aptos"/>
                <a:cs typeface="Aptos"/>
              </a:rPr>
              <a:t>AI-powered cyber defense platform</a:t>
            </a:r>
          </a:p>
        </p:txBody>
      </p:sp>
      <p:sp>
        <p:nvSpPr>
          <p:cNvPr id="27" name="">
            <a:extLst xmlns:a="http://schemas.openxmlformats.org/drawingml/2006/main">
              <a:ext uri="{FF2B5EF4-FFF2-40B4-BE49-F238E27FC236}">
                <a16:creationId xmlns:a16="http://schemas.microsoft.com/office/drawing/2014/main" id="{4A3E3FBA-FAA8-42F0-B46F-2C51E973E02D}"/>
              </a:ext>
            </a:extLst>
          </p:cNvPr>
          <p:cNvSpPr>
            <a:spLocks xmlns:a="http://schemas.openxmlformats.org/drawingml/2006/main" noGrp="1"/>
          </p:cNvSpPr>
          <p:nvPr/>
        </p:nvSpPr>
        <p:spPr>
          <a:xfrm xmlns:a="http://schemas.openxmlformats.org/drawingml/2006/main">
            <a:off x="4667250" y="4953000"/>
            <a:ext cx="2857500" cy="1066800"/>
          </a:xfrm>
          <a:prstGeom xmlns:a="http://schemas.openxmlformats.org/drawingml/2006/main" prst="rect">
            <a:avLst/>
          </a:prstGeom>
          <a:solidFill xmlns:a="http://schemas.openxmlformats.org/drawingml/2006/main">
            <a:srgbClr val="12001E"/>
          </a:solidFill>
          <a:ln xmlns:a="http://schemas.openxmlformats.org/drawingml/2006/main" w="9525">
            <a:solidFill>
              <a:srgbClr val="342043"/>
            </a:solidFill>
            <a:prstDash val="solid"/>
          </a:ln>
        </p:spPr>
      </p:sp>
      <p:sp>
        <p:nvSpPr>
          <p:cNvPr id="28" name="">
            <a:extLst xmlns:a="http://schemas.openxmlformats.org/drawingml/2006/main">
              <a:ext uri="{FF2B5EF4-FFF2-40B4-BE49-F238E27FC236}">
                <a16:creationId xmlns:a16="http://schemas.microsoft.com/office/drawing/2014/main" id="{356C5B1E-A569-4CF1-B68F-826649E3F415}"/>
              </a:ext>
            </a:extLst>
          </p:cNvPr>
          <p:cNvSpPr>
            <a:spLocks xmlns:a="http://schemas.openxmlformats.org/drawingml/2006/main" noGrp="1"/>
          </p:cNvSpPr>
          <p:nvPr/>
        </p:nvSpPr>
        <p:spPr>
          <a:xfrm xmlns:a="http://schemas.openxmlformats.org/drawingml/2006/main">
            <a:off x="4667250" y="4953000"/>
            <a:ext cx="38100" cy="1066800"/>
          </a:xfrm>
          <a:prstGeom xmlns:a="http://schemas.openxmlformats.org/drawingml/2006/main" prst="rect">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913029FF-CDAA-4E2A-A44A-503CB01ECA90}"/>
              </a:ext>
            </a:extLst>
          </p:cNvPr>
          <p:cNvSpPr>
            <a:spLocks xmlns:a="http://schemas.openxmlformats.org/drawingml/2006/main" noGrp="1"/>
          </p:cNvSpPr>
          <p:nvPr/>
        </p:nvSpPr>
        <p:spPr>
          <a:xfrm xmlns:a="http://schemas.openxmlformats.org/drawingml/2006/main">
            <a:off x="4876800" y="5143500"/>
            <a:ext cx="24384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A997BA"/>
                </a:solidFill>
                <a:latin typeface="Aptos"/>
                <a:ea typeface="Aptos"/>
                <a:cs typeface="Aptos"/>
              </a:defRPr>
            </a:pPr>
            <a:r>
              <a:rPr sz="750" b="1">
                <a:solidFill>
                  <a:srgbClr val="A997BA"/>
                </a:solidFill>
                <a:latin typeface="Aptos"/>
                <a:ea typeface="Aptos"/>
                <a:cs typeface="Aptos"/>
              </a:rPr>
              <a:t>CORE IDEA</a:t>
            </a:r>
          </a:p>
        </p:txBody>
      </p:sp>
      <p:sp>
        <p:nvSpPr>
          <p:cNvPr id="30" name="">
            <a:extLst xmlns:a="http://schemas.openxmlformats.org/drawingml/2006/main">
              <a:ext uri="{FF2B5EF4-FFF2-40B4-BE49-F238E27FC236}">
                <a16:creationId xmlns:a16="http://schemas.microsoft.com/office/drawing/2014/main" id="{39A5984D-1A7E-4B1A-8065-EB0E172F95C6}"/>
              </a:ext>
            </a:extLst>
          </p:cNvPr>
          <p:cNvSpPr>
            <a:spLocks xmlns:a="http://schemas.openxmlformats.org/drawingml/2006/main" noGrp="1"/>
          </p:cNvSpPr>
          <p:nvPr/>
        </p:nvSpPr>
        <p:spPr>
          <a:xfrm xmlns:a="http://schemas.openxmlformats.org/drawingml/2006/main">
            <a:off x="4876800" y="5353050"/>
            <a:ext cx="24384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FF2BD6"/>
                </a:solidFill>
                <a:latin typeface="Aptos"/>
                <a:ea typeface="Aptos"/>
                <a:cs typeface="Aptos"/>
              </a:defRPr>
            </a:pPr>
            <a:r>
              <a:rPr sz="2100" b="1">
                <a:solidFill>
                  <a:srgbClr val="FF2BD6"/>
                </a:solidFill>
                <a:latin typeface="Aptos"/>
                <a:ea typeface="Aptos"/>
                <a:cs typeface="Aptos"/>
              </a:rPr>
              <a:t>Backend as Brain</a:t>
            </a:r>
          </a:p>
        </p:txBody>
      </p:sp>
      <p:sp>
        <p:nvSpPr>
          <p:cNvPr id="31" name="">
            <a:extLst xmlns:a="http://schemas.openxmlformats.org/drawingml/2006/main">
              <a:ext uri="{FF2B5EF4-FFF2-40B4-BE49-F238E27FC236}">
                <a16:creationId xmlns:a16="http://schemas.microsoft.com/office/drawing/2014/main" id="{25E75C1C-BADB-4CD5-999D-CF26EA93608A}"/>
              </a:ext>
            </a:extLst>
          </p:cNvPr>
          <p:cNvSpPr>
            <a:spLocks xmlns:a="http://schemas.openxmlformats.org/drawingml/2006/main" noGrp="1"/>
          </p:cNvSpPr>
          <p:nvPr/>
        </p:nvSpPr>
        <p:spPr>
          <a:xfrm xmlns:a="http://schemas.openxmlformats.org/drawingml/2006/main">
            <a:off x="4876800" y="5753100"/>
            <a:ext cx="24384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997BA"/>
                </a:solidFill>
                <a:latin typeface="Aptos"/>
                <a:ea typeface="Aptos"/>
                <a:cs typeface="Aptos"/>
              </a:defRPr>
            </a:pPr>
            <a:r>
              <a:rPr sz="825" b="0">
                <a:solidFill>
                  <a:srgbClr val="A997BA"/>
                </a:solidFill>
                <a:latin typeface="Aptos"/>
                <a:ea typeface="Aptos"/>
                <a:cs typeface="Aptos"/>
              </a:rPr>
              <a:t>Frontend visualizes AI decisions</a:t>
            </a:r>
          </a:p>
        </p:txBody>
      </p:sp>
      <p:sp>
        <p:nvSpPr>
          <p:cNvPr id="32" name="">
            <a:extLst xmlns:a="http://schemas.openxmlformats.org/drawingml/2006/main">
              <a:ext uri="{FF2B5EF4-FFF2-40B4-BE49-F238E27FC236}">
                <a16:creationId xmlns:a16="http://schemas.microsoft.com/office/drawing/2014/main" id="{484F44E9-A9A3-4FEB-A452-DCB9927A313B}"/>
              </a:ext>
            </a:extLst>
          </p:cNvPr>
          <p:cNvSpPr>
            <a:spLocks xmlns:a="http://schemas.openxmlformats.org/drawingml/2006/main" noGrp="1"/>
          </p:cNvSpPr>
          <p:nvPr/>
        </p:nvSpPr>
        <p:spPr>
          <a:xfrm xmlns:a="http://schemas.openxmlformats.org/drawingml/2006/main">
            <a:off x="8191500" y="4953000"/>
            <a:ext cx="2857500" cy="1066800"/>
          </a:xfrm>
          <a:prstGeom xmlns:a="http://schemas.openxmlformats.org/drawingml/2006/main" prst="rect">
            <a:avLst/>
          </a:prstGeom>
          <a:solidFill xmlns:a="http://schemas.openxmlformats.org/drawingml/2006/main">
            <a:srgbClr val="12001E"/>
          </a:solidFill>
          <a:ln xmlns:a="http://schemas.openxmlformats.org/drawingml/2006/main" w="9525">
            <a:solidFill>
              <a:srgbClr val="342043"/>
            </a:solidFill>
            <a:prstDash val="solid"/>
          </a:ln>
        </p:spPr>
      </p:sp>
      <p:sp>
        <p:nvSpPr>
          <p:cNvPr id="33" name="">
            <a:extLst xmlns:a="http://schemas.openxmlformats.org/drawingml/2006/main">
              <a:ext uri="{FF2B5EF4-FFF2-40B4-BE49-F238E27FC236}">
                <a16:creationId xmlns:a16="http://schemas.microsoft.com/office/drawing/2014/main" id="{CAEBB90A-0418-414B-80A7-7CEA3E4004B5}"/>
              </a:ext>
            </a:extLst>
          </p:cNvPr>
          <p:cNvSpPr>
            <a:spLocks xmlns:a="http://schemas.openxmlformats.org/drawingml/2006/main" noGrp="1"/>
          </p:cNvSpPr>
          <p:nvPr/>
        </p:nvSpPr>
        <p:spPr>
          <a:xfrm xmlns:a="http://schemas.openxmlformats.org/drawingml/2006/main">
            <a:off x="8191500" y="4953000"/>
            <a:ext cx="38100" cy="1066800"/>
          </a:xfrm>
          <a:prstGeom xmlns:a="http://schemas.openxmlformats.org/drawingml/2006/main" prst="rect">
            <a:avLst/>
          </a:prstGeom>
          <a:solidFill xmlns:a="http://schemas.openxmlformats.org/drawingml/2006/main">
            <a:srgbClr val="2CFF9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CACFD875-A4A3-47E6-9AFB-74B8AD2F9686}"/>
              </a:ext>
            </a:extLst>
          </p:cNvPr>
          <p:cNvSpPr>
            <a:spLocks xmlns:a="http://schemas.openxmlformats.org/drawingml/2006/main" noGrp="1"/>
          </p:cNvSpPr>
          <p:nvPr/>
        </p:nvSpPr>
        <p:spPr>
          <a:xfrm xmlns:a="http://schemas.openxmlformats.org/drawingml/2006/main">
            <a:off x="8401050" y="5143500"/>
            <a:ext cx="24384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A997BA"/>
                </a:solidFill>
                <a:latin typeface="Aptos"/>
                <a:ea typeface="Aptos"/>
                <a:cs typeface="Aptos"/>
              </a:defRPr>
            </a:pPr>
            <a:r>
              <a:rPr sz="750" b="1">
                <a:solidFill>
                  <a:srgbClr val="A997BA"/>
                </a:solidFill>
                <a:latin typeface="Aptos"/>
                <a:ea typeface="Aptos"/>
                <a:cs typeface="Aptos"/>
              </a:rPr>
              <a:t>DEPLOYMENT</a:t>
            </a:r>
          </a:p>
        </p:txBody>
      </p:sp>
      <p:sp>
        <p:nvSpPr>
          <p:cNvPr id="35" name="">
            <a:extLst xmlns:a="http://schemas.openxmlformats.org/drawingml/2006/main">
              <a:ext uri="{FF2B5EF4-FFF2-40B4-BE49-F238E27FC236}">
                <a16:creationId xmlns:a16="http://schemas.microsoft.com/office/drawing/2014/main" id="{27F23B72-B491-4501-99C7-72BDBF9B3D1F}"/>
              </a:ext>
            </a:extLst>
          </p:cNvPr>
          <p:cNvSpPr>
            <a:spLocks xmlns:a="http://schemas.openxmlformats.org/drawingml/2006/main" noGrp="1"/>
          </p:cNvSpPr>
          <p:nvPr/>
        </p:nvSpPr>
        <p:spPr>
          <a:xfrm xmlns:a="http://schemas.openxmlformats.org/drawingml/2006/main">
            <a:off x="8401050" y="5353050"/>
            <a:ext cx="24384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2CFF9B"/>
                </a:solidFill>
                <a:latin typeface="Aptos"/>
                <a:ea typeface="Aptos"/>
                <a:cs typeface="Aptos"/>
              </a:defRPr>
            </a:pPr>
            <a:r>
              <a:rPr sz="2100" b="1">
                <a:solidFill>
                  <a:srgbClr val="2CFF9B"/>
                </a:solidFill>
                <a:latin typeface="Aptos"/>
                <a:ea typeface="Aptos"/>
                <a:cs typeface="Aptos"/>
              </a:rPr>
              <a:t>Public Demo</a:t>
            </a:r>
          </a:p>
        </p:txBody>
      </p:sp>
      <p:sp>
        <p:nvSpPr>
          <p:cNvPr id="36" name="">
            <a:extLst xmlns:a="http://schemas.openxmlformats.org/drawingml/2006/main">
              <a:ext uri="{FF2B5EF4-FFF2-40B4-BE49-F238E27FC236}">
                <a16:creationId xmlns:a16="http://schemas.microsoft.com/office/drawing/2014/main" id="{3CE7496B-F8DD-4B77-81A0-4F135E63DF82}"/>
              </a:ext>
            </a:extLst>
          </p:cNvPr>
          <p:cNvSpPr>
            <a:spLocks xmlns:a="http://schemas.openxmlformats.org/drawingml/2006/main" noGrp="1"/>
          </p:cNvSpPr>
          <p:nvPr/>
        </p:nvSpPr>
        <p:spPr>
          <a:xfrm xmlns:a="http://schemas.openxmlformats.org/drawingml/2006/main">
            <a:off x="8401050" y="5753100"/>
            <a:ext cx="24384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997BA"/>
                </a:solidFill>
                <a:latin typeface="Aptos"/>
                <a:ea typeface="Aptos"/>
                <a:cs typeface="Aptos"/>
              </a:defRPr>
            </a:pPr>
            <a:r>
              <a:rPr sz="825" b="0">
                <a:solidFill>
                  <a:srgbClr val="A997BA"/>
                </a:solidFill>
                <a:latin typeface="Aptos"/>
                <a:ea typeface="Aptos"/>
                <a:cs typeface="Aptos"/>
              </a:rPr>
              <a:t>GitHub Pages + Render</a:t>
            </a:r>
          </a:p>
        </p:txBody>
      </p:sp>
      <p:sp>
        <p:nvSpPr>
          <p:cNvPr id="37" name="">
            <a:extLst xmlns:a="http://schemas.openxmlformats.org/drawingml/2006/main">
              <a:ext uri="{FF2B5EF4-FFF2-40B4-BE49-F238E27FC236}">
                <a16:creationId xmlns:a16="http://schemas.microsoft.com/office/drawing/2014/main" id="{12D6BC88-E9FC-410D-9441-D8B1CB0791CD}"/>
              </a:ext>
            </a:extLst>
          </p:cNvPr>
          <p:cNvSpPr>
            <a:spLocks xmlns:a="http://schemas.openxmlformats.org/drawingml/2006/main" noGrp="1"/>
          </p:cNvSpPr>
          <p:nvPr/>
        </p:nvSpPr>
        <p:spPr>
          <a:xfrm xmlns:a="http://schemas.openxmlformats.org/drawingml/2006/main">
            <a:off x="685800" y="6400800"/>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A997BA"/>
                </a:solidFill>
                <a:latin typeface="Aptos"/>
                <a:ea typeface="Aptos"/>
                <a:cs typeface="Aptos"/>
              </a:defRPr>
            </a:pPr>
            <a:r>
              <a:rPr sz="750" b="0">
                <a:solidFill>
                  <a:srgbClr val="A997BA"/>
                </a:solidFill>
                <a:latin typeface="Aptos"/>
                <a:ea typeface="Aptos"/>
                <a:cs typeface="Aptos"/>
              </a:rPr>
              <a:t>EvoGuard Enterprise - Agentic AI Cyber Defense Platform</a:t>
            </a:r>
          </a:p>
        </p:txBody>
      </p:sp>
      <p:sp>
        <p:nvSpPr>
          <p:cNvPr id="38" name="">
            <a:extLst xmlns:a="http://schemas.openxmlformats.org/drawingml/2006/main">
              <a:ext uri="{FF2B5EF4-FFF2-40B4-BE49-F238E27FC236}">
                <a16:creationId xmlns:a16="http://schemas.microsoft.com/office/drawing/2014/main" id="{9F78505E-888F-4E38-976B-031EF30B0269}"/>
              </a:ext>
            </a:extLst>
          </p:cNvPr>
          <p:cNvSpPr>
            <a:spLocks xmlns:a="http://schemas.openxmlformats.org/drawingml/2006/main" noGrp="1"/>
          </p:cNvSpPr>
          <p:nvPr/>
        </p:nvSpPr>
        <p:spPr>
          <a:xfrm xmlns:a="http://schemas.openxmlformats.org/drawingml/2006/main">
            <a:off x="11125200" y="636270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0FFE0"/>
                </a:solidFill>
                <a:latin typeface="Aptos"/>
                <a:ea typeface="Aptos"/>
                <a:cs typeface="Aptos"/>
              </a:defRPr>
            </a:pPr>
            <a:r>
              <a:rPr sz="975" b="1">
                <a:solidFill>
                  <a:srgbClr val="00FFE0"/>
                </a:solidFill>
                <a:latin typeface="Aptos"/>
                <a:ea typeface="Aptos"/>
                <a:cs typeface="Aptos"/>
              </a:rPr>
              <a:t>02</a:t>
            </a:r>
          </a:p>
        </p:txBody>
      </p:sp>
    </p:spTree>
    <p:extLst>
      <p:ext uri="{BB962C8B-B14F-4D97-AF65-F5344CB8AC3E}">
        <p14:creationId xmlns:p14="http://schemas.microsoft.com/office/powerpoint/2010/main" val="15010075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811F7C8-85B1-466D-BF51-CF4852E23A8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0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DA2B544-C4B8-4DA2-AF0F-EE367C827AF2}"/>
              </a:ext>
            </a:extLst>
          </p:cNvPr>
          <p:cNvSpPr>
            <a:spLocks xmlns:a="http://schemas.openxmlformats.org/drawingml/2006/main" noGrp="1"/>
          </p:cNvSpPr>
          <p:nvPr/>
        </p:nvSpPr>
        <p:spPr>
          <a:xfrm xmlns:a="http://schemas.openxmlformats.org/drawingml/2006/main">
            <a:off x="-1190625" y="-1333500"/>
            <a:ext cx="4095750" cy="4095750"/>
          </a:xfrm>
          <a:prstGeom xmlns:a="http://schemas.openxmlformats.org/drawingml/2006/main" prst="ellipse">
            <a:avLst/>
          </a:prstGeom>
          <a:solidFill xmlns:a="http://schemas.openxmlformats.org/drawingml/2006/main">
            <a:srgbClr val="32004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95B8C55-C0FA-49DA-873E-002ACB0A6610}"/>
              </a:ext>
            </a:extLst>
          </p:cNvPr>
          <p:cNvSpPr>
            <a:spLocks xmlns:a="http://schemas.openxmlformats.org/drawingml/2006/main" noGrp="1"/>
          </p:cNvSpPr>
          <p:nvPr/>
        </p:nvSpPr>
        <p:spPr>
          <a:xfrm xmlns:a="http://schemas.openxmlformats.org/drawingml/2006/main">
            <a:off x="9048750" y="-1143000"/>
            <a:ext cx="4095750" cy="4095750"/>
          </a:xfrm>
          <a:prstGeom xmlns:a="http://schemas.openxmlformats.org/drawingml/2006/main" prst="ellipse">
            <a:avLst/>
          </a:prstGeom>
          <a:solidFill xmlns:a="http://schemas.openxmlformats.org/drawingml/2006/main">
            <a:srgbClr val="160A34"/>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7AFCE652-1327-4AEF-A1E5-E2BF5FC98DC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0A40A1D8-B049-49BD-99C6-78EC70D84E1C}"/>
              </a:ext>
            </a:extLst>
          </p:cNvPr>
          <p:cNvSpPr>
            <a:spLocks xmlns:a="http://schemas.openxmlformats.org/drawingml/2006/main" noGrp="1"/>
          </p:cNvSpPr>
          <p:nvPr/>
        </p:nvSpPr>
        <p:spPr>
          <a:xfrm xmlns:a="http://schemas.openxmlformats.org/drawingml/2006/main">
            <a:off x="0" y="76200"/>
            <a:ext cx="12192000" cy="28575"/>
          </a:xfrm>
          <a:prstGeom xmlns:a="http://schemas.openxmlformats.org/drawingml/2006/main" prst="rect">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9CEBDA1D-8201-4868-B6A9-2DDC235EFEB2}"/>
              </a:ext>
            </a:extLst>
          </p:cNvPr>
          <p:cNvSpPr>
            <a:spLocks xmlns:a="http://schemas.openxmlformats.org/drawingml/2006/main" noGrp="1"/>
          </p:cNvSpPr>
          <p:nvPr/>
        </p:nvSpPr>
        <p:spPr>
          <a:xfrm xmlns:a="http://schemas.openxmlformats.org/drawingml/2006/main">
            <a:off x="685800" y="323850"/>
            <a:ext cx="400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00FFE0"/>
                </a:solidFill>
                <a:latin typeface="Aptos"/>
                <a:ea typeface="Aptos"/>
                <a:cs typeface="Aptos"/>
              </a:defRPr>
            </a:pPr>
            <a:r>
              <a:rPr sz="825" b="1">
                <a:solidFill>
                  <a:srgbClr val="00FFE0"/>
                </a:solidFill>
                <a:latin typeface="Aptos"/>
                <a:ea typeface="Aptos"/>
                <a:cs typeface="Aptos"/>
              </a:rPr>
              <a:t>BACKEND PIPELINE</a:t>
            </a:r>
          </a:p>
        </p:txBody>
      </p:sp>
      <p:sp>
        <p:nvSpPr>
          <p:cNvPr id="7" name="">
            <a:extLst xmlns:a="http://schemas.openxmlformats.org/drawingml/2006/main">
              <a:ext uri="{FF2B5EF4-FFF2-40B4-BE49-F238E27FC236}">
                <a16:creationId xmlns:a16="http://schemas.microsoft.com/office/drawing/2014/main" id="{D4A43A64-F070-4065-A36F-9ED18BCD5915}"/>
              </a:ext>
            </a:extLst>
          </p:cNvPr>
          <p:cNvSpPr>
            <a:spLocks xmlns:a="http://schemas.openxmlformats.org/drawingml/2006/main" noGrp="1"/>
          </p:cNvSpPr>
          <p:nvPr/>
        </p:nvSpPr>
        <p:spPr>
          <a:xfrm xmlns:a="http://schemas.openxmlformats.org/drawingml/2006/main">
            <a:off x="685800" y="66675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F2BD6"/>
                </a:solidFill>
                <a:latin typeface="Aptos"/>
                <a:ea typeface="Aptos"/>
                <a:cs typeface="Aptos"/>
              </a:defRPr>
            </a:pPr>
            <a:r>
              <a:rPr sz="825" b="1">
                <a:solidFill>
                  <a:srgbClr val="FF2BD6"/>
                </a:solidFill>
                <a:latin typeface="Aptos"/>
                <a:ea typeface="Aptos"/>
                <a:cs typeface="Aptos"/>
              </a:rPr>
              <a:t>The backend is the decision layer; the frontend is the SOC command surface.</a:t>
            </a:r>
          </a:p>
        </p:txBody>
      </p:sp>
      <p:sp>
        <p:nvSpPr>
          <p:cNvPr id="8" name="">
            <a:extLst xmlns:a="http://schemas.openxmlformats.org/drawingml/2006/main">
              <a:ext uri="{FF2B5EF4-FFF2-40B4-BE49-F238E27FC236}">
                <a16:creationId xmlns:a16="http://schemas.microsoft.com/office/drawing/2014/main" id="{2A9FE30E-678D-420E-8873-7C1D24BAAF5E}"/>
              </a:ext>
            </a:extLst>
          </p:cNvPr>
          <p:cNvSpPr>
            <a:spLocks xmlns:a="http://schemas.openxmlformats.org/drawingml/2006/main" noGrp="1"/>
          </p:cNvSpPr>
          <p:nvPr/>
        </p:nvSpPr>
        <p:spPr>
          <a:xfrm xmlns:a="http://schemas.openxmlformats.org/drawingml/2006/main">
            <a:off x="685800" y="933450"/>
            <a:ext cx="88582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7ECFF"/>
                </a:solidFill>
                <a:latin typeface="Aptos Display"/>
                <a:ea typeface="Aptos Display"/>
                <a:cs typeface="Aptos Display"/>
              </a:defRPr>
            </a:pPr>
            <a:r>
              <a:rPr sz="2550" b="1">
                <a:solidFill>
                  <a:srgbClr val="F7ECFF"/>
                </a:solidFill>
                <a:latin typeface="Aptos Display"/>
                <a:ea typeface="Aptos Display"/>
                <a:cs typeface="Aptos Display"/>
              </a:rPr>
              <a:t>Flask APIs, SQLite logging, Socket.IO events, AI analysis, IOC enrichment, MITRE mapping, and reports drive the interface.</a:t>
            </a:r>
          </a:p>
        </p:txBody>
      </p:sp>
      <p:sp>
        <p:nvSpPr>
          <p:cNvPr id="9" name="">
            <a:extLst xmlns:a="http://schemas.openxmlformats.org/drawingml/2006/main">
              <a:ext uri="{FF2B5EF4-FFF2-40B4-BE49-F238E27FC236}">
                <a16:creationId xmlns:a16="http://schemas.microsoft.com/office/drawing/2014/main" id="{E0C2ACD4-4E59-4250-9598-0DECDF3794EA}"/>
              </a:ext>
            </a:extLst>
          </p:cNvPr>
          <p:cNvSpPr>
            <a:spLocks xmlns:a="http://schemas.openxmlformats.org/drawingml/2006/main" noGrp="1"/>
          </p:cNvSpPr>
          <p:nvPr/>
        </p:nvSpPr>
        <p:spPr>
          <a:xfrm xmlns:a="http://schemas.openxmlformats.org/drawingml/2006/main">
            <a:off x="742950" y="2781300"/>
            <a:ext cx="2095500" cy="1200150"/>
          </a:xfrm>
          <a:prstGeom xmlns:a="http://schemas.openxmlformats.org/drawingml/2006/main" prst="rect">
            <a:avLst/>
          </a:prstGeom>
          <a:solidFill xmlns:a="http://schemas.openxmlformats.org/drawingml/2006/main">
            <a:srgbClr val="12001E"/>
          </a:solidFill>
          <a:ln xmlns:a="http://schemas.openxmlformats.org/drawingml/2006/main" w="9525">
            <a:solidFill>
              <a:srgbClr val="342043"/>
            </a:solidFill>
            <a:prstDash val="solid"/>
          </a:ln>
        </p:spPr>
      </p:sp>
      <p:sp>
        <p:nvSpPr>
          <p:cNvPr id="10" name="">
            <a:extLst xmlns:a="http://schemas.openxmlformats.org/drawingml/2006/main">
              <a:ext uri="{FF2B5EF4-FFF2-40B4-BE49-F238E27FC236}">
                <a16:creationId xmlns:a16="http://schemas.microsoft.com/office/drawing/2014/main" id="{0F20EE2E-9D63-4A02-A35C-5AEDC192BB4F}"/>
              </a:ext>
            </a:extLst>
          </p:cNvPr>
          <p:cNvSpPr>
            <a:spLocks xmlns:a="http://schemas.openxmlformats.org/drawingml/2006/main" noGrp="1"/>
          </p:cNvSpPr>
          <p:nvPr/>
        </p:nvSpPr>
        <p:spPr>
          <a:xfrm xmlns:a="http://schemas.openxmlformats.org/drawingml/2006/main">
            <a:off x="742950" y="2781300"/>
            <a:ext cx="38100" cy="1200150"/>
          </a:xfrm>
          <a:prstGeom xmlns:a="http://schemas.openxmlformats.org/drawingml/2006/main" prst="rect">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06F3536A-20F5-488D-9FFD-DE7BDAF15052}"/>
              </a:ext>
            </a:extLst>
          </p:cNvPr>
          <p:cNvSpPr>
            <a:spLocks xmlns:a="http://schemas.openxmlformats.org/drawingml/2006/main" noGrp="1"/>
          </p:cNvSpPr>
          <p:nvPr/>
        </p:nvSpPr>
        <p:spPr>
          <a:xfrm xmlns:a="http://schemas.openxmlformats.org/drawingml/2006/main">
            <a:off x="914400" y="299085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0FFE0"/>
                </a:solidFill>
                <a:latin typeface="Aptos"/>
                <a:ea typeface="Aptos"/>
                <a:cs typeface="Aptos"/>
              </a:defRPr>
            </a:pPr>
            <a:r>
              <a:rPr sz="1275" b="1">
                <a:solidFill>
                  <a:srgbClr val="00FFE0"/>
                </a:solidFill>
                <a:latin typeface="Aptos"/>
                <a:ea typeface="Aptos"/>
                <a:cs typeface="Aptos"/>
              </a:rPr>
              <a:t>React Frontend</a:t>
            </a:r>
          </a:p>
        </p:txBody>
      </p:sp>
      <p:sp>
        <p:nvSpPr>
          <p:cNvPr id="12" name="">
            <a:extLst xmlns:a="http://schemas.openxmlformats.org/drawingml/2006/main">
              <a:ext uri="{FF2B5EF4-FFF2-40B4-BE49-F238E27FC236}">
                <a16:creationId xmlns:a16="http://schemas.microsoft.com/office/drawing/2014/main" id="{893E30CC-7EF0-4E8F-80FC-41C0EE9F5E56}"/>
              </a:ext>
            </a:extLst>
          </p:cNvPr>
          <p:cNvSpPr>
            <a:spLocks xmlns:a="http://schemas.openxmlformats.org/drawingml/2006/main" noGrp="1"/>
          </p:cNvSpPr>
          <p:nvPr/>
        </p:nvSpPr>
        <p:spPr>
          <a:xfrm xmlns:a="http://schemas.openxmlformats.org/drawingml/2006/main">
            <a:off x="914400" y="3333750"/>
            <a:ext cx="1714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7ECFF"/>
                </a:solidFill>
                <a:latin typeface="Aptos"/>
                <a:ea typeface="Aptos"/>
                <a:cs typeface="Aptos"/>
              </a:defRPr>
            </a:pPr>
            <a:r>
              <a:rPr sz="975" b="0">
                <a:solidFill>
                  <a:srgbClr val="F7ECFF"/>
                </a:solidFill>
                <a:latin typeface="Aptos"/>
                <a:ea typeface="Aptos"/>
                <a:cs typeface="Aptos"/>
              </a:rPr>
              <a:t>Dashboard, Simulation,</a:t>
            </a:r>
          </a:p>
          <a:p xmlns:a="http://schemas.openxmlformats.org/drawingml/2006/main">
            <a:pPr algn="l">
              <a:defRPr sz="975" b="0">
                <a:solidFill>
                  <a:srgbClr val="F7ECFF"/>
                </a:solidFill>
                <a:latin typeface="Aptos"/>
                <a:ea typeface="Aptos"/>
                <a:cs typeface="Aptos"/>
              </a:defRPr>
            </a:pPr>
            <a:r>
              <a:rPr sz="975" b="0">
                <a:solidFill>
                  <a:srgbClr val="F7ECFF"/>
                </a:solidFill>
                <a:latin typeface="Aptos"/>
                <a:ea typeface="Aptos"/>
                <a:cs typeface="Aptos"/>
              </a:rPr>
              <a:t>Map, Reports, Assistant</a:t>
            </a:r>
          </a:p>
        </p:txBody>
      </p:sp>
      <p:sp>
        <p:nvSpPr>
          <p:cNvPr id="13" name="">
            <a:extLst xmlns:a="http://schemas.openxmlformats.org/drawingml/2006/main">
              <a:ext uri="{FF2B5EF4-FFF2-40B4-BE49-F238E27FC236}">
                <a16:creationId xmlns:a16="http://schemas.microsoft.com/office/drawing/2014/main" id="{573CA4D6-34BC-479C-BB7D-6C4E1658ABC5}"/>
              </a:ext>
            </a:extLst>
          </p:cNvPr>
          <p:cNvSpPr>
            <a:spLocks xmlns:a="http://schemas.openxmlformats.org/drawingml/2006/main" noGrp="1"/>
          </p:cNvSpPr>
          <p:nvPr/>
        </p:nvSpPr>
        <p:spPr>
          <a:xfrm xmlns:a="http://schemas.openxmlformats.org/drawingml/2006/main">
            <a:off x="3467100" y="2781300"/>
            <a:ext cx="2095500" cy="1200150"/>
          </a:xfrm>
          <a:prstGeom xmlns:a="http://schemas.openxmlformats.org/drawingml/2006/main" prst="rect">
            <a:avLst/>
          </a:prstGeom>
          <a:solidFill xmlns:a="http://schemas.openxmlformats.org/drawingml/2006/main">
            <a:srgbClr val="12001E"/>
          </a:solidFill>
          <a:ln xmlns:a="http://schemas.openxmlformats.org/drawingml/2006/main" w="9525">
            <a:solidFill>
              <a:srgbClr val="342043"/>
            </a:solidFill>
            <a:prstDash val="solid"/>
          </a:ln>
        </p:spPr>
      </p:sp>
      <p:sp>
        <p:nvSpPr>
          <p:cNvPr id="14" name="">
            <a:extLst xmlns:a="http://schemas.openxmlformats.org/drawingml/2006/main">
              <a:ext uri="{FF2B5EF4-FFF2-40B4-BE49-F238E27FC236}">
                <a16:creationId xmlns:a16="http://schemas.microsoft.com/office/drawing/2014/main" id="{CEB23622-059B-4729-94FA-54C87F4969FF}"/>
              </a:ext>
            </a:extLst>
          </p:cNvPr>
          <p:cNvSpPr>
            <a:spLocks xmlns:a="http://schemas.openxmlformats.org/drawingml/2006/main" noGrp="1"/>
          </p:cNvSpPr>
          <p:nvPr/>
        </p:nvSpPr>
        <p:spPr>
          <a:xfrm xmlns:a="http://schemas.openxmlformats.org/drawingml/2006/main">
            <a:off x="3467100" y="2781300"/>
            <a:ext cx="38100" cy="1200150"/>
          </a:xfrm>
          <a:prstGeom xmlns:a="http://schemas.openxmlformats.org/drawingml/2006/main" prst="rect">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C64BDC50-998D-404D-BD04-AFC8E4D9D73B}"/>
              </a:ext>
            </a:extLst>
          </p:cNvPr>
          <p:cNvSpPr>
            <a:spLocks xmlns:a="http://schemas.openxmlformats.org/drawingml/2006/main" noGrp="1"/>
          </p:cNvSpPr>
          <p:nvPr/>
        </p:nvSpPr>
        <p:spPr>
          <a:xfrm xmlns:a="http://schemas.openxmlformats.org/drawingml/2006/main">
            <a:off x="3638550" y="299085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F2BD6"/>
                </a:solidFill>
                <a:latin typeface="Aptos"/>
                <a:ea typeface="Aptos"/>
                <a:cs typeface="Aptos"/>
              </a:defRPr>
            </a:pPr>
            <a:r>
              <a:rPr sz="1275" b="1">
                <a:solidFill>
                  <a:srgbClr val="FF2BD6"/>
                </a:solidFill>
                <a:latin typeface="Aptos"/>
                <a:ea typeface="Aptos"/>
                <a:cs typeface="Aptos"/>
              </a:rPr>
              <a:t>Flask API</a:t>
            </a:r>
          </a:p>
        </p:txBody>
      </p:sp>
      <p:sp>
        <p:nvSpPr>
          <p:cNvPr id="16" name="">
            <a:extLst xmlns:a="http://schemas.openxmlformats.org/drawingml/2006/main">
              <a:ext uri="{FF2B5EF4-FFF2-40B4-BE49-F238E27FC236}">
                <a16:creationId xmlns:a16="http://schemas.microsoft.com/office/drawing/2014/main" id="{9B0C976D-71E3-496D-81DF-2F1A2EE06179}"/>
              </a:ext>
            </a:extLst>
          </p:cNvPr>
          <p:cNvSpPr>
            <a:spLocks xmlns:a="http://schemas.openxmlformats.org/drawingml/2006/main" noGrp="1"/>
          </p:cNvSpPr>
          <p:nvPr/>
        </p:nvSpPr>
        <p:spPr>
          <a:xfrm xmlns:a="http://schemas.openxmlformats.org/drawingml/2006/main">
            <a:off x="3638550" y="3333750"/>
            <a:ext cx="1714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7ECFF"/>
                </a:solidFill>
                <a:latin typeface="Aptos"/>
                <a:ea typeface="Aptos"/>
                <a:cs typeface="Aptos"/>
              </a:defRPr>
            </a:pPr>
            <a:r>
              <a:rPr sz="975" b="0">
                <a:solidFill>
                  <a:srgbClr val="F7ECFF"/>
                </a:solidFill>
                <a:latin typeface="Aptos"/>
                <a:ea typeface="Aptos"/>
                <a:cs typeface="Aptos"/>
              </a:rPr>
              <a:t>REST endpoints,</a:t>
            </a:r>
          </a:p>
          <a:p xmlns:a="http://schemas.openxmlformats.org/drawingml/2006/main">
            <a:pPr algn="l">
              <a:defRPr sz="975" b="0">
                <a:solidFill>
                  <a:srgbClr val="F7ECFF"/>
                </a:solidFill>
                <a:latin typeface="Aptos"/>
                <a:ea typeface="Aptos"/>
                <a:cs typeface="Aptos"/>
              </a:defRPr>
            </a:pPr>
            <a:r>
              <a:rPr sz="975" b="0">
                <a:solidFill>
                  <a:srgbClr val="F7ECFF"/>
                </a:solidFill>
                <a:latin typeface="Aptos"/>
                <a:ea typeface="Aptos"/>
                <a:cs typeface="Aptos"/>
              </a:rPr>
              <a:t>Socket.IO events</a:t>
            </a:r>
          </a:p>
        </p:txBody>
      </p:sp>
      <p:sp>
        <p:nvSpPr>
          <p:cNvPr id="17" name="">
            <a:extLst xmlns:a="http://schemas.openxmlformats.org/drawingml/2006/main">
              <a:ext uri="{FF2B5EF4-FFF2-40B4-BE49-F238E27FC236}">
                <a16:creationId xmlns:a16="http://schemas.microsoft.com/office/drawing/2014/main" id="{7D99FACA-94A5-4231-9013-8AC4B6FB51B3}"/>
              </a:ext>
            </a:extLst>
          </p:cNvPr>
          <p:cNvSpPr>
            <a:spLocks xmlns:a="http://schemas.openxmlformats.org/drawingml/2006/main" noGrp="1"/>
          </p:cNvSpPr>
          <p:nvPr/>
        </p:nvSpPr>
        <p:spPr>
          <a:xfrm xmlns:a="http://schemas.openxmlformats.org/drawingml/2006/main">
            <a:off x="6191250" y="2781300"/>
            <a:ext cx="2095500" cy="1200150"/>
          </a:xfrm>
          <a:prstGeom xmlns:a="http://schemas.openxmlformats.org/drawingml/2006/main" prst="rect">
            <a:avLst/>
          </a:prstGeom>
          <a:solidFill xmlns:a="http://schemas.openxmlformats.org/drawingml/2006/main">
            <a:srgbClr val="12001E"/>
          </a:solidFill>
          <a:ln xmlns:a="http://schemas.openxmlformats.org/drawingml/2006/main" w="9525">
            <a:solidFill>
              <a:srgbClr val="342043"/>
            </a:solidFill>
            <a:prstDash val="solid"/>
          </a:ln>
        </p:spPr>
      </p:sp>
      <p:sp>
        <p:nvSpPr>
          <p:cNvPr id="18" name="">
            <a:extLst xmlns:a="http://schemas.openxmlformats.org/drawingml/2006/main">
              <a:ext uri="{FF2B5EF4-FFF2-40B4-BE49-F238E27FC236}">
                <a16:creationId xmlns:a16="http://schemas.microsoft.com/office/drawing/2014/main" id="{09166192-7D2A-4BBB-A58C-5C0B8886B2EF}"/>
              </a:ext>
            </a:extLst>
          </p:cNvPr>
          <p:cNvSpPr>
            <a:spLocks xmlns:a="http://schemas.openxmlformats.org/drawingml/2006/main" noGrp="1"/>
          </p:cNvSpPr>
          <p:nvPr/>
        </p:nvSpPr>
        <p:spPr>
          <a:xfrm xmlns:a="http://schemas.openxmlformats.org/drawingml/2006/main">
            <a:off x="6191250" y="2781300"/>
            <a:ext cx="38100" cy="1200150"/>
          </a:xfrm>
          <a:prstGeom xmlns:a="http://schemas.openxmlformats.org/drawingml/2006/main" prst="rect">
            <a:avLst/>
          </a:prstGeom>
          <a:solidFill xmlns:a="http://schemas.openxmlformats.org/drawingml/2006/main">
            <a:srgbClr val="2CFF9B"/>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DBB2DEC2-A251-4A0C-8BFE-49D5E46BB4C6}"/>
              </a:ext>
            </a:extLst>
          </p:cNvPr>
          <p:cNvSpPr>
            <a:spLocks xmlns:a="http://schemas.openxmlformats.org/drawingml/2006/main" noGrp="1"/>
          </p:cNvSpPr>
          <p:nvPr/>
        </p:nvSpPr>
        <p:spPr>
          <a:xfrm xmlns:a="http://schemas.openxmlformats.org/drawingml/2006/main">
            <a:off x="6362700" y="299085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2CFF9B"/>
                </a:solidFill>
                <a:latin typeface="Aptos"/>
                <a:ea typeface="Aptos"/>
                <a:cs typeface="Aptos"/>
              </a:defRPr>
            </a:pPr>
            <a:r>
              <a:rPr sz="1275" b="1">
                <a:solidFill>
                  <a:srgbClr val="2CFF9B"/>
                </a:solidFill>
                <a:latin typeface="Aptos"/>
                <a:ea typeface="Aptos"/>
                <a:cs typeface="Aptos"/>
              </a:rPr>
              <a:t>AI Engine</a:t>
            </a:r>
          </a:p>
        </p:txBody>
      </p:sp>
      <p:sp>
        <p:nvSpPr>
          <p:cNvPr id="20" name="">
            <a:extLst xmlns:a="http://schemas.openxmlformats.org/drawingml/2006/main">
              <a:ext uri="{FF2B5EF4-FFF2-40B4-BE49-F238E27FC236}">
                <a16:creationId xmlns:a16="http://schemas.microsoft.com/office/drawing/2014/main" id="{DB6839CB-6D5E-43CA-A1A4-AC199C416AA0}"/>
              </a:ext>
            </a:extLst>
          </p:cNvPr>
          <p:cNvSpPr>
            <a:spLocks xmlns:a="http://schemas.openxmlformats.org/drawingml/2006/main" noGrp="1"/>
          </p:cNvSpPr>
          <p:nvPr/>
        </p:nvSpPr>
        <p:spPr>
          <a:xfrm xmlns:a="http://schemas.openxmlformats.org/drawingml/2006/main">
            <a:off x="6362700" y="3333750"/>
            <a:ext cx="1714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7ECFF"/>
                </a:solidFill>
                <a:latin typeface="Aptos"/>
                <a:ea typeface="Aptos"/>
                <a:cs typeface="Aptos"/>
              </a:defRPr>
            </a:pPr>
            <a:r>
              <a:rPr sz="975" b="0">
                <a:solidFill>
                  <a:srgbClr val="F7ECFF"/>
                </a:solidFill>
                <a:latin typeface="Aptos"/>
                <a:ea typeface="Aptos"/>
                <a:cs typeface="Aptos"/>
              </a:rPr>
              <a:t>Model prediction,</a:t>
            </a:r>
          </a:p>
          <a:p xmlns:a="http://schemas.openxmlformats.org/drawingml/2006/main">
            <a:pPr algn="l">
              <a:defRPr sz="975" b="0">
                <a:solidFill>
                  <a:srgbClr val="F7ECFF"/>
                </a:solidFill>
                <a:latin typeface="Aptos"/>
                <a:ea typeface="Aptos"/>
                <a:cs typeface="Aptos"/>
              </a:defRPr>
            </a:pPr>
            <a:r>
              <a:rPr sz="975" b="0">
                <a:solidFill>
                  <a:srgbClr val="F7ECFF"/>
                </a:solidFill>
                <a:latin typeface="Aptos"/>
                <a:ea typeface="Aptos"/>
                <a:cs typeface="Aptos"/>
              </a:rPr>
              <a:t>agentic analysis</a:t>
            </a:r>
          </a:p>
        </p:txBody>
      </p:sp>
      <p:sp>
        <p:nvSpPr>
          <p:cNvPr id="21" name="">
            <a:extLst xmlns:a="http://schemas.openxmlformats.org/drawingml/2006/main">
              <a:ext uri="{FF2B5EF4-FFF2-40B4-BE49-F238E27FC236}">
                <a16:creationId xmlns:a16="http://schemas.microsoft.com/office/drawing/2014/main" id="{397D6986-727B-4604-85AC-0A260DA1EFE3}"/>
              </a:ext>
            </a:extLst>
          </p:cNvPr>
          <p:cNvSpPr>
            <a:spLocks xmlns:a="http://schemas.openxmlformats.org/drawingml/2006/main" noGrp="1"/>
          </p:cNvSpPr>
          <p:nvPr/>
        </p:nvSpPr>
        <p:spPr>
          <a:xfrm xmlns:a="http://schemas.openxmlformats.org/drawingml/2006/main">
            <a:off x="8915400" y="2781300"/>
            <a:ext cx="2095500" cy="1200150"/>
          </a:xfrm>
          <a:prstGeom xmlns:a="http://schemas.openxmlformats.org/drawingml/2006/main" prst="rect">
            <a:avLst/>
          </a:prstGeom>
          <a:solidFill xmlns:a="http://schemas.openxmlformats.org/drawingml/2006/main">
            <a:srgbClr val="12001E"/>
          </a:solidFill>
          <a:ln xmlns:a="http://schemas.openxmlformats.org/drawingml/2006/main" w="9525">
            <a:solidFill>
              <a:srgbClr val="342043"/>
            </a:solidFill>
            <a:prstDash val="solid"/>
          </a:ln>
        </p:spPr>
      </p:sp>
      <p:sp>
        <p:nvSpPr>
          <p:cNvPr id="22" name="">
            <a:extLst xmlns:a="http://schemas.openxmlformats.org/drawingml/2006/main">
              <a:ext uri="{FF2B5EF4-FFF2-40B4-BE49-F238E27FC236}">
                <a16:creationId xmlns:a16="http://schemas.microsoft.com/office/drawing/2014/main" id="{680D6335-AB88-4CD0-BD5C-BF88EB832899}"/>
              </a:ext>
            </a:extLst>
          </p:cNvPr>
          <p:cNvSpPr>
            <a:spLocks xmlns:a="http://schemas.openxmlformats.org/drawingml/2006/main" noGrp="1"/>
          </p:cNvSpPr>
          <p:nvPr/>
        </p:nvSpPr>
        <p:spPr>
          <a:xfrm xmlns:a="http://schemas.openxmlformats.org/drawingml/2006/main">
            <a:off x="8915400" y="2781300"/>
            <a:ext cx="38100" cy="1200150"/>
          </a:xfrm>
          <a:prstGeom xmlns:a="http://schemas.openxmlformats.org/drawingml/2006/main" prst="rect">
            <a:avLst/>
          </a:prstGeom>
          <a:solidFill xmlns:a="http://schemas.openxmlformats.org/drawingml/2006/main">
            <a:srgbClr val="FF9F1C"/>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A9EA96C7-7420-4404-9E7C-2D67A6DF7FF2}"/>
              </a:ext>
            </a:extLst>
          </p:cNvPr>
          <p:cNvSpPr>
            <a:spLocks xmlns:a="http://schemas.openxmlformats.org/drawingml/2006/main" noGrp="1"/>
          </p:cNvSpPr>
          <p:nvPr/>
        </p:nvSpPr>
        <p:spPr>
          <a:xfrm xmlns:a="http://schemas.openxmlformats.org/drawingml/2006/main">
            <a:off x="9086850" y="299085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F9F1C"/>
                </a:solidFill>
                <a:latin typeface="Aptos"/>
                <a:ea typeface="Aptos"/>
                <a:cs typeface="Aptos"/>
              </a:defRPr>
            </a:pPr>
            <a:r>
              <a:rPr sz="1275" b="1">
                <a:solidFill>
                  <a:srgbClr val="FF9F1C"/>
                </a:solidFill>
                <a:latin typeface="Aptos"/>
                <a:ea typeface="Aptos"/>
                <a:cs typeface="Aptos"/>
              </a:rPr>
              <a:t>Data + Reports</a:t>
            </a:r>
          </a:p>
        </p:txBody>
      </p:sp>
      <p:sp>
        <p:nvSpPr>
          <p:cNvPr id="24" name="">
            <a:extLst xmlns:a="http://schemas.openxmlformats.org/drawingml/2006/main">
              <a:ext uri="{FF2B5EF4-FFF2-40B4-BE49-F238E27FC236}">
                <a16:creationId xmlns:a16="http://schemas.microsoft.com/office/drawing/2014/main" id="{2DD7A751-A476-4F7A-A97B-0189C1832684}"/>
              </a:ext>
            </a:extLst>
          </p:cNvPr>
          <p:cNvSpPr>
            <a:spLocks xmlns:a="http://schemas.openxmlformats.org/drawingml/2006/main" noGrp="1"/>
          </p:cNvSpPr>
          <p:nvPr/>
        </p:nvSpPr>
        <p:spPr>
          <a:xfrm xmlns:a="http://schemas.openxmlformats.org/drawingml/2006/main">
            <a:off x="9086850" y="3333750"/>
            <a:ext cx="1714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7ECFF"/>
                </a:solidFill>
                <a:latin typeface="Aptos"/>
                <a:ea typeface="Aptos"/>
                <a:cs typeface="Aptos"/>
              </a:defRPr>
            </a:pPr>
            <a:r>
              <a:rPr sz="975" b="0">
                <a:solidFill>
                  <a:srgbClr val="F7ECFF"/>
                </a:solidFill>
                <a:latin typeface="Aptos"/>
                <a:ea typeface="Aptos"/>
                <a:cs typeface="Aptos"/>
              </a:rPr>
              <a:t>SQLite logs,</a:t>
            </a:r>
          </a:p>
          <a:p xmlns:a="http://schemas.openxmlformats.org/drawingml/2006/main">
            <a:pPr algn="l">
              <a:defRPr sz="975" b="0">
                <a:solidFill>
                  <a:srgbClr val="F7ECFF"/>
                </a:solidFill>
                <a:latin typeface="Aptos"/>
                <a:ea typeface="Aptos"/>
                <a:cs typeface="Aptos"/>
              </a:defRPr>
            </a:pPr>
            <a:r>
              <a:rPr sz="975" b="0">
                <a:solidFill>
                  <a:srgbClr val="F7ECFF"/>
                </a:solidFill>
                <a:latin typeface="Aptos"/>
                <a:ea typeface="Aptos"/>
                <a:cs typeface="Aptos"/>
              </a:rPr>
              <a:t>PDF exports</a:t>
            </a:r>
          </a:p>
        </p:txBody>
      </p:sp>
      <p:sp>
        <p:nvSpPr>
          <p:cNvPr id="25" name="">
            <a:extLst xmlns:a="http://schemas.openxmlformats.org/drawingml/2006/main">
              <a:ext uri="{FF2B5EF4-FFF2-40B4-BE49-F238E27FC236}">
                <a16:creationId xmlns:a16="http://schemas.microsoft.com/office/drawing/2014/main" id="{AA2697A5-4810-43E2-9348-9A06D9A7332B}"/>
              </a:ext>
            </a:extLst>
          </p:cNvPr>
          <p:cNvSpPr>
            <a:spLocks xmlns:a="http://schemas.openxmlformats.org/drawingml/2006/main" noGrp="1"/>
          </p:cNvSpPr>
          <p:nvPr/>
        </p:nvSpPr>
        <p:spPr>
          <a:xfrm xmlns:a="http://schemas.openxmlformats.org/drawingml/2006/main">
            <a:off x="2838450" y="3371850"/>
            <a:ext cx="628650" cy="28575"/>
          </a:xfrm>
          <a:prstGeom xmlns:a="http://schemas.openxmlformats.org/drawingml/2006/main" prst="rect">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49BFE89C-1768-4A0D-B2FA-1D7A7031FDF9}"/>
              </a:ext>
            </a:extLst>
          </p:cNvPr>
          <p:cNvSpPr>
            <a:spLocks xmlns:a="http://schemas.openxmlformats.org/drawingml/2006/main" noGrp="1"/>
          </p:cNvSpPr>
          <p:nvPr/>
        </p:nvSpPr>
        <p:spPr>
          <a:xfrm xmlns:a="http://schemas.openxmlformats.org/drawingml/2006/main">
            <a:off x="5562600" y="3371850"/>
            <a:ext cx="628650" cy="28575"/>
          </a:xfrm>
          <a:prstGeom xmlns:a="http://schemas.openxmlformats.org/drawingml/2006/main" prst="rect">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483F152D-71BF-4B4B-B85A-B7E745D04F3E}"/>
              </a:ext>
            </a:extLst>
          </p:cNvPr>
          <p:cNvSpPr>
            <a:spLocks xmlns:a="http://schemas.openxmlformats.org/drawingml/2006/main" noGrp="1"/>
          </p:cNvSpPr>
          <p:nvPr/>
        </p:nvSpPr>
        <p:spPr>
          <a:xfrm xmlns:a="http://schemas.openxmlformats.org/drawingml/2006/main">
            <a:off x="8286750" y="3371850"/>
            <a:ext cx="628650" cy="28575"/>
          </a:xfrm>
          <a:prstGeom xmlns:a="http://schemas.openxmlformats.org/drawingml/2006/main" prst="rect">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E63D96FF-A904-4404-9480-E9191CD15D57}"/>
              </a:ext>
            </a:extLst>
          </p:cNvPr>
          <p:cNvSpPr>
            <a:spLocks xmlns:a="http://schemas.openxmlformats.org/drawingml/2006/main" noGrp="1"/>
          </p:cNvSpPr>
          <p:nvPr/>
        </p:nvSpPr>
        <p:spPr>
          <a:xfrm xmlns:a="http://schemas.openxmlformats.org/drawingml/2006/main">
            <a:off x="1047750" y="5019675"/>
            <a:ext cx="66675" cy="66675"/>
          </a:xfrm>
          <a:prstGeom xmlns:a="http://schemas.openxmlformats.org/drawingml/2006/main" prst="ellipse">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47C18F97-AB7D-43E2-B059-B6C1B096F8BC}"/>
              </a:ext>
            </a:extLst>
          </p:cNvPr>
          <p:cNvSpPr>
            <a:spLocks xmlns:a="http://schemas.openxmlformats.org/drawingml/2006/main" noGrp="1"/>
          </p:cNvSpPr>
          <p:nvPr/>
        </p:nvSpPr>
        <p:spPr>
          <a:xfrm xmlns:a="http://schemas.openxmlformats.org/drawingml/2006/main">
            <a:off x="1219200" y="4953000"/>
            <a:ext cx="7639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API endpoints: dashboard stats, attack history, event intake, threat intel, AI assistant, reports</a:t>
            </a:r>
          </a:p>
        </p:txBody>
      </p:sp>
      <p:sp>
        <p:nvSpPr>
          <p:cNvPr id="30" name="">
            <a:extLst xmlns:a="http://schemas.openxmlformats.org/drawingml/2006/main">
              <a:ext uri="{FF2B5EF4-FFF2-40B4-BE49-F238E27FC236}">
                <a16:creationId xmlns:a16="http://schemas.microsoft.com/office/drawing/2014/main" id="{8B12E752-D126-485A-B708-7877A299AAC6}"/>
              </a:ext>
            </a:extLst>
          </p:cNvPr>
          <p:cNvSpPr>
            <a:spLocks xmlns:a="http://schemas.openxmlformats.org/drawingml/2006/main" noGrp="1"/>
          </p:cNvSpPr>
          <p:nvPr/>
        </p:nvSpPr>
        <p:spPr>
          <a:xfrm xmlns:a="http://schemas.openxmlformats.org/drawingml/2006/main">
            <a:off x="1047750" y="5476875"/>
            <a:ext cx="66675" cy="66675"/>
          </a:xfrm>
          <a:prstGeom xmlns:a="http://schemas.openxmlformats.org/drawingml/2006/main" prst="ellipse">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959C0634-6DB3-431E-A8CC-AB6DD8B4532C}"/>
              </a:ext>
            </a:extLst>
          </p:cNvPr>
          <p:cNvSpPr>
            <a:spLocks xmlns:a="http://schemas.openxmlformats.org/drawingml/2006/main" noGrp="1"/>
          </p:cNvSpPr>
          <p:nvPr/>
        </p:nvSpPr>
        <p:spPr>
          <a:xfrm xmlns:a="http://schemas.openxmlformats.org/drawingml/2006/main">
            <a:off x="1219200" y="5410200"/>
            <a:ext cx="7639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Cloud demo: GitHub Pages frontend connected to Render-hosted Flask backend</a:t>
            </a:r>
          </a:p>
        </p:txBody>
      </p:sp>
      <p:sp>
        <p:nvSpPr>
          <p:cNvPr id="32" name="">
            <a:extLst xmlns:a="http://schemas.openxmlformats.org/drawingml/2006/main">
              <a:ext uri="{FF2B5EF4-FFF2-40B4-BE49-F238E27FC236}">
                <a16:creationId xmlns:a16="http://schemas.microsoft.com/office/drawing/2014/main" id="{60E5E78F-45EF-471B-89B2-D5B65C88A78F}"/>
              </a:ext>
            </a:extLst>
          </p:cNvPr>
          <p:cNvSpPr>
            <a:spLocks xmlns:a="http://schemas.openxmlformats.org/drawingml/2006/main" noGrp="1"/>
          </p:cNvSpPr>
          <p:nvPr/>
        </p:nvSpPr>
        <p:spPr>
          <a:xfrm xmlns:a="http://schemas.openxmlformats.org/drawingml/2006/main">
            <a:off x="1047750" y="5934075"/>
            <a:ext cx="66675" cy="66675"/>
          </a:xfrm>
          <a:prstGeom xmlns:a="http://schemas.openxmlformats.org/drawingml/2006/main" prst="ellipse">
            <a:avLst/>
          </a:prstGeom>
          <a:solidFill xmlns:a="http://schemas.openxmlformats.org/drawingml/2006/main">
            <a:srgbClr val="2CFF9B"/>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9FD146AC-FF04-46EB-B6E1-BD50414A2290}"/>
              </a:ext>
            </a:extLst>
          </p:cNvPr>
          <p:cNvSpPr>
            <a:spLocks xmlns:a="http://schemas.openxmlformats.org/drawingml/2006/main" noGrp="1"/>
          </p:cNvSpPr>
          <p:nvPr/>
        </p:nvSpPr>
        <p:spPr>
          <a:xfrm xmlns:a="http://schemas.openxmlformats.org/drawingml/2006/main">
            <a:off x="1219200" y="5867400"/>
            <a:ext cx="7639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Backend focus: received attacks, AI analysis, response quality, and evidence storage</a:t>
            </a:r>
          </a:p>
        </p:txBody>
      </p:sp>
      <p:sp>
        <p:nvSpPr>
          <p:cNvPr id="34" name="">
            <a:extLst xmlns:a="http://schemas.openxmlformats.org/drawingml/2006/main">
              <a:ext uri="{FF2B5EF4-FFF2-40B4-BE49-F238E27FC236}">
                <a16:creationId xmlns:a16="http://schemas.microsoft.com/office/drawing/2014/main" id="{CE8F600C-916A-4F84-9630-3252E3241F62}"/>
              </a:ext>
            </a:extLst>
          </p:cNvPr>
          <p:cNvSpPr>
            <a:spLocks xmlns:a="http://schemas.openxmlformats.org/drawingml/2006/main" noGrp="1"/>
          </p:cNvSpPr>
          <p:nvPr/>
        </p:nvSpPr>
        <p:spPr>
          <a:xfrm xmlns:a="http://schemas.openxmlformats.org/drawingml/2006/main">
            <a:off x="685800" y="6400800"/>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A997BA"/>
                </a:solidFill>
                <a:latin typeface="Aptos"/>
                <a:ea typeface="Aptos"/>
                <a:cs typeface="Aptos"/>
              </a:defRPr>
            </a:pPr>
            <a:r>
              <a:rPr sz="750" b="0">
                <a:solidFill>
                  <a:srgbClr val="A997BA"/>
                </a:solidFill>
                <a:latin typeface="Aptos"/>
                <a:ea typeface="Aptos"/>
                <a:cs typeface="Aptos"/>
              </a:rPr>
              <a:t>EvoGuard Enterprise - Agentic AI Cyber Defense Platform</a:t>
            </a:r>
          </a:p>
        </p:txBody>
      </p:sp>
      <p:sp>
        <p:nvSpPr>
          <p:cNvPr id="35" name="">
            <a:extLst xmlns:a="http://schemas.openxmlformats.org/drawingml/2006/main">
              <a:ext uri="{FF2B5EF4-FFF2-40B4-BE49-F238E27FC236}">
                <a16:creationId xmlns:a16="http://schemas.microsoft.com/office/drawing/2014/main" id="{95054293-B3E6-4CB6-8CEE-7B72C20018B6}"/>
              </a:ext>
            </a:extLst>
          </p:cNvPr>
          <p:cNvSpPr>
            <a:spLocks xmlns:a="http://schemas.openxmlformats.org/drawingml/2006/main" noGrp="1"/>
          </p:cNvSpPr>
          <p:nvPr/>
        </p:nvSpPr>
        <p:spPr>
          <a:xfrm xmlns:a="http://schemas.openxmlformats.org/drawingml/2006/main">
            <a:off x="11125200" y="636270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0FFE0"/>
                </a:solidFill>
                <a:latin typeface="Aptos"/>
                <a:ea typeface="Aptos"/>
                <a:cs typeface="Aptos"/>
              </a:defRPr>
            </a:pPr>
            <a:r>
              <a:rPr sz="975" b="1">
                <a:solidFill>
                  <a:srgbClr val="00FFE0"/>
                </a:solidFill>
                <a:latin typeface="Aptos"/>
                <a:ea typeface="Aptos"/>
                <a:cs typeface="Aptos"/>
              </a:rPr>
              <a:t>03</a:t>
            </a:r>
          </a:p>
        </p:txBody>
      </p:sp>
    </p:spTree>
    <p:extLst>
      <p:ext uri="{BB962C8B-B14F-4D97-AF65-F5344CB8AC3E}">
        <p14:creationId xmlns:p14="http://schemas.microsoft.com/office/powerpoint/2010/main" val="32224977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51730F0-109C-4009-96EB-79D031EAA17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0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EE09FCB-FD0C-49EB-800F-9BB810B6F784}"/>
              </a:ext>
            </a:extLst>
          </p:cNvPr>
          <p:cNvSpPr>
            <a:spLocks xmlns:a="http://schemas.openxmlformats.org/drawingml/2006/main" noGrp="1"/>
          </p:cNvSpPr>
          <p:nvPr/>
        </p:nvSpPr>
        <p:spPr>
          <a:xfrm xmlns:a="http://schemas.openxmlformats.org/drawingml/2006/main">
            <a:off x="-1190625" y="-1333500"/>
            <a:ext cx="4095750" cy="4095750"/>
          </a:xfrm>
          <a:prstGeom xmlns:a="http://schemas.openxmlformats.org/drawingml/2006/main" prst="ellipse">
            <a:avLst/>
          </a:prstGeom>
          <a:solidFill xmlns:a="http://schemas.openxmlformats.org/drawingml/2006/main">
            <a:srgbClr val="32004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DBAAF54-7411-4980-979C-5FF10FB8561C}"/>
              </a:ext>
            </a:extLst>
          </p:cNvPr>
          <p:cNvSpPr>
            <a:spLocks xmlns:a="http://schemas.openxmlformats.org/drawingml/2006/main" noGrp="1"/>
          </p:cNvSpPr>
          <p:nvPr/>
        </p:nvSpPr>
        <p:spPr>
          <a:xfrm xmlns:a="http://schemas.openxmlformats.org/drawingml/2006/main">
            <a:off x="9048750" y="-1143000"/>
            <a:ext cx="4095750" cy="4095750"/>
          </a:xfrm>
          <a:prstGeom xmlns:a="http://schemas.openxmlformats.org/drawingml/2006/main" prst="ellipse">
            <a:avLst/>
          </a:prstGeom>
          <a:solidFill xmlns:a="http://schemas.openxmlformats.org/drawingml/2006/main">
            <a:srgbClr val="160A34"/>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4711A90-7E13-4E8F-9E55-AEE89763F18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A038E13F-D777-48C2-BEA7-0F0390557705}"/>
              </a:ext>
            </a:extLst>
          </p:cNvPr>
          <p:cNvSpPr>
            <a:spLocks xmlns:a="http://schemas.openxmlformats.org/drawingml/2006/main" noGrp="1"/>
          </p:cNvSpPr>
          <p:nvPr/>
        </p:nvSpPr>
        <p:spPr>
          <a:xfrm xmlns:a="http://schemas.openxmlformats.org/drawingml/2006/main">
            <a:off x="0" y="76200"/>
            <a:ext cx="12192000" cy="28575"/>
          </a:xfrm>
          <a:prstGeom xmlns:a="http://schemas.openxmlformats.org/drawingml/2006/main" prst="rect">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55BE9748-60FA-4F22-AAA2-3A9A434425FD}"/>
              </a:ext>
            </a:extLst>
          </p:cNvPr>
          <p:cNvSpPr>
            <a:spLocks xmlns:a="http://schemas.openxmlformats.org/drawingml/2006/main" noGrp="1"/>
          </p:cNvSpPr>
          <p:nvPr/>
        </p:nvSpPr>
        <p:spPr>
          <a:xfrm xmlns:a="http://schemas.openxmlformats.org/drawingml/2006/main">
            <a:off x="685800" y="323850"/>
            <a:ext cx="400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00FFE0"/>
                </a:solidFill>
                <a:latin typeface="Aptos"/>
                <a:ea typeface="Aptos"/>
                <a:cs typeface="Aptos"/>
              </a:defRPr>
            </a:pPr>
            <a:r>
              <a:rPr sz="825" b="1">
                <a:solidFill>
                  <a:srgbClr val="00FFE0"/>
                </a:solidFill>
                <a:latin typeface="Aptos"/>
                <a:ea typeface="Aptos"/>
                <a:cs typeface="Aptos"/>
              </a:rPr>
              <a:t>DASHBOARD SCREENSHOT</a:t>
            </a:r>
          </a:p>
        </p:txBody>
      </p:sp>
      <p:sp>
        <p:nvSpPr>
          <p:cNvPr id="7" name="">
            <a:extLst xmlns:a="http://schemas.openxmlformats.org/drawingml/2006/main">
              <a:ext uri="{FF2B5EF4-FFF2-40B4-BE49-F238E27FC236}">
                <a16:creationId xmlns:a16="http://schemas.microsoft.com/office/drawing/2014/main" id="{27F657CA-A234-4198-87CD-05A3AA8DEE68}"/>
              </a:ext>
            </a:extLst>
          </p:cNvPr>
          <p:cNvSpPr>
            <a:spLocks xmlns:a="http://schemas.openxmlformats.org/drawingml/2006/main" noGrp="1"/>
          </p:cNvSpPr>
          <p:nvPr/>
        </p:nvSpPr>
        <p:spPr>
          <a:xfrm xmlns:a="http://schemas.openxmlformats.org/drawingml/2006/main">
            <a:off x="685800" y="66675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F2BD6"/>
                </a:solidFill>
                <a:latin typeface="Aptos"/>
                <a:ea typeface="Aptos"/>
                <a:cs typeface="Aptos"/>
              </a:defRPr>
            </a:pPr>
            <a:r>
              <a:rPr sz="825" b="1">
                <a:solidFill>
                  <a:srgbClr val="FF2BD6"/>
                </a:solidFill>
                <a:latin typeface="Aptos"/>
                <a:ea typeface="Aptos"/>
                <a:cs typeface="Aptos"/>
              </a:rPr>
              <a:t>DASHBOARD SCREENSHOT</a:t>
            </a:r>
          </a:p>
        </p:txBody>
      </p:sp>
      <p:sp>
        <p:nvSpPr>
          <p:cNvPr id="8" name="">
            <a:extLst xmlns:a="http://schemas.openxmlformats.org/drawingml/2006/main">
              <a:ext uri="{FF2B5EF4-FFF2-40B4-BE49-F238E27FC236}">
                <a16:creationId xmlns:a16="http://schemas.microsoft.com/office/drawing/2014/main" id="{0C022618-0BCF-4276-9611-B13D11612428}"/>
              </a:ext>
            </a:extLst>
          </p:cNvPr>
          <p:cNvSpPr>
            <a:spLocks xmlns:a="http://schemas.openxmlformats.org/drawingml/2006/main" noGrp="1"/>
          </p:cNvSpPr>
          <p:nvPr/>
        </p:nvSpPr>
        <p:spPr>
          <a:xfrm xmlns:a="http://schemas.openxmlformats.org/drawingml/2006/main">
            <a:off x="685800" y="933450"/>
            <a:ext cx="88582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7ECFF"/>
                </a:solidFill>
                <a:latin typeface="Aptos Display"/>
                <a:ea typeface="Aptos Display"/>
                <a:cs typeface="Aptos Display"/>
              </a:defRPr>
            </a:pPr>
            <a:r>
              <a:rPr sz="2550" b="1">
                <a:solidFill>
                  <a:srgbClr val="F7ECFF"/>
                </a:solidFill>
                <a:latin typeface="Aptos Display"/>
                <a:ea typeface="Aptos Display"/>
                <a:cs typeface="Aptos Display"/>
              </a:rPr>
              <a:t>The live dashboard presents the real SOC command surface.</a:t>
            </a:r>
          </a:p>
        </p:txBody>
      </p:sp>
      <p:sp>
        <p:nvSpPr>
          <p:cNvPr id="9" name="">
            <a:extLst xmlns:a="http://schemas.openxmlformats.org/drawingml/2006/main">
              <a:ext uri="{FF2B5EF4-FFF2-40B4-BE49-F238E27FC236}">
                <a16:creationId xmlns:a16="http://schemas.microsoft.com/office/drawing/2014/main" id="{7CED42D1-9DFE-426D-8B22-A3DB84AC29F9}"/>
              </a:ext>
            </a:extLst>
          </p:cNvPr>
          <p:cNvSpPr>
            <a:spLocks xmlns:a="http://schemas.openxmlformats.org/drawingml/2006/main" noGrp="1"/>
          </p:cNvSpPr>
          <p:nvPr/>
        </p:nvSpPr>
        <p:spPr>
          <a:xfrm xmlns:a="http://schemas.openxmlformats.org/drawingml/2006/main">
            <a:off x="704850" y="1752600"/>
            <a:ext cx="8667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997BA"/>
                </a:solidFill>
                <a:latin typeface="Aptos"/>
                <a:ea typeface="Aptos"/>
                <a:cs typeface="Aptos"/>
              </a:defRPr>
            </a:pPr>
            <a:r>
              <a:rPr sz="1050" b="0">
                <a:solidFill>
                  <a:srgbClr val="A997BA"/>
                </a:solidFill>
                <a:latin typeface="Aptos"/>
                <a:ea typeface="Aptos"/>
                <a:cs typeface="Aptos"/>
              </a:rPr>
              <a:t>This is the instructor's first visual proof: telemetry, AI score, backend status, charts, map, and SOC activity in one interface.</a:t>
            </a:r>
          </a:p>
        </p:txBody>
      </p:sp>
      <p:sp>
        <p:nvSpPr>
          <p:cNvPr id="10" name="">
            <a:extLst xmlns:a="http://schemas.openxmlformats.org/drawingml/2006/main">
              <a:ext uri="{FF2B5EF4-FFF2-40B4-BE49-F238E27FC236}">
                <a16:creationId xmlns:a16="http://schemas.microsoft.com/office/drawing/2014/main" id="{4E2A6566-B4C6-405F-B2C3-13549C6F32D8}"/>
              </a:ext>
            </a:extLst>
          </p:cNvPr>
          <p:cNvSpPr>
            <a:spLocks xmlns:a="http://schemas.openxmlformats.org/drawingml/2006/main" noGrp="1"/>
          </p:cNvSpPr>
          <p:nvPr/>
        </p:nvSpPr>
        <p:spPr>
          <a:xfrm xmlns:a="http://schemas.openxmlformats.org/drawingml/2006/main">
            <a:off x="685800" y="2438400"/>
            <a:ext cx="7429500" cy="4171950"/>
          </a:xfrm>
          <a:prstGeom xmlns:a="http://schemas.openxmlformats.org/drawingml/2006/main" prst="rect">
            <a:avLst/>
          </a:prstGeom>
          <a:solidFill xmlns:a="http://schemas.openxmlformats.org/drawingml/2006/main">
            <a:srgbClr val="0B0014"/>
          </a:solidFill>
          <a:ln xmlns:a="http://schemas.openxmlformats.org/drawingml/2006/main" w="9525">
            <a:solidFill>
              <a:srgbClr val="00FFE0"/>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9a896ac5a204298"/>
          <a:stretch xmlns:a="http://schemas.openxmlformats.org/drawingml/2006/main"/>
        </p:blipFill>
        <p:spPr>
          <a:xfrm xmlns:a="http://schemas.openxmlformats.org/drawingml/2006/main">
            <a:off x="869487" y="2514600"/>
            <a:ext cx="7062126" cy="40195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A2E082B-52B7-497F-8BF2-888511316919}"/>
              </a:ext>
            </a:extLst>
          </p:cNvPr>
          <p:cNvSpPr>
            <a:spLocks xmlns:a="http://schemas.openxmlformats.org/drawingml/2006/main" noGrp="1"/>
          </p:cNvSpPr>
          <p:nvPr/>
        </p:nvSpPr>
        <p:spPr>
          <a:xfrm xmlns:a="http://schemas.openxmlformats.org/drawingml/2006/main">
            <a:off x="8496300" y="2457450"/>
            <a:ext cx="2857500" cy="3124200"/>
          </a:xfrm>
          <a:prstGeom xmlns:a="http://schemas.openxmlformats.org/drawingml/2006/main" prst="rect">
            <a:avLst/>
          </a:prstGeom>
          <a:solidFill xmlns:a="http://schemas.openxmlformats.org/drawingml/2006/main">
            <a:srgbClr val="12001E"/>
          </a:solidFill>
          <a:ln xmlns:a="http://schemas.openxmlformats.org/drawingml/2006/main" w="9525">
            <a:solidFill>
              <a:srgbClr val="342043"/>
            </a:solidFill>
            <a:prstDash val="solid"/>
          </a:ln>
        </p:spPr>
      </p:sp>
      <p:sp>
        <p:nvSpPr>
          <p:cNvPr id="13" name="">
            <a:extLst xmlns:a="http://schemas.openxmlformats.org/drawingml/2006/main">
              <a:ext uri="{FF2B5EF4-FFF2-40B4-BE49-F238E27FC236}">
                <a16:creationId xmlns:a16="http://schemas.microsoft.com/office/drawing/2014/main" id="{239F4012-C41A-45D2-BCF5-63E9F5E98772}"/>
              </a:ext>
            </a:extLst>
          </p:cNvPr>
          <p:cNvSpPr>
            <a:spLocks xmlns:a="http://schemas.openxmlformats.org/drawingml/2006/main" noGrp="1"/>
          </p:cNvSpPr>
          <p:nvPr/>
        </p:nvSpPr>
        <p:spPr>
          <a:xfrm xmlns:a="http://schemas.openxmlformats.org/drawingml/2006/main">
            <a:off x="8496300" y="2457450"/>
            <a:ext cx="38100" cy="3124200"/>
          </a:xfrm>
          <a:prstGeom xmlns:a="http://schemas.openxmlformats.org/drawingml/2006/main" prst="rect">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89992094-B730-4873-A8C6-2B6F6F4AA996}"/>
              </a:ext>
            </a:extLst>
          </p:cNvPr>
          <p:cNvSpPr>
            <a:spLocks xmlns:a="http://schemas.openxmlformats.org/drawingml/2006/main" noGrp="1"/>
          </p:cNvSpPr>
          <p:nvPr/>
        </p:nvSpPr>
        <p:spPr>
          <a:xfrm xmlns:a="http://schemas.openxmlformats.org/drawingml/2006/main">
            <a:off x="8782050" y="2743200"/>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0FFE0"/>
                </a:solidFill>
                <a:latin typeface="Aptos"/>
                <a:ea typeface="Aptos"/>
                <a:cs typeface="Aptos"/>
              </a:defRPr>
            </a:pPr>
            <a:r>
              <a:rPr sz="1350" b="1">
                <a:solidFill>
                  <a:srgbClr val="00FFE0"/>
                </a:solidFill>
                <a:latin typeface="Aptos"/>
                <a:ea typeface="Aptos"/>
                <a:cs typeface="Aptos"/>
              </a:rPr>
              <a:t>What to point out</a:t>
            </a:r>
          </a:p>
        </p:txBody>
      </p:sp>
      <p:sp>
        <p:nvSpPr>
          <p:cNvPr id="15" name="">
            <a:extLst xmlns:a="http://schemas.openxmlformats.org/drawingml/2006/main">
              <a:ext uri="{FF2B5EF4-FFF2-40B4-BE49-F238E27FC236}">
                <a16:creationId xmlns:a16="http://schemas.microsoft.com/office/drawing/2014/main" id="{988A8A69-36F0-40EE-BC1A-B1B31068C205}"/>
              </a:ext>
            </a:extLst>
          </p:cNvPr>
          <p:cNvSpPr>
            <a:spLocks xmlns:a="http://schemas.openxmlformats.org/drawingml/2006/main" noGrp="1"/>
          </p:cNvSpPr>
          <p:nvPr/>
        </p:nvSpPr>
        <p:spPr>
          <a:xfrm xmlns:a="http://schemas.openxmlformats.org/drawingml/2006/main">
            <a:off x="8782050" y="3228975"/>
            <a:ext cx="66675" cy="66675"/>
          </a:xfrm>
          <a:prstGeom xmlns:a="http://schemas.openxmlformats.org/drawingml/2006/main" prst="ellipse">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C51C8EA8-177F-4551-93BA-2365D77FC490}"/>
              </a:ext>
            </a:extLst>
          </p:cNvPr>
          <p:cNvSpPr>
            <a:spLocks xmlns:a="http://schemas.openxmlformats.org/drawingml/2006/main" noGrp="1"/>
          </p:cNvSpPr>
          <p:nvPr/>
        </p:nvSpPr>
        <p:spPr>
          <a:xfrm xmlns:a="http://schemas.openxmlformats.org/drawingml/2006/main">
            <a:off x="8953500" y="3162300"/>
            <a:ext cx="201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Backend-connected status and statistics</a:t>
            </a:r>
          </a:p>
        </p:txBody>
      </p:sp>
      <p:sp>
        <p:nvSpPr>
          <p:cNvPr id="17" name="">
            <a:extLst xmlns:a="http://schemas.openxmlformats.org/drawingml/2006/main">
              <a:ext uri="{FF2B5EF4-FFF2-40B4-BE49-F238E27FC236}">
                <a16:creationId xmlns:a16="http://schemas.microsoft.com/office/drawing/2014/main" id="{5D0066B9-5B99-4539-928C-2FAB83791155}"/>
              </a:ext>
            </a:extLst>
          </p:cNvPr>
          <p:cNvSpPr>
            <a:spLocks xmlns:a="http://schemas.openxmlformats.org/drawingml/2006/main" noGrp="1"/>
          </p:cNvSpPr>
          <p:nvPr/>
        </p:nvSpPr>
        <p:spPr>
          <a:xfrm xmlns:a="http://schemas.openxmlformats.org/drawingml/2006/main">
            <a:off x="8782050" y="3743325"/>
            <a:ext cx="66675" cy="66675"/>
          </a:xfrm>
          <a:prstGeom xmlns:a="http://schemas.openxmlformats.org/drawingml/2006/main" prst="ellipse">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887123F6-A7AF-4ACE-A08B-3FC6E4467D79}"/>
              </a:ext>
            </a:extLst>
          </p:cNvPr>
          <p:cNvSpPr>
            <a:spLocks xmlns:a="http://schemas.openxmlformats.org/drawingml/2006/main" noGrp="1"/>
          </p:cNvSpPr>
          <p:nvPr/>
        </p:nvSpPr>
        <p:spPr>
          <a:xfrm xmlns:a="http://schemas.openxmlformats.org/drawingml/2006/main">
            <a:off x="8953500" y="3676650"/>
            <a:ext cx="201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Device telemetry and network counters</a:t>
            </a:r>
          </a:p>
        </p:txBody>
      </p:sp>
      <p:sp>
        <p:nvSpPr>
          <p:cNvPr id="19" name="">
            <a:extLst xmlns:a="http://schemas.openxmlformats.org/drawingml/2006/main">
              <a:ext uri="{FF2B5EF4-FFF2-40B4-BE49-F238E27FC236}">
                <a16:creationId xmlns:a16="http://schemas.microsoft.com/office/drawing/2014/main" id="{3AAD9AF3-132A-47FE-8D0E-F36F5334C072}"/>
              </a:ext>
            </a:extLst>
          </p:cNvPr>
          <p:cNvSpPr>
            <a:spLocks xmlns:a="http://schemas.openxmlformats.org/drawingml/2006/main" noGrp="1"/>
          </p:cNvSpPr>
          <p:nvPr/>
        </p:nvSpPr>
        <p:spPr>
          <a:xfrm xmlns:a="http://schemas.openxmlformats.org/drawingml/2006/main">
            <a:off x="8782050" y="4257675"/>
            <a:ext cx="66675" cy="66675"/>
          </a:xfrm>
          <a:prstGeom xmlns:a="http://schemas.openxmlformats.org/drawingml/2006/main" prst="ellipse">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922DB947-D889-4F1E-8C7B-3F176EFF3689}"/>
              </a:ext>
            </a:extLst>
          </p:cNvPr>
          <p:cNvSpPr>
            <a:spLocks xmlns:a="http://schemas.openxmlformats.org/drawingml/2006/main" noGrp="1"/>
          </p:cNvSpPr>
          <p:nvPr/>
        </p:nvSpPr>
        <p:spPr>
          <a:xfrm xmlns:a="http://schemas.openxmlformats.org/drawingml/2006/main">
            <a:off x="8953500" y="4191000"/>
            <a:ext cx="201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AI Defense Score and SOC event panels</a:t>
            </a:r>
          </a:p>
        </p:txBody>
      </p:sp>
      <p:sp>
        <p:nvSpPr>
          <p:cNvPr id="21" name="">
            <a:extLst xmlns:a="http://schemas.openxmlformats.org/drawingml/2006/main">
              <a:ext uri="{FF2B5EF4-FFF2-40B4-BE49-F238E27FC236}">
                <a16:creationId xmlns:a16="http://schemas.microsoft.com/office/drawing/2014/main" id="{D1A9DFF3-F7F4-4A31-A12C-FE68B56E8FC2}"/>
              </a:ext>
            </a:extLst>
          </p:cNvPr>
          <p:cNvSpPr>
            <a:spLocks xmlns:a="http://schemas.openxmlformats.org/drawingml/2006/main" noGrp="1"/>
          </p:cNvSpPr>
          <p:nvPr/>
        </p:nvSpPr>
        <p:spPr>
          <a:xfrm xmlns:a="http://schemas.openxmlformats.org/drawingml/2006/main">
            <a:off x="8782050" y="4772025"/>
            <a:ext cx="66675" cy="66675"/>
          </a:xfrm>
          <a:prstGeom xmlns:a="http://schemas.openxmlformats.org/drawingml/2006/main" prst="ellipse">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30727AC7-3C9A-420D-9BC2-A4CE3149ECEC}"/>
              </a:ext>
            </a:extLst>
          </p:cNvPr>
          <p:cNvSpPr>
            <a:spLocks xmlns:a="http://schemas.openxmlformats.org/drawingml/2006/main" noGrp="1"/>
          </p:cNvSpPr>
          <p:nvPr/>
        </p:nvSpPr>
        <p:spPr>
          <a:xfrm xmlns:a="http://schemas.openxmlformats.org/drawingml/2006/main">
            <a:off x="8953500" y="4705350"/>
            <a:ext cx="201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No simulation controls on the main dashboard</a:t>
            </a:r>
          </a:p>
        </p:txBody>
      </p:sp>
      <p:sp>
        <p:nvSpPr>
          <p:cNvPr id="23" name="">
            <a:extLst xmlns:a="http://schemas.openxmlformats.org/drawingml/2006/main">
              <a:ext uri="{FF2B5EF4-FFF2-40B4-BE49-F238E27FC236}">
                <a16:creationId xmlns:a16="http://schemas.microsoft.com/office/drawing/2014/main" id="{CB84AC75-A8DE-4AD6-9390-A9CEE0539D6C}"/>
              </a:ext>
            </a:extLst>
          </p:cNvPr>
          <p:cNvSpPr>
            <a:spLocks xmlns:a="http://schemas.openxmlformats.org/drawingml/2006/main" noGrp="1"/>
          </p:cNvSpPr>
          <p:nvPr/>
        </p:nvSpPr>
        <p:spPr>
          <a:xfrm xmlns:a="http://schemas.openxmlformats.org/drawingml/2006/main">
            <a:off x="685800" y="6400800"/>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A997BA"/>
                </a:solidFill>
                <a:latin typeface="Aptos"/>
                <a:ea typeface="Aptos"/>
                <a:cs typeface="Aptos"/>
              </a:defRPr>
            </a:pPr>
            <a:r>
              <a:rPr sz="750" b="0">
                <a:solidFill>
                  <a:srgbClr val="A997BA"/>
                </a:solidFill>
                <a:latin typeface="Aptos"/>
                <a:ea typeface="Aptos"/>
                <a:cs typeface="Aptos"/>
              </a:rPr>
              <a:t>EvoGuard Enterprise - Agentic AI Cyber Defense Platform</a:t>
            </a:r>
          </a:p>
        </p:txBody>
      </p:sp>
      <p:sp>
        <p:nvSpPr>
          <p:cNvPr id="24" name="">
            <a:extLst xmlns:a="http://schemas.openxmlformats.org/drawingml/2006/main">
              <a:ext uri="{FF2B5EF4-FFF2-40B4-BE49-F238E27FC236}">
                <a16:creationId xmlns:a16="http://schemas.microsoft.com/office/drawing/2014/main" id="{24E7DCF3-0508-4144-9389-2F93CCB05D65}"/>
              </a:ext>
            </a:extLst>
          </p:cNvPr>
          <p:cNvSpPr>
            <a:spLocks xmlns:a="http://schemas.openxmlformats.org/drawingml/2006/main" noGrp="1"/>
          </p:cNvSpPr>
          <p:nvPr/>
        </p:nvSpPr>
        <p:spPr>
          <a:xfrm xmlns:a="http://schemas.openxmlformats.org/drawingml/2006/main">
            <a:off x="11125200" y="636270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0FFE0"/>
                </a:solidFill>
                <a:latin typeface="Aptos"/>
                <a:ea typeface="Aptos"/>
                <a:cs typeface="Aptos"/>
              </a:defRPr>
            </a:pPr>
            <a:r>
              <a:rPr sz="975" b="1">
                <a:solidFill>
                  <a:srgbClr val="00FFE0"/>
                </a:solidFill>
                <a:latin typeface="Aptos"/>
                <a:ea typeface="Aptos"/>
                <a:cs typeface="Aptos"/>
              </a:rPr>
              <a:t>04</a:t>
            </a:r>
          </a:p>
        </p:txBody>
      </p:sp>
    </p:spTree>
    <p:extLst>
      <p:ext uri="{BB962C8B-B14F-4D97-AF65-F5344CB8AC3E}">
        <p14:creationId xmlns:p14="http://schemas.microsoft.com/office/powerpoint/2010/main" val="49869850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7085A2C-DC77-4618-92D9-EB15BD85A8B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0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A5B1A38-80A6-4DAF-9ACD-FE095D6F8944}"/>
              </a:ext>
            </a:extLst>
          </p:cNvPr>
          <p:cNvSpPr>
            <a:spLocks xmlns:a="http://schemas.openxmlformats.org/drawingml/2006/main" noGrp="1"/>
          </p:cNvSpPr>
          <p:nvPr/>
        </p:nvSpPr>
        <p:spPr>
          <a:xfrm xmlns:a="http://schemas.openxmlformats.org/drawingml/2006/main">
            <a:off x="-1190625" y="-1333500"/>
            <a:ext cx="4095750" cy="4095750"/>
          </a:xfrm>
          <a:prstGeom xmlns:a="http://schemas.openxmlformats.org/drawingml/2006/main" prst="ellipse">
            <a:avLst/>
          </a:prstGeom>
          <a:solidFill xmlns:a="http://schemas.openxmlformats.org/drawingml/2006/main">
            <a:srgbClr val="32004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A89B88F-BC5D-4BF5-834A-6961358319EB}"/>
              </a:ext>
            </a:extLst>
          </p:cNvPr>
          <p:cNvSpPr>
            <a:spLocks xmlns:a="http://schemas.openxmlformats.org/drawingml/2006/main" noGrp="1"/>
          </p:cNvSpPr>
          <p:nvPr/>
        </p:nvSpPr>
        <p:spPr>
          <a:xfrm xmlns:a="http://schemas.openxmlformats.org/drawingml/2006/main">
            <a:off x="9048750" y="-1143000"/>
            <a:ext cx="4095750" cy="4095750"/>
          </a:xfrm>
          <a:prstGeom xmlns:a="http://schemas.openxmlformats.org/drawingml/2006/main" prst="ellipse">
            <a:avLst/>
          </a:prstGeom>
          <a:solidFill xmlns:a="http://schemas.openxmlformats.org/drawingml/2006/main">
            <a:srgbClr val="160A34"/>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71285785-28CA-477A-8967-5EB476E50EC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32C0B52B-7B9D-4899-9C8F-D32FC934DC76}"/>
              </a:ext>
            </a:extLst>
          </p:cNvPr>
          <p:cNvSpPr>
            <a:spLocks xmlns:a="http://schemas.openxmlformats.org/drawingml/2006/main" noGrp="1"/>
          </p:cNvSpPr>
          <p:nvPr/>
        </p:nvSpPr>
        <p:spPr>
          <a:xfrm xmlns:a="http://schemas.openxmlformats.org/drawingml/2006/main">
            <a:off x="0" y="76200"/>
            <a:ext cx="12192000" cy="28575"/>
          </a:xfrm>
          <a:prstGeom xmlns:a="http://schemas.openxmlformats.org/drawingml/2006/main" prst="rect">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42484CAC-86B3-48FC-86CD-B03C3F184229}"/>
              </a:ext>
            </a:extLst>
          </p:cNvPr>
          <p:cNvSpPr>
            <a:spLocks xmlns:a="http://schemas.openxmlformats.org/drawingml/2006/main" noGrp="1"/>
          </p:cNvSpPr>
          <p:nvPr/>
        </p:nvSpPr>
        <p:spPr>
          <a:xfrm xmlns:a="http://schemas.openxmlformats.org/drawingml/2006/main">
            <a:off x="685800" y="323850"/>
            <a:ext cx="400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00FFE0"/>
                </a:solidFill>
                <a:latin typeface="Aptos"/>
                <a:ea typeface="Aptos"/>
                <a:cs typeface="Aptos"/>
              </a:defRPr>
            </a:pPr>
            <a:r>
              <a:rPr sz="825" b="1">
                <a:solidFill>
                  <a:srgbClr val="00FFE0"/>
                </a:solidFill>
                <a:latin typeface="Aptos"/>
                <a:ea typeface="Aptos"/>
                <a:cs typeface="Aptos"/>
              </a:rPr>
              <a:t>SIMULATION SCREENSHOT</a:t>
            </a:r>
          </a:p>
        </p:txBody>
      </p:sp>
      <p:sp>
        <p:nvSpPr>
          <p:cNvPr id="7" name="">
            <a:extLst xmlns:a="http://schemas.openxmlformats.org/drawingml/2006/main">
              <a:ext uri="{FF2B5EF4-FFF2-40B4-BE49-F238E27FC236}">
                <a16:creationId xmlns:a16="http://schemas.microsoft.com/office/drawing/2014/main" id="{D50FFB90-04AF-43C1-8697-E4CF10B063EC}"/>
              </a:ext>
            </a:extLst>
          </p:cNvPr>
          <p:cNvSpPr>
            <a:spLocks xmlns:a="http://schemas.openxmlformats.org/drawingml/2006/main" noGrp="1"/>
          </p:cNvSpPr>
          <p:nvPr/>
        </p:nvSpPr>
        <p:spPr>
          <a:xfrm xmlns:a="http://schemas.openxmlformats.org/drawingml/2006/main">
            <a:off x="685800" y="66675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F2BD6"/>
                </a:solidFill>
                <a:latin typeface="Aptos"/>
                <a:ea typeface="Aptos"/>
                <a:cs typeface="Aptos"/>
              </a:defRPr>
            </a:pPr>
            <a:r>
              <a:rPr sz="825" b="1">
                <a:solidFill>
                  <a:srgbClr val="FF2BD6"/>
                </a:solidFill>
                <a:latin typeface="Aptos"/>
                <a:ea typeface="Aptos"/>
                <a:cs typeface="Aptos"/>
              </a:rPr>
              <a:t>SIMULATION SCREENSHOT</a:t>
            </a:r>
          </a:p>
        </p:txBody>
      </p:sp>
      <p:sp>
        <p:nvSpPr>
          <p:cNvPr id="8" name="">
            <a:extLst xmlns:a="http://schemas.openxmlformats.org/drawingml/2006/main">
              <a:ext uri="{FF2B5EF4-FFF2-40B4-BE49-F238E27FC236}">
                <a16:creationId xmlns:a16="http://schemas.microsoft.com/office/drawing/2014/main" id="{AF79055E-0164-4111-A78A-6D2EB6BBC0F7}"/>
              </a:ext>
            </a:extLst>
          </p:cNvPr>
          <p:cNvSpPr>
            <a:spLocks xmlns:a="http://schemas.openxmlformats.org/drawingml/2006/main" noGrp="1"/>
          </p:cNvSpPr>
          <p:nvPr/>
        </p:nvSpPr>
        <p:spPr>
          <a:xfrm xmlns:a="http://schemas.openxmlformats.org/drawingml/2006/main">
            <a:off x="685800" y="933450"/>
            <a:ext cx="88582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7ECFF"/>
                </a:solidFill>
                <a:latin typeface="Aptos Display"/>
                <a:ea typeface="Aptos Display"/>
                <a:cs typeface="Aptos Display"/>
              </a:defRPr>
            </a:pPr>
            <a:r>
              <a:rPr sz="2550" b="1">
                <a:solidFill>
                  <a:srgbClr val="F7ECFF"/>
                </a:solidFill>
                <a:latin typeface="Aptos Display"/>
                <a:ea typeface="Aptos Display"/>
                <a:cs typeface="Aptos Display"/>
              </a:rPr>
              <a:t>The Simulation Center is the controlled testing environment.</a:t>
            </a:r>
          </a:p>
        </p:txBody>
      </p:sp>
      <p:sp>
        <p:nvSpPr>
          <p:cNvPr id="9" name="">
            <a:extLst xmlns:a="http://schemas.openxmlformats.org/drawingml/2006/main">
              <a:ext uri="{FF2B5EF4-FFF2-40B4-BE49-F238E27FC236}">
                <a16:creationId xmlns:a16="http://schemas.microsoft.com/office/drawing/2014/main" id="{4807E8BB-9254-4BA4-B450-32E5A624B30F}"/>
              </a:ext>
            </a:extLst>
          </p:cNvPr>
          <p:cNvSpPr>
            <a:spLocks xmlns:a="http://schemas.openxmlformats.org/drawingml/2006/main" noGrp="1"/>
          </p:cNvSpPr>
          <p:nvPr/>
        </p:nvSpPr>
        <p:spPr>
          <a:xfrm xmlns:a="http://schemas.openxmlformats.org/drawingml/2006/main">
            <a:off x="704850" y="1752600"/>
            <a:ext cx="8667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997BA"/>
                </a:solidFill>
                <a:latin typeface="Aptos"/>
                <a:ea typeface="Aptos"/>
                <a:cs typeface="Aptos"/>
              </a:defRPr>
            </a:pPr>
            <a:r>
              <a:rPr sz="1050" b="0">
                <a:solidFill>
                  <a:srgbClr val="A997BA"/>
                </a:solidFill>
                <a:latin typeface="Aptos"/>
                <a:ea typeface="Aptos"/>
                <a:cs typeface="Aptos"/>
              </a:rPr>
              <a:t>Attack buttons live here so the main dashboard can feel like a real SOC view while testing remains separate and explainable.</a:t>
            </a:r>
          </a:p>
        </p:txBody>
      </p:sp>
      <p:sp>
        <p:nvSpPr>
          <p:cNvPr id="10" name="">
            <a:extLst xmlns:a="http://schemas.openxmlformats.org/drawingml/2006/main">
              <a:ext uri="{FF2B5EF4-FFF2-40B4-BE49-F238E27FC236}">
                <a16:creationId xmlns:a16="http://schemas.microsoft.com/office/drawing/2014/main" id="{632DEA9E-A131-4A87-9532-3A5AD33D7009}"/>
              </a:ext>
            </a:extLst>
          </p:cNvPr>
          <p:cNvSpPr>
            <a:spLocks xmlns:a="http://schemas.openxmlformats.org/drawingml/2006/main" noGrp="1"/>
          </p:cNvSpPr>
          <p:nvPr/>
        </p:nvSpPr>
        <p:spPr>
          <a:xfrm xmlns:a="http://schemas.openxmlformats.org/drawingml/2006/main">
            <a:off x="685800" y="2438400"/>
            <a:ext cx="7429500" cy="4171950"/>
          </a:xfrm>
          <a:prstGeom xmlns:a="http://schemas.openxmlformats.org/drawingml/2006/main" prst="rect">
            <a:avLst/>
          </a:prstGeom>
          <a:solidFill xmlns:a="http://schemas.openxmlformats.org/drawingml/2006/main">
            <a:srgbClr val="0B0014"/>
          </a:solidFill>
          <a:ln xmlns:a="http://schemas.openxmlformats.org/drawingml/2006/main" w="9525">
            <a:solidFill>
              <a:srgbClr val="FF2BD6"/>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bedfe5a451f4301"/>
          <a:stretch xmlns:a="http://schemas.openxmlformats.org/drawingml/2006/main"/>
        </p:blipFill>
        <p:spPr>
          <a:xfrm xmlns:a="http://schemas.openxmlformats.org/drawingml/2006/main">
            <a:off x="869487" y="2514600"/>
            <a:ext cx="7062126" cy="40195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9574E78-7D34-43CE-990C-A547B9230D46}"/>
              </a:ext>
            </a:extLst>
          </p:cNvPr>
          <p:cNvSpPr>
            <a:spLocks xmlns:a="http://schemas.openxmlformats.org/drawingml/2006/main" noGrp="1"/>
          </p:cNvSpPr>
          <p:nvPr/>
        </p:nvSpPr>
        <p:spPr>
          <a:xfrm xmlns:a="http://schemas.openxmlformats.org/drawingml/2006/main">
            <a:off x="8496300" y="2457450"/>
            <a:ext cx="2857500" cy="3124200"/>
          </a:xfrm>
          <a:prstGeom xmlns:a="http://schemas.openxmlformats.org/drawingml/2006/main" prst="rect">
            <a:avLst/>
          </a:prstGeom>
          <a:solidFill xmlns:a="http://schemas.openxmlformats.org/drawingml/2006/main">
            <a:srgbClr val="12001E"/>
          </a:solidFill>
          <a:ln xmlns:a="http://schemas.openxmlformats.org/drawingml/2006/main" w="9525">
            <a:solidFill>
              <a:srgbClr val="342043"/>
            </a:solidFill>
            <a:prstDash val="solid"/>
          </a:ln>
        </p:spPr>
      </p:sp>
      <p:sp>
        <p:nvSpPr>
          <p:cNvPr id="13" name="">
            <a:extLst xmlns:a="http://schemas.openxmlformats.org/drawingml/2006/main">
              <a:ext uri="{FF2B5EF4-FFF2-40B4-BE49-F238E27FC236}">
                <a16:creationId xmlns:a16="http://schemas.microsoft.com/office/drawing/2014/main" id="{24A55075-9D45-496E-9B47-317024CF29DC}"/>
              </a:ext>
            </a:extLst>
          </p:cNvPr>
          <p:cNvSpPr>
            <a:spLocks xmlns:a="http://schemas.openxmlformats.org/drawingml/2006/main" noGrp="1"/>
          </p:cNvSpPr>
          <p:nvPr/>
        </p:nvSpPr>
        <p:spPr>
          <a:xfrm xmlns:a="http://schemas.openxmlformats.org/drawingml/2006/main">
            <a:off x="8496300" y="2457450"/>
            <a:ext cx="38100" cy="3124200"/>
          </a:xfrm>
          <a:prstGeom xmlns:a="http://schemas.openxmlformats.org/drawingml/2006/main" prst="rect">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BDB00465-79F3-4D7F-893A-E717A6C1C4E8}"/>
              </a:ext>
            </a:extLst>
          </p:cNvPr>
          <p:cNvSpPr>
            <a:spLocks xmlns:a="http://schemas.openxmlformats.org/drawingml/2006/main" noGrp="1"/>
          </p:cNvSpPr>
          <p:nvPr/>
        </p:nvSpPr>
        <p:spPr>
          <a:xfrm xmlns:a="http://schemas.openxmlformats.org/drawingml/2006/main">
            <a:off x="8782050" y="2743200"/>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2BD6"/>
                </a:solidFill>
                <a:latin typeface="Aptos"/>
                <a:ea typeface="Aptos"/>
                <a:cs typeface="Aptos"/>
              </a:defRPr>
            </a:pPr>
            <a:r>
              <a:rPr sz="1350" b="1">
                <a:solidFill>
                  <a:srgbClr val="FF2BD6"/>
                </a:solidFill>
                <a:latin typeface="Aptos"/>
                <a:ea typeface="Aptos"/>
                <a:cs typeface="Aptos"/>
              </a:rPr>
              <a:t>What to point out</a:t>
            </a:r>
          </a:p>
        </p:txBody>
      </p:sp>
      <p:sp>
        <p:nvSpPr>
          <p:cNvPr id="15" name="">
            <a:extLst xmlns:a="http://schemas.openxmlformats.org/drawingml/2006/main">
              <a:ext uri="{FF2B5EF4-FFF2-40B4-BE49-F238E27FC236}">
                <a16:creationId xmlns:a16="http://schemas.microsoft.com/office/drawing/2014/main" id="{495EEEC6-690C-4F98-838E-4AC6D12218B9}"/>
              </a:ext>
            </a:extLst>
          </p:cNvPr>
          <p:cNvSpPr>
            <a:spLocks xmlns:a="http://schemas.openxmlformats.org/drawingml/2006/main" noGrp="1"/>
          </p:cNvSpPr>
          <p:nvPr/>
        </p:nvSpPr>
        <p:spPr>
          <a:xfrm xmlns:a="http://schemas.openxmlformats.org/drawingml/2006/main">
            <a:off x="8782050" y="3228975"/>
            <a:ext cx="66675" cy="66675"/>
          </a:xfrm>
          <a:prstGeom xmlns:a="http://schemas.openxmlformats.org/drawingml/2006/main" prst="ellipse">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CF0582F1-7A51-4FE9-B037-CB9F9F6FFB36}"/>
              </a:ext>
            </a:extLst>
          </p:cNvPr>
          <p:cNvSpPr>
            <a:spLocks xmlns:a="http://schemas.openxmlformats.org/drawingml/2006/main" noGrp="1"/>
          </p:cNvSpPr>
          <p:nvPr/>
        </p:nvSpPr>
        <p:spPr>
          <a:xfrm xmlns:a="http://schemas.openxmlformats.org/drawingml/2006/main">
            <a:off x="8953500" y="3162300"/>
            <a:ext cx="201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DoS, Probe, R2L, U2R, and Normal scenarios</a:t>
            </a:r>
          </a:p>
        </p:txBody>
      </p:sp>
      <p:sp>
        <p:nvSpPr>
          <p:cNvPr id="17" name="">
            <a:extLst xmlns:a="http://schemas.openxmlformats.org/drawingml/2006/main">
              <a:ext uri="{FF2B5EF4-FFF2-40B4-BE49-F238E27FC236}">
                <a16:creationId xmlns:a16="http://schemas.microsoft.com/office/drawing/2014/main" id="{3C5B3F92-33A9-4D88-85F8-B3206AC289C3}"/>
              </a:ext>
            </a:extLst>
          </p:cNvPr>
          <p:cNvSpPr>
            <a:spLocks xmlns:a="http://schemas.openxmlformats.org/drawingml/2006/main" noGrp="1"/>
          </p:cNvSpPr>
          <p:nvPr/>
        </p:nvSpPr>
        <p:spPr>
          <a:xfrm xmlns:a="http://schemas.openxmlformats.org/drawingml/2006/main">
            <a:off x="8782050" y="3743325"/>
            <a:ext cx="66675" cy="66675"/>
          </a:xfrm>
          <a:prstGeom xmlns:a="http://schemas.openxmlformats.org/drawingml/2006/main" prst="ellipse">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EEE8780B-C40B-40A1-8F5A-1D2C63C4EA9C}"/>
              </a:ext>
            </a:extLst>
          </p:cNvPr>
          <p:cNvSpPr>
            <a:spLocks xmlns:a="http://schemas.openxmlformats.org/drawingml/2006/main" noGrp="1"/>
          </p:cNvSpPr>
          <p:nvPr/>
        </p:nvSpPr>
        <p:spPr>
          <a:xfrm xmlns:a="http://schemas.openxmlformats.org/drawingml/2006/main">
            <a:off x="8953500" y="3676650"/>
            <a:ext cx="201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Auto simulation and reset test session</a:t>
            </a:r>
          </a:p>
        </p:txBody>
      </p:sp>
      <p:sp>
        <p:nvSpPr>
          <p:cNvPr id="19" name="">
            <a:extLst xmlns:a="http://schemas.openxmlformats.org/drawingml/2006/main">
              <a:ext uri="{FF2B5EF4-FFF2-40B4-BE49-F238E27FC236}">
                <a16:creationId xmlns:a16="http://schemas.microsoft.com/office/drawing/2014/main" id="{33A77769-F8C4-4C44-BD9D-0CE4A0C020E6}"/>
              </a:ext>
            </a:extLst>
          </p:cNvPr>
          <p:cNvSpPr>
            <a:spLocks xmlns:a="http://schemas.openxmlformats.org/drawingml/2006/main" noGrp="1"/>
          </p:cNvSpPr>
          <p:nvPr/>
        </p:nvSpPr>
        <p:spPr>
          <a:xfrm xmlns:a="http://schemas.openxmlformats.org/drawingml/2006/main">
            <a:off x="8782050" y="4257675"/>
            <a:ext cx="66675" cy="66675"/>
          </a:xfrm>
          <a:prstGeom xmlns:a="http://schemas.openxmlformats.org/drawingml/2006/main" prst="ellipse">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F38C8113-43C7-42C9-9FE4-15120619EAFD}"/>
              </a:ext>
            </a:extLst>
          </p:cNvPr>
          <p:cNvSpPr>
            <a:spLocks xmlns:a="http://schemas.openxmlformats.org/drawingml/2006/main" noGrp="1"/>
          </p:cNvSpPr>
          <p:nvPr/>
        </p:nvSpPr>
        <p:spPr>
          <a:xfrm xmlns:a="http://schemas.openxmlformats.org/drawingml/2006/main">
            <a:off x="8953500" y="4191000"/>
            <a:ext cx="201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Lab counters separated from live dashboard</a:t>
            </a:r>
          </a:p>
        </p:txBody>
      </p:sp>
      <p:sp>
        <p:nvSpPr>
          <p:cNvPr id="21" name="">
            <a:extLst xmlns:a="http://schemas.openxmlformats.org/drawingml/2006/main">
              <a:ext uri="{FF2B5EF4-FFF2-40B4-BE49-F238E27FC236}">
                <a16:creationId xmlns:a16="http://schemas.microsoft.com/office/drawing/2014/main" id="{3A884254-275E-451C-915D-3E7BB2835379}"/>
              </a:ext>
            </a:extLst>
          </p:cNvPr>
          <p:cNvSpPr>
            <a:spLocks xmlns:a="http://schemas.openxmlformats.org/drawingml/2006/main" noGrp="1"/>
          </p:cNvSpPr>
          <p:nvPr/>
        </p:nvSpPr>
        <p:spPr>
          <a:xfrm xmlns:a="http://schemas.openxmlformats.org/drawingml/2006/main">
            <a:off x="8782050" y="4772025"/>
            <a:ext cx="66675" cy="66675"/>
          </a:xfrm>
          <a:prstGeom xmlns:a="http://schemas.openxmlformats.org/drawingml/2006/main" prst="ellipse">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BB235D1E-AEBA-48CA-A312-2BA29A712480}"/>
              </a:ext>
            </a:extLst>
          </p:cNvPr>
          <p:cNvSpPr>
            <a:spLocks xmlns:a="http://schemas.openxmlformats.org/drawingml/2006/main" noGrp="1"/>
          </p:cNvSpPr>
          <p:nvPr/>
        </p:nvSpPr>
        <p:spPr>
          <a:xfrm xmlns:a="http://schemas.openxmlformats.org/drawingml/2006/main">
            <a:off x="8953500" y="4705350"/>
            <a:ext cx="201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Generated event feeds into backend AI logic</a:t>
            </a:r>
          </a:p>
        </p:txBody>
      </p:sp>
      <p:sp>
        <p:nvSpPr>
          <p:cNvPr id="23" name="">
            <a:extLst xmlns:a="http://schemas.openxmlformats.org/drawingml/2006/main">
              <a:ext uri="{FF2B5EF4-FFF2-40B4-BE49-F238E27FC236}">
                <a16:creationId xmlns:a16="http://schemas.microsoft.com/office/drawing/2014/main" id="{0569DA73-F7FF-4A63-A847-BBDDCC07E605}"/>
              </a:ext>
            </a:extLst>
          </p:cNvPr>
          <p:cNvSpPr>
            <a:spLocks xmlns:a="http://schemas.openxmlformats.org/drawingml/2006/main" noGrp="1"/>
          </p:cNvSpPr>
          <p:nvPr/>
        </p:nvSpPr>
        <p:spPr>
          <a:xfrm xmlns:a="http://schemas.openxmlformats.org/drawingml/2006/main">
            <a:off x="685800" y="6400800"/>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A997BA"/>
                </a:solidFill>
                <a:latin typeface="Aptos"/>
                <a:ea typeface="Aptos"/>
                <a:cs typeface="Aptos"/>
              </a:defRPr>
            </a:pPr>
            <a:r>
              <a:rPr sz="750" b="0">
                <a:solidFill>
                  <a:srgbClr val="A997BA"/>
                </a:solidFill>
                <a:latin typeface="Aptos"/>
                <a:ea typeface="Aptos"/>
                <a:cs typeface="Aptos"/>
              </a:rPr>
              <a:t>EvoGuard Enterprise - Agentic AI Cyber Defense Platform</a:t>
            </a:r>
          </a:p>
        </p:txBody>
      </p:sp>
      <p:sp>
        <p:nvSpPr>
          <p:cNvPr id="24" name="">
            <a:extLst xmlns:a="http://schemas.openxmlformats.org/drawingml/2006/main">
              <a:ext uri="{FF2B5EF4-FFF2-40B4-BE49-F238E27FC236}">
                <a16:creationId xmlns:a16="http://schemas.microsoft.com/office/drawing/2014/main" id="{A1F57D31-D033-48A1-89F6-6090E81993D4}"/>
              </a:ext>
            </a:extLst>
          </p:cNvPr>
          <p:cNvSpPr>
            <a:spLocks xmlns:a="http://schemas.openxmlformats.org/drawingml/2006/main" noGrp="1"/>
          </p:cNvSpPr>
          <p:nvPr/>
        </p:nvSpPr>
        <p:spPr>
          <a:xfrm xmlns:a="http://schemas.openxmlformats.org/drawingml/2006/main">
            <a:off x="11125200" y="636270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0FFE0"/>
                </a:solidFill>
                <a:latin typeface="Aptos"/>
                <a:ea typeface="Aptos"/>
                <a:cs typeface="Aptos"/>
              </a:defRPr>
            </a:pPr>
            <a:r>
              <a:rPr sz="975" b="1">
                <a:solidFill>
                  <a:srgbClr val="00FFE0"/>
                </a:solidFill>
                <a:latin typeface="Aptos"/>
                <a:ea typeface="Aptos"/>
                <a:cs typeface="Aptos"/>
              </a:rPr>
              <a:t>05</a:t>
            </a:r>
          </a:p>
        </p:txBody>
      </p:sp>
    </p:spTree>
    <p:extLst>
      <p:ext uri="{BB962C8B-B14F-4D97-AF65-F5344CB8AC3E}">
        <p14:creationId xmlns:p14="http://schemas.microsoft.com/office/powerpoint/2010/main" val="182152621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ED4FCE8-3280-47B4-986B-9C9013415E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0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A1B2583-6E27-4E7A-8E8D-06257E038E6D}"/>
              </a:ext>
            </a:extLst>
          </p:cNvPr>
          <p:cNvSpPr>
            <a:spLocks xmlns:a="http://schemas.openxmlformats.org/drawingml/2006/main" noGrp="1"/>
          </p:cNvSpPr>
          <p:nvPr/>
        </p:nvSpPr>
        <p:spPr>
          <a:xfrm xmlns:a="http://schemas.openxmlformats.org/drawingml/2006/main">
            <a:off x="-1190625" y="-1333500"/>
            <a:ext cx="4095750" cy="4095750"/>
          </a:xfrm>
          <a:prstGeom xmlns:a="http://schemas.openxmlformats.org/drawingml/2006/main" prst="ellipse">
            <a:avLst/>
          </a:prstGeom>
          <a:solidFill xmlns:a="http://schemas.openxmlformats.org/drawingml/2006/main">
            <a:srgbClr val="32004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803F71B-A5E4-4AB2-9EE4-2C8242F82212}"/>
              </a:ext>
            </a:extLst>
          </p:cNvPr>
          <p:cNvSpPr>
            <a:spLocks xmlns:a="http://schemas.openxmlformats.org/drawingml/2006/main" noGrp="1"/>
          </p:cNvSpPr>
          <p:nvPr/>
        </p:nvSpPr>
        <p:spPr>
          <a:xfrm xmlns:a="http://schemas.openxmlformats.org/drawingml/2006/main">
            <a:off x="9048750" y="-1143000"/>
            <a:ext cx="4095750" cy="4095750"/>
          </a:xfrm>
          <a:prstGeom xmlns:a="http://schemas.openxmlformats.org/drawingml/2006/main" prst="ellipse">
            <a:avLst/>
          </a:prstGeom>
          <a:solidFill xmlns:a="http://schemas.openxmlformats.org/drawingml/2006/main">
            <a:srgbClr val="160A34"/>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2D521243-C05A-472A-B682-63E49A0CD4E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7BFB44AF-96CF-456D-9330-513AFEF8D3D1}"/>
              </a:ext>
            </a:extLst>
          </p:cNvPr>
          <p:cNvSpPr>
            <a:spLocks xmlns:a="http://schemas.openxmlformats.org/drawingml/2006/main" noGrp="1"/>
          </p:cNvSpPr>
          <p:nvPr/>
        </p:nvSpPr>
        <p:spPr>
          <a:xfrm xmlns:a="http://schemas.openxmlformats.org/drawingml/2006/main">
            <a:off x="0" y="76200"/>
            <a:ext cx="12192000" cy="28575"/>
          </a:xfrm>
          <a:prstGeom xmlns:a="http://schemas.openxmlformats.org/drawingml/2006/main" prst="rect">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19A2869B-A37F-4B99-B85D-BDEFF12A388E}"/>
              </a:ext>
            </a:extLst>
          </p:cNvPr>
          <p:cNvSpPr>
            <a:spLocks xmlns:a="http://schemas.openxmlformats.org/drawingml/2006/main" noGrp="1"/>
          </p:cNvSpPr>
          <p:nvPr/>
        </p:nvSpPr>
        <p:spPr>
          <a:xfrm xmlns:a="http://schemas.openxmlformats.org/drawingml/2006/main">
            <a:off x="685800" y="323850"/>
            <a:ext cx="400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00FFE0"/>
                </a:solidFill>
                <a:latin typeface="Aptos"/>
                <a:ea typeface="Aptos"/>
                <a:cs typeface="Aptos"/>
              </a:defRPr>
            </a:pPr>
            <a:r>
              <a:rPr sz="825" b="1">
                <a:solidFill>
                  <a:srgbClr val="00FFE0"/>
                </a:solidFill>
                <a:latin typeface="Aptos"/>
                <a:ea typeface="Aptos"/>
                <a:cs typeface="Aptos"/>
              </a:rPr>
              <a:t>ATTACK MAP SCREENSHOT</a:t>
            </a:r>
          </a:p>
        </p:txBody>
      </p:sp>
      <p:sp>
        <p:nvSpPr>
          <p:cNvPr id="7" name="">
            <a:extLst xmlns:a="http://schemas.openxmlformats.org/drawingml/2006/main">
              <a:ext uri="{FF2B5EF4-FFF2-40B4-BE49-F238E27FC236}">
                <a16:creationId xmlns:a16="http://schemas.microsoft.com/office/drawing/2014/main" id="{D0AE30B2-3809-44FC-8F84-6B31F11414FA}"/>
              </a:ext>
            </a:extLst>
          </p:cNvPr>
          <p:cNvSpPr>
            <a:spLocks xmlns:a="http://schemas.openxmlformats.org/drawingml/2006/main" noGrp="1"/>
          </p:cNvSpPr>
          <p:nvPr/>
        </p:nvSpPr>
        <p:spPr>
          <a:xfrm xmlns:a="http://schemas.openxmlformats.org/drawingml/2006/main">
            <a:off x="685800" y="66675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F2BD6"/>
                </a:solidFill>
                <a:latin typeface="Aptos"/>
                <a:ea typeface="Aptos"/>
                <a:cs typeface="Aptos"/>
              </a:defRPr>
            </a:pPr>
            <a:r>
              <a:rPr sz="825" b="1">
                <a:solidFill>
                  <a:srgbClr val="FF2BD6"/>
                </a:solidFill>
                <a:latin typeface="Aptos"/>
                <a:ea typeface="Aptos"/>
                <a:cs typeface="Aptos"/>
              </a:rPr>
              <a:t>ATTACK MAP SCREENSHOT</a:t>
            </a:r>
          </a:p>
        </p:txBody>
      </p:sp>
      <p:sp>
        <p:nvSpPr>
          <p:cNvPr id="8" name="">
            <a:extLst xmlns:a="http://schemas.openxmlformats.org/drawingml/2006/main">
              <a:ext uri="{FF2B5EF4-FFF2-40B4-BE49-F238E27FC236}">
                <a16:creationId xmlns:a16="http://schemas.microsoft.com/office/drawing/2014/main" id="{7AC0B745-947B-4E8C-8451-F858DF5EC3A0}"/>
              </a:ext>
            </a:extLst>
          </p:cNvPr>
          <p:cNvSpPr>
            <a:spLocks xmlns:a="http://schemas.openxmlformats.org/drawingml/2006/main" noGrp="1"/>
          </p:cNvSpPr>
          <p:nvPr/>
        </p:nvSpPr>
        <p:spPr>
          <a:xfrm xmlns:a="http://schemas.openxmlformats.org/drawingml/2006/main">
            <a:off x="685800" y="933450"/>
            <a:ext cx="88582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7ECFF"/>
                </a:solidFill>
                <a:latin typeface="Aptos Display"/>
                <a:ea typeface="Aptos Display"/>
                <a:cs typeface="Aptos Display"/>
              </a:defRPr>
            </a:pPr>
            <a:r>
              <a:rPr sz="2550" b="1">
                <a:solidFill>
                  <a:srgbClr val="F7ECFF"/>
                </a:solidFill>
                <a:latin typeface="Aptos Display"/>
                <a:ea typeface="Aptos Display"/>
                <a:cs typeface="Aptos Display"/>
              </a:rPr>
              <a:t>The attack map visualizes live backend event origins.</a:t>
            </a:r>
          </a:p>
        </p:txBody>
      </p:sp>
      <p:sp>
        <p:nvSpPr>
          <p:cNvPr id="9" name="">
            <a:extLst xmlns:a="http://schemas.openxmlformats.org/drawingml/2006/main">
              <a:ext uri="{FF2B5EF4-FFF2-40B4-BE49-F238E27FC236}">
                <a16:creationId xmlns:a16="http://schemas.microsoft.com/office/drawing/2014/main" id="{DA4C69F2-3FDD-4016-B194-361B8258FE1C}"/>
              </a:ext>
            </a:extLst>
          </p:cNvPr>
          <p:cNvSpPr>
            <a:spLocks xmlns:a="http://schemas.openxmlformats.org/drawingml/2006/main" noGrp="1"/>
          </p:cNvSpPr>
          <p:nvPr/>
        </p:nvSpPr>
        <p:spPr>
          <a:xfrm xmlns:a="http://schemas.openxmlformats.org/drawingml/2006/main">
            <a:off x="704850" y="1752600"/>
            <a:ext cx="8667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997BA"/>
                </a:solidFill>
                <a:latin typeface="Aptos"/>
                <a:ea typeface="Aptos"/>
                <a:cs typeface="Aptos"/>
              </a:defRPr>
            </a:pPr>
            <a:r>
              <a:rPr sz="1050" b="0">
                <a:solidFill>
                  <a:srgbClr val="A997BA"/>
                </a:solidFill>
                <a:latin typeface="Aptos"/>
                <a:ea typeface="Aptos"/>
                <a:cs typeface="Aptos"/>
              </a:rPr>
              <a:t>Map routes are used for live-style events and source tracking, while simulation-specific activity remains in the testing section.</a:t>
            </a:r>
          </a:p>
        </p:txBody>
      </p:sp>
      <p:sp>
        <p:nvSpPr>
          <p:cNvPr id="10" name="">
            <a:extLst xmlns:a="http://schemas.openxmlformats.org/drawingml/2006/main">
              <a:ext uri="{FF2B5EF4-FFF2-40B4-BE49-F238E27FC236}">
                <a16:creationId xmlns:a16="http://schemas.microsoft.com/office/drawing/2014/main" id="{487972D1-44F4-479D-A300-2362E739763F}"/>
              </a:ext>
            </a:extLst>
          </p:cNvPr>
          <p:cNvSpPr>
            <a:spLocks xmlns:a="http://schemas.openxmlformats.org/drawingml/2006/main" noGrp="1"/>
          </p:cNvSpPr>
          <p:nvPr/>
        </p:nvSpPr>
        <p:spPr>
          <a:xfrm xmlns:a="http://schemas.openxmlformats.org/drawingml/2006/main">
            <a:off x="685800" y="2438400"/>
            <a:ext cx="7429500" cy="4171950"/>
          </a:xfrm>
          <a:prstGeom xmlns:a="http://schemas.openxmlformats.org/drawingml/2006/main" prst="rect">
            <a:avLst/>
          </a:prstGeom>
          <a:solidFill xmlns:a="http://schemas.openxmlformats.org/drawingml/2006/main">
            <a:srgbClr val="0B0014"/>
          </a:solidFill>
          <a:ln xmlns:a="http://schemas.openxmlformats.org/drawingml/2006/main" w="9525">
            <a:solidFill>
              <a:srgbClr val="2CFF9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6c30d8e3472424c"/>
          <a:stretch xmlns:a="http://schemas.openxmlformats.org/drawingml/2006/main"/>
        </p:blipFill>
        <p:spPr>
          <a:xfrm xmlns:a="http://schemas.openxmlformats.org/drawingml/2006/main">
            <a:off x="869487" y="2514600"/>
            <a:ext cx="7062126" cy="40195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7F21173-DDEB-474F-8DA1-6C3109972F29}"/>
              </a:ext>
            </a:extLst>
          </p:cNvPr>
          <p:cNvSpPr>
            <a:spLocks xmlns:a="http://schemas.openxmlformats.org/drawingml/2006/main" noGrp="1"/>
          </p:cNvSpPr>
          <p:nvPr/>
        </p:nvSpPr>
        <p:spPr>
          <a:xfrm xmlns:a="http://schemas.openxmlformats.org/drawingml/2006/main">
            <a:off x="8496300" y="2457450"/>
            <a:ext cx="2857500" cy="3124200"/>
          </a:xfrm>
          <a:prstGeom xmlns:a="http://schemas.openxmlformats.org/drawingml/2006/main" prst="rect">
            <a:avLst/>
          </a:prstGeom>
          <a:solidFill xmlns:a="http://schemas.openxmlformats.org/drawingml/2006/main">
            <a:srgbClr val="12001E"/>
          </a:solidFill>
          <a:ln xmlns:a="http://schemas.openxmlformats.org/drawingml/2006/main" w="9525">
            <a:solidFill>
              <a:srgbClr val="342043"/>
            </a:solidFill>
            <a:prstDash val="solid"/>
          </a:ln>
        </p:spPr>
      </p:sp>
      <p:sp>
        <p:nvSpPr>
          <p:cNvPr id="13" name="">
            <a:extLst xmlns:a="http://schemas.openxmlformats.org/drawingml/2006/main">
              <a:ext uri="{FF2B5EF4-FFF2-40B4-BE49-F238E27FC236}">
                <a16:creationId xmlns:a16="http://schemas.microsoft.com/office/drawing/2014/main" id="{8F54533C-2A76-4F28-8FF4-0F3249A5FF67}"/>
              </a:ext>
            </a:extLst>
          </p:cNvPr>
          <p:cNvSpPr>
            <a:spLocks xmlns:a="http://schemas.openxmlformats.org/drawingml/2006/main" noGrp="1"/>
          </p:cNvSpPr>
          <p:nvPr/>
        </p:nvSpPr>
        <p:spPr>
          <a:xfrm xmlns:a="http://schemas.openxmlformats.org/drawingml/2006/main">
            <a:off x="8496300" y="2457450"/>
            <a:ext cx="38100" cy="3124200"/>
          </a:xfrm>
          <a:prstGeom xmlns:a="http://schemas.openxmlformats.org/drawingml/2006/main" prst="rect">
            <a:avLst/>
          </a:prstGeom>
          <a:solidFill xmlns:a="http://schemas.openxmlformats.org/drawingml/2006/main">
            <a:srgbClr val="2CFF9B"/>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98531FEC-8B5B-4103-B6D5-68D33B997CFB}"/>
              </a:ext>
            </a:extLst>
          </p:cNvPr>
          <p:cNvSpPr>
            <a:spLocks xmlns:a="http://schemas.openxmlformats.org/drawingml/2006/main" noGrp="1"/>
          </p:cNvSpPr>
          <p:nvPr/>
        </p:nvSpPr>
        <p:spPr>
          <a:xfrm xmlns:a="http://schemas.openxmlformats.org/drawingml/2006/main">
            <a:off x="8782050" y="2743200"/>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CFF9B"/>
                </a:solidFill>
                <a:latin typeface="Aptos"/>
                <a:ea typeface="Aptos"/>
                <a:cs typeface="Aptos"/>
              </a:defRPr>
            </a:pPr>
            <a:r>
              <a:rPr sz="1350" b="1">
                <a:solidFill>
                  <a:srgbClr val="2CFF9B"/>
                </a:solidFill>
                <a:latin typeface="Aptos"/>
                <a:ea typeface="Aptos"/>
                <a:cs typeface="Aptos"/>
              </a:rPr>
              <a:t>What to point out</a:t>
            </a:r>
          </a:p>
        </p:txBody>
      </p:sp>
      <p:sp>
        <p:nvSpPr>
          <p:cNvPr id="15" name="">
            <a:extLst xmlns:a="http://schemas.openxmlformats.org/drawingml/2006/main">
              <a:ext uri="{FF2B5EF4-FFF2-40B4-BE49-F238E27FC236}">
                <a16:creationId xmlns:a16="http://schemas.microsoft.com/office/drawing/2014/main" id="{A2F65CAA-D218-43D4-B6A0-47EBB8F25D4E}"/>
              </a:ext>
            </a:extLst>
          </p:cNvPr>
          <p:cNvSpPr>
            <a:spLocks xmlns:a="http://schemas.openxmlformats.org/drawingml/2006/main" noGrp="1"/>
          </p:cNvSpPr>
          <p:nvPr/>
        </p:nvSpPr>
        <p:spPr>
          <a:xfrm xmlns:a="http://schemas.openxmlformats.org/drawingml/2006/main">
            <a:off x="8782050" y="3228975"/>
            <a:ext cx="66675" cy="66675"/>
          </a:xfrm>
          <a:prstGeom xmlns:a="http://schemas.openxmlformats.org/drawingml/2006/main" prst="ellipse">
            <a:avLst/>
          </a:prstGeom>
          <a:solidFill xmlns:a="http://schemas.openxmlformats.org/drawingml/2006/main">
            <a:srgbClr val="2CFF9B"/>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A706EDF4-2484-48AF-BA3D-06A8791A897B}"/>
              </a:ext>
            </a:extLst>
          </p:cNvPr>
          <p:cNvSpPr>
            <a:spLocks xmlns:a="http://schemas.openxmlformats.org/drawingml/2006/main" noGrp="1"/>
          </p:cNvSpPr>
          <p:nvPr/>
        </p:nvSpPr>
        <p:spPr>
          <a:xfrm xmlns:a="http://schemas.openxmlformats.org/drawingml/2006/main">
            <a:off x="8953500" y="3162300"/>
            <a:ext cx="201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Country-based source intelligence</a:t>
            </a:r>
          </a:p>
        </p:txBody>
      </p:sp>
      <p:sp>
        <p:nvSpPr>
          <p:cNvPr id="17" name="">
            <a:extLst xmlns:a="http://schemas.openxmlformats.org/drawingml/2006/main">
              <a:ext uri="{FF2B5EF4-FFF2-40B4-BE49-F238E27FC236}">
                <a16:creationId xmlns:a16="http://schemas.microsoft.com/office/drawing/2014/main" id="{051EFB67-15E8-4CA8-98C9-707F375365F4}"/>
              </a:ext>
            </a:extLst>
          </p:cNvPr>
          <p:cNvSpPr>
            <a:spLocks xmlns:a="http://schemas.openxmlformats.org/drawingml/2006/main" noGrp="1"/>
          </p:cNvSpPr>
          <p:nvPr/>
        </p:nvSpPr>
        <p:spPr>
          <a:xfrm xmlns:a="http://schemas.openxmlformats.org/drawingml/2006/main">
            <a:off x="8782050" y="3743325"/>
            <a:ext cx="66675" cy="66675"/>
          </a:xfrm>
          <a:prstGeom xmlns:a="http://schemas.openxmlformats.org/drawingml/2006/main" prst="ellipse">
            <a:avLst/>
          </a:prstGeom>
          <a:solidFill xmlns:a="http://schemas.openxmlformats.org/drawingml/2006/main">
            <a:srgbClr val="2CFF9B"/>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E525A4D6-2086-42E5-B99E-5E46A7E7957C}"/>
              </a:ext>
            </a:extLst>
          </p:cNvPr>
          <p:cNvSpPr>
            <a:spLocks xmlns:a="http://schemas.openxmlformats.org/drawingml/2006/main" noGrp="1"/>
          </p:cNvSpPr>
          <p:nvPr/>
        </p:nvSpPr>
        <p:spPr>
          <a:xfrm xmlns:a="http://schemas.openxmlformats.org/drawingml/2006/main">
            <a:off x="8953500" y="3676650"/>
            <a:ext cx="201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Risk-colored global attack routes</a:t>
            </a:r>
          </a:p>
        </p:txBody>
      </p:sp>
      <p:sp>
        <p:nvSpPr>
          <p:cNvPr id="19" name="">
            <a:extLst xmlns:a="http://schemas.openxmlformats.org/drawingml/2006/main">
              <a:ext uri="{FF2B5EF4-FFF2-40B4-BE49-F238E27FC236}">
                <a16:creationId xmlns:a16="http://schemas.microsoft.com/office/drawing/2014/main" id="{A8E80A01-067A-4344-AE72-1EAB677CCA03}"/>
              </a:ext>
            </a:extLst>
          </p:cNvPr>
          <p:cNvSpPr>
            <a:spLocks xmlns:a="http://schemas.openxmlformats.org/drawingml/2006/main" noGrp="1"/>
          </p:cNvSpPr>
          <p:nvPr/>
        </p:nvSpPr>
        <p:spPr>
          <a:xfrm xmlns:a="http://schemas.openxmlformats.org/drawingml/2006/main">
            <a:off x="8782050" y="4257675"/>
            <a:ext cx="66675" cy="66675"/>
          </a:xfrm>
          <a:prstGeom xmlns:a="http://schemas.openxmlformats.org/drawingml/2006/main" prst="ellipse">
            <a:avLst/>
          </a:prstGeom>
          <a:solidFill xmlns:a="http://schemas.openxmlformats.org/drawingml/2006/main">
            <a:srgbClr val="2CFF9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DAC19C1C-F669-49FF-BC9D-9F3E634433CC}"/>
              </a:ext>
            </a:extLst>
          </p:cNvPr>
          <p:cNvSpPr>
            <a:spLocks xmlns:a="http://schemas.openxmlformats.org/drawingml/2006/main" noGrp="1"/>
          </p:cNvSpPr>
          <p:nvPr/>
        </p:nvSpPr>
        <p:spPr>
          <a:xfrm xmlns:a="http://schemas.openxmlformats.org/drawingml/2006/main">
            <a:off x="8953500" y="4191000"/>
            <a:ext cx="201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Protected UAE target visualization</a:t>
            </a:r>
          </a:p>
        </p:txBody>
      </p:sp>
      <p:sp>
        <p:nvSpPr>
          <p:cNvPr id="21" name="">
            <a:extLst xmlns:a="http://schemas.openxmlformats.org/drawingml/2006/main">
              <a:ext uri="{FF2B5EF4-FFF2-40B4-BE49-F238E27FC236}">
                <a16:creationId xmlns:a16="http://schemas.microsoft.com/office/drawing/2014/main" id="{1E9FB81A-7BB9-4CA1-B5F1-144AEFDAE748}"/>
              </a:ext>
            </a:extLst>
          </p:cNvPr>
          <p:cNvSpPr>
            <a:spLocks xmlns:a="http://schemas.openxmlformats.org/drawingml/2006/main" noGrp="1"/>
          </p:cNvSpPr>
          <p:nvPr/>
        </p:nvSpPr>
        <p:spPr>
          <a:xfrm xmlns:a="http://schemas.openxmlformats.org/drawingml/2006/main">
            <a:off x="8782050" y="4772025"/>
            <a:ext cx="66675" cy="66675"/>
          </a:xfrm>
          <a:prstGeom xmlns:a="http://schemas.openxmlformats.org/drawingml/2006/main" prst="ellipse">
            <a:avLst/>
          </a:prstGeom>
          <a:solidFill xmlns:a="http://schemas.openxmlformats.org/drawingml/2006/main">
            <a:srgbClr val="2CFF9B"/>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361B040A-8D9A-4E4E-84BA-A2BC1F62F1DC}"/>
              </a:ext>
            </a:extLst>
          </p:cNvPr>
          <p:cNvSpPr>
            <a:spLocks xmlns:a="http://schemas.openxmlformats.org/drawingml/2006/main" noGrp="1"/>
          </p:cNvSpPr>
          <p:nvPr/>
        </p:nvSpPr>
        <p:spPr>
          <a:xfrm xmlns:a="http://schemas.openxmlformats.org/drawingml/2006/main">
            <a:off x="8953500" y="4705350"/>
            <a:ext cx="201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Source counters and active map context</a:t>
            </a:r>
          </a:p>
        </p:txBody>
      </p:sp>
      <p:sp>
        <p:nvSpPr>
          <p:cNvPr id="23" name="">
            <a:extLst xmlns:a="http://schemas.openxmlformats.org/drawingml/2006/main">
              <a:ext uri="{FF2B5EF4-FFF2-40B4-BE49-F238E27FC236}">
                <a16:creationId xmlns:a16="http://schemas.microsoft.com/office/drawing/2014/main" id="{67A29542-6C01-4C20-88C8-21A99C037FE2}"/>
              </a:ext>
            </a:extLst>
          </p:cNvPr>
          <p:cNvSpPr>
            <a:spLocks xmlns:a="http://schemas.openxmlformats.org/drawingml/2006/main" noGrp="1"/>
          </p:cNvSpPr>
          <p:nvPr/>
        </p:nvSpPr>
        <p:spPr>
          <a:xfrm xmlns:a="http://schemas.openxmlformats.org/drawingml/2006/main">
            <a:off x="685800" y="6400800"/>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A997BA"/>
                </a:solidFill>
                <a:latin typeface="Aptos"/>
                <a:ea typeface="Aptos"/>
                <a:cs typeface="Aptos"/>
              </a:defRPr>
            </a:pPr>
            <a:r>
              <a:rPr sz="750" b="0">
                <a:solidFill>
                  <a:srgbClr val="A997BA"/>
                </a:solidFill>
                <a:latin typeface="Aptos"/>
                <a:ea typeface="Aptos"/>
                <a:cs typeface="Aptos"/>
              </a:rPr>
              <a:t>EvoGuard Enterprise - Agentic AI Cyber Defense Platform</a:t>
            </a:r>
          </a:p>
        </p:txBody>
      </p:sp>
      <p:sp>
        <p:nvSpPr>
          <p:cNvPr id="24" name="">
            <a:extLst xmlns:a="http://schemas.openxmlformats.org/drawingml/2006/main">
              <a:ext uri="{FF2B5EF4-FFF2-40B4-BE49-F238E27FC236}">
                <a16:creationId xmlns:a16="http://schemas.microsoft.com/office/drawing/2014/main" id="{C1CB671F-F62F-4A5E-A723-BD8202B2AE35}"/>
              </a:ext>
            </a:extLst>
          </p:cNvPr>
          <p:cNvSpPr>
            <a:spLocks xmlns:a="http://schemas.openxmlformats.org/drawingml/2006/main" noGrp="1"/>
          </p:cNvSpPr>
          <p:nvPr/>
        </p:nvSpPr>
        <p:spPr>
          <a:xfrm xmlns:a="http://schemas.openxmlformats.org/drawingml/2006/main">
            <a:off x="11125200" y="636270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0FFE0"/>
                </a:solidFill>
                <a:latin typeface="Aptos"/>
                <a:ea typeface="Aptos"/>
                <a:cs typeface="Aptos"/>
              </a:defRPr>
            </a:pPr>
            <a:r>
              <a:rPr sz="975" b="1">
                <a:solidFill>
                  <a:srgbClr val="00FFE0"/>
                </a:solidFill>
                <a:latin typeface="Aptos"/>
                <a:ea typeface="Aptos"/>
                <a:cs typeface="Aptos"/>
              </a:rPr>
              <a:t>06</a:t>
            </a:r>
          </a:p>
        </p:txBody>
      </p:sp>
    </p:spTree>
    <p:extLst>
      <p:ext uri="{BB962C8B-B14F-4D97-AF65-F5344CB8AC3E}">
        <p14:creationId xmlns:p14="http://schemas.microsoft.com/office/powerpoint/2010/main" val="73128978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B92DA03-6D0F-4682-83F0-DDF0346E288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0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7893322-DAA3-4EA3-8126-EA272D40EB5F}"/>
              </a:ext>
            </a:extLst>
          </p:cNvPr>
          <p:cNvSpPr>
            <a:spLocks xmlns:a="http://schemas.openxmlformats.org/drawingml/2006/main" noGrp="1"/>
          </p:cNvSpPr>
          <p:nvPr/>
        </p:nvSpPr>
        <p:spPr>
          <a:xfrm xmlns:a="http://schemas.openxmlformats.org/drawingml/2006/main">
            <a:off x="-1190625" y="-1333500"/>
            <a:ext cx="4095750" cy="4095750"/>
          </a:xfrm>
          <a:prstGeom xmlns:a="http://schemas.openxmlformats.org/drawingml/2006/main" prst="ellipse">
            <a:avLst/>
          </a:prstGeom>
          <a:solidFill xmlns:a="http://schemas.openxmlformats.org/drawingml/2006/main">
            <a:srgbClr val="32004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68F721FE-803B-4E64-8F87-F997B0005792}"/>
              </a:ext>
            </a:extLst>
          </p:cNvPr>
          <p:cNvSpPr>
            <a:spLocks xmlns:a="http://schemas.openxmlformats.org/drawingml/2006/main" noGrp="1"/>
          </p:cNvSpPr>
          <p:nvPr/>
        </p:nvSpPr>
        <p:spPr>
          <a:xfrm xmlns:a="http://schemas.openxmlformats.org/drawingml/2006/main">
            <a:off x="9048750" y="-1143000"/>
            <a:ext cx="4095750" cy="4095750"/>
          </a:xfrm>
          <a:prstGeom xmlns:a="http://schemas.openxmlformats.org/drawingml/2006/main" prst="ellipse">
            <a:avLst/>
          </a:prstGeom>
          <a:solidFill xmlns:a="http://schemas.openxmlformats.org/drawingml/2006/main">
            <a:srgbClr val="160A34"/>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512C39DD-236B-4B3A-BBAC-26707B90766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30008827-C4BB-4609-8DF3-92B890D81E17}"/>
              </a:ext>
            </a:extLst>
          </p:cNvPr>
          <p:cNvSpPr>
            <a:spLocks xmlns:a="http://schemas.openxmlformats.org/drawingml/2006/main" noGrp="1"/>
          </p:cNvSpPr>
          <p:nvPr/>
        </p:nvSpPr>
        <p:spPr>
          <a:xfrm xmlns:a="http://schemas.openxmlformats.org/drawingml/2006/main">
            <a:off x="0" y="76200"/>
            <a:ext cx="12192000" cy="28575"/>
          </a:xfrm>
          <a:prstGeom xmlns:a="http://schemas.openxmlformats.org/drawingml/2006/main" prst="rect">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BE06FCE7-8F3F-4F71-A4BF-E212BEBD997A}"/>
              </a:ext>
            </a:extLst>
          </p:cNvPr>
          <p:cNvSpPr>
            <a:spLocks xmlns:a="http://schemas.openxmlformats.org/drawingml/2006/main" noGrp="1"/>
          </p:cNvSpPr>
          <p:nvPr/>
        </p:nvSpPr>
        <p:spPr>
          <a:xfrm xmlns:a="http://schemas.openxmlformats.org/drawingml/2006/main">
            <a:off x="685800" y="323850"/>
            <a:ext cx="400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00FFE0"/>
                </a:solidFill>
                <a:latin typeface="Aptos"/>
                <a:ea typeface="Aptos"/>
                <a:cs typeface="Aptos"/>
              </a:defRPr>
            </a:pPr>
            <a:r>
              <a:rPr sz="825" b="1">
                <a:solidFill>
                  <a:srgbClr val="00FFE0"/>
                </a:solidFill>
                <a:latin typeface="Aptos"/>
                <a:ea typeface="Aptos"/>
                <a:cs typeface="Aptos"/>
              </a:rPr>
              <a:t>THREAT INTEL SCREENSHOT</a:t>
            </a:r>
          </a:p>
        </p:txBody>
      </p:sp>
      <p:sp>
        <p:nvSpPr>
          <p:cNvPr id="7" name="">
            <a:extLst xmlns:a="http://schemas.openxmlformats.org/drawingml/2006/main">
              <a:ext uri="{FF2B5EF4-FFF2-40B4-BE49-F238E27FC236}">
                <a16:creationId xmlns:a16="http://schemas.microsoft.com/office/drawing/2014/main" id="{C397E748-8065-4C42-AE65-361D86FBD08C}"/>
              </a:ext>
            </a:extLst>
          </p:cNvPr>
          <p:cNvSpPr>
            <a:spLocks xmlns:a="http://schemas.openxmlformats.org/drawingml/2006/main" noGrp="1"/>
          </p:cNvSpPr>
          <p:nvPr/>
        </p:nvSpPr>
        <p:spPr>
          <a:xfrm xmlns:a="http://schemas.openxmlformats.org/drawingml/2006/main">
            <a:off x="685800" y="66675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F2BD6"/>
                </a:solidFill>
                <a:latin typeface="Aptos"/>
                <a:ea typeface="Aptos"/>
                <a:cs typeface="Aptos"/>
              </a:defRPr>
            </a:pPr>
            <a:r>
              <a:rPr sz="825" b="1">
                <a:solidFill>
                  <a:srgbClr val="FF2BD6"/>
                </a:solidFill>
                <a:latin typeface="Aptos"/>
                <a:ea typeface="Aptos"/>
                <a:cs typeface="Aptos"/>
              </a:rPr>
              <a:t>THREAT INTEL SCREENSHOT</a:t>
            </a:r>
          </a:p>
        </p:txBody>
      </p:sp>
      <p:sp>
        <p:nvSpPr>
          <p:cNvPr id="8" name="">
            <a:extLst xmlns:a="http://schemas.openxmlformats.org/drawingml/2006/main">
              <a:ext uri="{FF2B5EF4-FFF2-40B4-BE49-F238E27FC236}">
                <a16:creationId xmlns:a16="http://schemas.microsoft.com/office/drawing/2014/main" id="{F35FEB3F-D97A-48B4-A361-981895161DAC}"/>
              </a:ext>
            </a:extLst>
          </p:cNvPr>
          <p:cNvSpPr>
            <a:spLocks xmlns:a="http://schemas.openxmlformats.org/drawingml/2006/main" noGrp="1"/>
          </p:cNvSpPr>
          <p:nvPr/>
        </p:nvSpPr>
        <p:spPr>
          <a:xfrm xmlns:a="http://schemas.openxmlformats.org/drawingml/2006/main">
            <a:off x="685800" y="933450"/>
            <a:ext cx="88582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7ECFF"/>
                </a:solidFill>
                <a:latin typeface="Aptos Display"/>
                <a:ea typeface="Aptos Display"/>
                <a:cs typeface="Aptos Display"/>
              </a:defRPr>
            </a:pPr>
            <a:r>
              <a:rPr sz="2550" b="1">
                <a:solidFill>
                  <a:srgbClr val="F7ECFF"/>
                </a:solidFill>
                <a:latin typeface="Aptos Display"/>
                <a:ea typeface="Aptos Display"/>
                <a:cs typeface="Aptos Display"/>
              </a:rPr>
              <a:t>Threat intelligence explains why an event matters.</a:t>
            </a:r>
          </a:p>
        </p:txBody>
      </p:sp>
      <p:sp>
        <p:nvSpPr>
          <p:cNvPr id="9" name="">
            <a:extLst xmlns:a="http://schemas.openxmlformats.org/drawingml/2006/main">
              <a:ext uri="{FF2B5EF4-FFF2-40B4-BE49-F238E27FC236}">
                <a16:creationId xmlns:a16="http://schemas.microsoft.com/office/drawing/2014/main" id="{36615A34-48FE-4B98-AD7A-37A8DA1FD364}"/>
              </a:ext>
            </a:extLst>
          </p:cNvPr>
          <p:cNvSpPr>
            <a:spLocks xmlns:a="http://schemas.openxmlformats.org/drawingml/2006/main" noGrp="1"/>
          </p:cNvSpPr>
          <p:nvPr/>
        </p:nvSpPr>
        <p:spPr>
          <a:xfrm xmlns:a="http://schemas.openxmlformats.org/drawingml/2006/main">
            <a:off x="704850" y="1752600"/>
            <a:ext cx="8667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997BA"/>
                </a:solidFill>
                <a:latin typeface="Aptos"/>
                <a:ea typeface="Aptos"/>
                <a:cs typeface="Aptos"/>
              </a:defRPr>
            </a:pPr>
            <a:r>
              <a:rPr sz="1050" b="0">
                <a:solidFill>
                  <a:srgbClr val="A997BA"/>
                </a:solidFill>
                <a:latin typeface="Aptos"/>
                <a:ea typeface="Aptos"/>
                <a:cs typeface="Aptos"/>
              </a:rPr>
              <a:t>The backend enriches events with IOC reputation, confidence, enrichment notes, and MITRE ATT&amp;CK mapping.</a:t>
            </a:r>
          </a:p>
        </p:txBody>
      </p:sp>
      <p:sp>
        <p:nvSpPr>
          <p:cNvPr id="10" name="">
            <a:extLst xmlns:a="http://schemas.openxmlformats.org/drawingml/2006/main">
              <a:ext uri="{FF2B5EF4-FFF2-40B4-BE49-F238E27FC236}">
                <a16:creationId xmlns:a16="http://schemas.microsoft.com/office/drawing/2014/main" id="{3C7B4479-7891-472E-8922-0C6EB414A8CC}"/>
              </a:ext>
            </a:extLst>
          </p:cNvPr>
          <p:cNvSpPr>
            <a:spLocks xmlns:a="http://schemas.openxmlformats.org/drawingml/2006/main" noGrp="1"/>
          </p:cNvSpPr>
          <p:nvPr/>
        </p:nvSpPr>
        <p:spPr>
          <a:xfrm xmlns:a="http://schemas.openxmlformats.org/drawingml/2006/main">
            <a:off x="685800" y="2438400"/>
            <a:ext cx="7429500" cy="4171950"/>
          </a:xfrm>
          <a:prstGeom xmlns:a="http://schemas.openxmlformats.org/drawingml/2006/main" prst="rect">
            <a:avLst/>
          </a:prstGeom>
          <a:solidFill xmlns:a="http://schemas.openxmlformats.org/drawingml/2006/main">
            <a:srgbClr val="0B0014"/>
          </a:solidFill>
          <a:ln xmlns:a="http://schemas.openxmlformats.org/drawingml/2006/main" w="9525">
            <a:solidFill>
              <a:srgbClr val="FF9F1C"/>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638487bc819474b"/>
          <a:stretch xmlns:a="http://schemas.openxmlformats.org/drawingml/2006/main"/>
        </p:blipFill>
        <p:spPr>
          <a:xfrm xmlns:a="http://schemas.openxmlformats.org/drawingml/2006/main">
            <a:off x="869487" y="2514600"/>
            <a:ext cx="7062126" cy="40195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52BBF789-FD9B-4127-8772-359600F52625}"/>
              </a:ext>
            </a:extLst>
          </p:cNvPr>
          <p:cNvSpPr>
            <a:spLocks xmlns:a="http://schemas.openxmlformats.org/drawingml/2006/main" noGrp="1"/>
          </p:cNvSpPr>
          <p:nvPr/>
        </p:nvSpPr>
        <p:spPr>
          <a:xfrm xmlns:a="http://schemas.openxmlformats.org/drawingml/2006/main">
            <a:off x="8496300" y="2457450"/>
            <a:ext cx="2857500" cy="3124200"/>
          </a:xfrm>
          <a:prstGeom xmlns:a="http://schemas.openxmlformats.org/drawingml/2006/main" prst="rect">
            <a:avLst/>
          </a:prstGeom>
          <a:solidFill xmlns:a="http://schemas.openxmlformats.org/drawingml/2006/main">
            <a:srgbClr val="12001E"/>
          </a:solidFill>
          <a:ln xmlns:a="http://schemas.openxmlformats.org/drawingml/2006/main" w="9525">
            <a:solidFill>
              <a:srgbClr val="342043"/>
            </a:solidFill>
            <a:prstDash val="solid"/>
          </a:ln>
        </p:spPr>
      </p:sp>
      <p:sp>
        <p:nvSpPr>
          <p:cNvPr id="13" name="">
            <a:extLst xmlns:a="http://schemas.openxmlformats.org/drawingml/2006/main">
              <a:ext uri="{FF2B5EF4-FFF2-40B4-BE49-F238E27FC236}">
                <a16:creationId xmlns:a16="http://schemas.microsoft.com/office/drawing/2014/main" id="{62953982-BBF9-46B4-B31B-8E818CAC4D79}"/>
              </a:ext>
            </a:extLst>
          </p:cNvPr>
          <p:cNvSpPr>
            <a:spLocks xmlns:a="http://schemas.openxmlformats.org/drawingml/2006/main" noGrp="1"/>
          </p:cNvSpPr>
          <p:nvPr/>
        </p:nvSpPr>
        <p:spPr>
          <a:xfrm xmlns:a="http://schemas.openxmlformats.org/drawingml/2006/main">
            <a:off x="8496300" y="2457450"/>
            <a:ext cx="38100" cy="3124200"/>
          </a:xfrm>
          <a:prstGeom xmlns:a="http://schemas.openxmlformats.org/drawingml/2006/main" prst="rect">
            <a:avLst/>
          </a:prstGeom>
          <a:solidFill xmlns:a="http://schemas.openxmlformats.org/drawingml/2006/main">
            <a:srgbClr val="FF9F1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0ADE0FB8-3E6C-4CAE-9A90-74C5D17A3851}"/>
              </a:ext>
            </a:extLst>
          </p:cNvPr>
          <p:cNvSpPr>
            <a:spLocks xmlns:a="http://schemas.openxmlformats.org/drawingml/2006/main" noGrp="1"/>
          </p:cNvSpPr>
          <p:nvPr/>
        </p:nvSpPr>
        <p:spPr>
          <a:xfrm xmlns:a="http://schemas.openxmlformats.org/drawingml/2006/main">
            <a:off x="8782050" y="2743200"/>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9F1C"/>
                </a:solidFill>
                <a:latin typeface="Aptos"/>
                <a:ea typeface="Aptos"/>
                <a:cs typeface="Aptos"/>
              </a:defRPr>
            </a:pPr>
            <a:r>
              <a:rPr sz="1350" b="1">
                <a:solidFill>
                  <a:srgbClr val="FF9F1C"/>
                </a:solidFill>
                <a:latin typeface="Aptos"/>
                <a:ea typeface="Aptos"/>
                <a:cs typeface="Aptos"/>
              </a:rPr>
              <a:t>What to point out</a:t>
            </a:r>
          </a:p>
        </p:txBody>
      </p:sp>
      <p:sp>
        <p:nvSpPr>
          <p:cNvPr id="15" name="">
            <a:extLst xmlns:a="http://schemas.openxmlformats.org/drawingml/2006/main">
              <a:ext uri="{FF2B5EF4-FFF2-40B4-BE49-F238E27FC236}">
                <a16:creationId xmlns:a16="http://schemas.microsoft.com/office/drawing/2014/main" id="{DBC61A13-3447-4520-B654-C359E68DCF07}"/>
              </a:ext>
            </a:extLst>
          </p:cNvPr>
          <p:cNvSpPr>
            <a:spLocks xmlns:a="http://schemas.openxmlformats.org/drawingml/2006/main" noGrp="1"/>
          </p:cNvSpPr>
          <p:nvPr/>
        </p:nvSpPr>
        <p:spPr>
          <a:xfrm xmlns:a="http://schemas.openxmlformats.org/drawingml/2006/main">
            <a:off x="8782050" y="3228975"/>
            <a:ext cx="66675" cy="66675"/>
          </a:xfrm>
          <a:prstGeom xmlns:a="http://schemas.openxmlformats.org/drawingml/2006/main" prst="ellipse">
            <a:avLst/>
          </a:prstGeom>
          <a:solidFill xmlns:a="http://schemas.openxmlformats.org/drawingml/2006/main">
            <a:srgbClr val="FF9F1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1759368C-2F1D-4961-8F7C-E62E83B5600D}"/>
              </a:ext>
            </a:extLst>
          </p:cNvPr>
          <p:cNvSpPr>
            <a:spLocks xmlns:a="http://schemas.openxmlformats.org/drawingml/2006/main" noGrp="1"/>
          </p:cNvSpPr>
          <p:nvPr/>
        </p:nvSpPr>
        <p:spPr>
          <a:xfrm xmlns:a="http://schemas.openxmlformats.org/drawingml/2006/main">
            <a:off x="8953500" y="3162300"/>
            <a:ext cx="201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IOC lookups and reputation signals</a:t>
            </a:r>
          </a:p>
        </p:txBody>
      </p:sp>
      <p:sp>
        <p:nvSpPr>
          <p:cNvPr id="17" name="">
            <a:extLst xmlns:a="http://schemas.openxmlformats.org/drawingml/2006/main">
              <a:ext uri="{FF2B5EF4-FFF2-40B4-BE49-F238E27FC236}">
                <a16:creationId xmlns:a16="http://schemas.microsoft.com/office/drawing/2014/main" id="{A13BF6C0-E1B0-4A3E-861B-87480769ADE6}"/>
              </a:ext>
            </a:extLst>
          </p:cNvPr>
          <p:cNvSpPr>
            <a:spLocks xmlns:a="http://schemas.openxmlformats.org/drawingml/2006/main" noGrp="1"/>
          </p:cNvSpPr>
          <p:nvPr/>
        </p:nvSpPr>
        <p:spPr>
          <a:xfrm xmlns:a="http://schemas.openxmlformats.org/drawingml/2006/main">
            <a:off x="8782050" y="3743325"/>
            <a:ext cx="66675" cy="66675"/>
          </a:xfrm>
          <a:prstGeom xmlns:a="http://schemas.openxmlformats.org/drawingml/2006/main" prst="ellipse">
            <a:avLst/>
          </a:prstGeom>
          <a:solidFill xmlns:a="http://schemas.openxmlformats.org/drawingml/2006/main">
            <a:srgbClr val="FF9F1C"/>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3F836982-0CE5-41E0-86B8-3B8C9DCDA3F2}"/>
              </a:ext>
            </a:extLst>
          </p:cNvPr>
          <p:cNvSpPr>
            <a:spLocks xmlns:a="http://schemas.openxmlformats.org/drawingml/2006/main" noGrp="1"/>
          </p:cNvSpPr>
          <p:nvPr/>
        </p:nvSpPr>
        <p:spPr>
          <a:xfrm xmlns:a="http://schemas.openxmlformats.org/drawingml/2006/main">
            <a:off x="8953500" y="3676650"/>
            <a:ext cx="201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MITRE technique and tactic mapping</a:t>
            </a:r>
          </a:p>
        </p:txBody>
      </p:sp>
      <p:sp>
        <p:nvSpPr>
          <p:cNvPr id="19" name="">
            <a:extLst xmlns:a="http://schemas.openxmlformats.org/drawingml/2006/main">
              <a:ext uri="{FF2B5EF4-FFF2-40B4-BE49-F238E27FC236}">
                <a16:creationId xmlns:a16="http://schemas.microsoft.com/office/drawing/2014/main" id="{5D24EDE3-DFD3-4CED-93D0-04D231922DB6}"/>
              </a:ext>
            </a:extLst>
          </p:cNvPr>
          <p:cNvSpPr>
            <a:spLocks xmlns:a="http://schemas.openxmlformats.org/drawingml/2006/main" noGrp="1"/>
          </p:cNvSpPr>
          <p:nvPr/>
        </p:nvSpPr>
        <p:spPr>
          <a:xfrm xmlns:a="http://schemas.openxmlformats.org/drawingml/2006/main">
            <a:off x="8782050" y="4257675"/>
            <a:ext cx="66675" cy="66675"/>
          </a:xfrm>
          <a:prstGeom xmlns:a="http://schemas.openxmlformats.org/drawingml/2006/main" prst="ellipse">
            <a:avLst/>
          </a:prstGeom>
          <a:solidFill xmlns:a="http://schemas.openxmlformats.org/drawingml/2006/main">
            <a:srgbClr val="FF9F1C"/>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B27B4C54-247D-4DED-8501-BB1DD7C262BC}"/>
              </a:ext>
            </a:extLst>
          </p:cNvPr>
          <p:cNvSpPr>
            <a:spLocks xmlns:a="http://schemas.openxmlformats.org/drawingml/2006/main" noGrp="1"/>
          </p:cNvSpPr>
          <p:nvPr/>
        </p:nvSpPr>
        <p:spPr>
          <a:xfrm xmlns:a="http://schemas.openxmlformats.org/drawingml/2006/main">
            <a:off x="8953500" y="4191000"/>
            <a:ext cx="201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Real backend data rather than static UI text</a:t>
            </a:r>
          </a:p>
        </p:txBody>
      </p:sp>
      <p:sp>
        <p:nvSpPr>
          <p:cNvPr id="21" name="">
            <a:extLst xmlns:a="http://schemas.openxmlformats.org/drawingml/2006/main">
              <a:ext uri="{FF2B5EF4-FFF2-40B4-BE49-F238E27FC236}">
                <a16:creationId xmlns:a16="http://schemas.microsoft.com/office/drawing/2014/main" id="{E7736E00-86E0-49FD-AC0B-532A1B17B46F}"/>
              </a:ext>
            </a:extLst>
          </p:cNvPr>
          <p:cNvSpPr>
            <a:spLocks xmlns:a="http://schemas.openxmlformats.org/drawingml/2006/main" noGrp="1"/>
          </p:cNvSpPr>
          <p:nvPr/>
        </p:nvSpPr>
        <p:spPr>
          <a:xfrm xmlns:a="http://schemas.openxmlformats.org/drawingml/2006/main">
            <a:off x="8782050" y="4772025"/>
            <a:ext cx="66675" cy="66675"/>
          </a:xfrm>
          <a:prstGeom xmlns:a="http://schemas.openxmlformats.org/drawingml/2006/main" prst="ellipse">
            <a:avLst/>
          </a:prstGeom>
          <a:solidFill xmlns:a="http://schemas.openxmlformats.org/drawingml/2006/main">
            <a:srgbClr val="FF9F1C"/>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42850D36-5DAD-425B-B55D-DE0EF78437E0}"/>
              </a:ext>
            </a:extLst>
          </p:cNvPr>
          <p:cNvSpPr>
            <a:spLocks xmlns:a="http://schemas.openxmlformats.org/drawingml/2006/main" noGrp="1"/>
          </p:cNvSpPr>
          <p:nvPr/>
        </p:nvSpPr>
        <p:spPr>
          <a:xfrm xmlns:a="http://schemas.openxmlformats.org/drawingml/2006/main">
            <a:off x="8953500" y="4705350"/>
            <a:ext cx="201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Explainability for AI risk decisions</a:t>
            </a:r>
          </a:p>
        </p:txBody>
      </p:sp>
      <p:sp>
        <p:nvSpPr>
          <p:cNvPr id="23" name="">
            <a:extLst xmlns:a="http://schemas.openxmlformats.org/drawingml/2006/main">
              <a:ext uri="{FF2B5EF4-FFF2-40B4-BE49-F238E27FC236}">
                <a16:creationId xmlns:a16="http://schemas.microsoft.com/office/drawing/2014/main" id="{0E4654FD-948D-4686-BB00-D57B17F0D361}"/>
              </a:ext>
            </a:extLst>
          </p:cNvPr>
          <p:cNvSpPr>
            <a:spLocks xmlns:a="http://schemas.openxmlformats.org/drawingml/2006/main" noGrp="1"/>
          </p:cNvSpPr>
          <p:nvPr/>
        </p:nvSpPr>
        <p:spPr>
          <a:xfrm xmlns:a="http://schemas.openxmlformats.org/drawingml/2006/main">
            <a:off x="685800" y="6400800"/>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A997BA"/>
                </a:solidFill>
                <a:latin typeface="Aptos"/>
                <a:ea typeface="Aptos"/>
                <a:cs typeface="Aptos"/>
              </a:defRPr>
            </a:pPr>
            <a:r>
              <a:rPr sz="750" b="0">
                <a:solidFill>
                  <a:srgbClr val="A997BA"/>
                </a:solidFill>
                <a:latin typeface="Aptos"/>
                <a:ea typeface="Aptos"/>
                <a:cs typeface="Aptos"/>
              </a:rPr>
              <a:t>EvoGuard Enterprise - Agentic AI Cyber Defense Platform</a:t>
            </a:r>
          </a:p>
        </p:txBody>
      </p:sp>
      <p:sp>
        <p:nvSpPr>
          <p:cNvPr id="24" name="">
            <a:extLst xmlns:a="http://schemas.openxmlformats.org/drawingml/2006/main">
              <a:ext uri="{FF2B5EF4-FFF2-40B4-BE49-F238E27FC236}">
                <a16:creationId xmlns:a16="http://schemas.microsoft.com/office/drawing/2014/main" id="{14EEC627-77B2-455E-A852-6F92DB2EBF8E}"/>
              </a:ext>
            </a:extLst>
          </p:cNvPr>
          <p:cNvSpPr>
            <a:spLocks xmlns:a="http://schemas.openxmlformats.org/drawingml/2006/main" noGrp="1"/>
          </p:cNvSpPr>
          <p:nvPr/>
        </p:nvSpPr>
        <p:spPr>
          <a:xfrm xmlns:a="http://schemas.openxmlformats.org/drawingml/2006/main">
            <a:off x="11125200" y="636270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0FFE0"/>
                </a:solidFill>
                <a:latin typeface="Aptos"/>
                <a:ea typeface="Aptos"/>
                <a:cs typeface="Aptos"/>
              </a:defRPr>
            </a:pPr>
            <a:r>
              <a:rPr sz="975" b="1">
                <a:solidFill>
                  <a:srgbClr val="00FFE0"/>
                </a:solidFill>
                <a:latin typeface="Aptos"/>
                <a:ea typeface="Aptos"/>
                <a:cs typeface="Aptos"/>
              </a:rPr>
              <a:t>07</a:t>
            </a:r>
          </a:p>
        </p:txBody>
      </p:sp>
    </p:spTree>
    <p:extLst>
      <p:ext uri="{BB962C8B-B14F-4D97-AF65-F5344CB8AC3E}">
        <p14:creationId xmlns:p14="http://schemas.microsoft.com/office/powerpoint/2010/main" val="59305108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DEC2AF5-7EC5-48EE-8786-EB8AF5445BA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0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3A14F5E-B6BA-4C52-AA72-3A3889118A84}"/>
              </a:ext>
            </a:extLst>
          </p:cNvPr>
          <p:cNvSpPr>
            <a:spLocks xmlns:a="http://schemas.openxmlformats.org/drawingml/2006/main" noGrp="1"/>
          </p:cNvSpPr>
          <p:nvPr/>
        </p:nvSpPr>
        <p:spPr>
          <a:xfrm xmlns:a="http://schemas.openxmlformats.org/drawingml/2006/main">
            <a:off x="-1190625" y="-1333500"/>
            <a:ext cx="4095750" cy="4095750"/>
          </a:xfrm>
          <a:prstGeom xmlns:a="http://schemas.openxmlformats.org/drawingml/2006/main" prst="ellipse">
            <a:avLst/>
          </a:prstGeom>
          <a:solidFill xmlns:a="http://schemas.openxmlformats.org/drawingml/2006/main">
            <a:srgbClr val="32004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8DF5D87-3573-4E3D-A100-047D5B4548E8}"/>
              </a:ext>
            </a:extLst>
          </p:cNvPr>
          <p:cNvSpPr>
            <a:spLocks xmlns:a="http://schemas.openxmlformats.org/drawingml/2006/main" noGrp="1"/>
          </p:cNvSpPr>
          <p:nvPr/>
        </p:nvSpPr>
        <p:spPr>
          <a:xfrm xmlns:a="http://schemas.openxmlformats.org/drawingml/2006/main">
            <a:off x="9048750" y="-1143000"/>
            <a:ext cx="4095750" cy="4095750"/>
          </a:xfrm>
          <a:prstGeom xmlns:a="http://schemas.openxmlformats.org/drawingml/2006/main" prst="ellipse">
            <a:avLst/>
          </a:prstGeom>
          <a:solidFill xmlns:a="http://schemas.openxmlformats.org/drawingml/2006/main">
            <a:srgbClr val="160A34"/>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7D83E226-CFFB-4192-8627-2DB2FF213FD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B3527938-BD7E-4BF1-9430-E0306E61643B}"/>
              </a:ext>
            </a:extLst>
          </p:cNvPr>
          <p:cNvSpPr>
            <a:spLocks xmlns:a="http://schemas.openxmlformats.org/drawingml/2006/main" noGrp="1"/>
          </p:cNvSpPr>
          <p:nvPr/>
        </p:nvSpPr>
        <p:spPr>
          <a:xfrm xmlns:a="http://schemas.openxmlformats.org/drawingml/2006/main">
            <a:off x="0" y="76200"/>
            <a:ext cx="12192000" cy="28575"/>
          </a:xfrm>
          <a:prstGeom xmlns:a="http://schemas.openxmlformats.org/drawingml/2006/main" prst="rect">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470B6908-D985-4820-A158-91C3577A4424}"/>
              </a:ext>
            </a:extLst>
          </p:cNvPr>
          <p:cNvSpPr>
            <a:spLocks xmlns:a="http://schemas.openxmlformats.org/drawingml/2006/main" noGrp="1"/>
          </p:cNvSpPr>
          <p:nvPr/>
        </p:nvSpPr>
        <p:spPr>
          <a:xfrm xmlns:a="http://schemas.openxmlformats.org/drawingml/2006/main">
            <a:off x="685800" y="323850"/>
            <a:ext cx="400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00FFE0"/>
                </a:solidFill>
                <a:latin typeface="Aptos"/>
                <a:ea typeface="Aptos"/>
                <a:cs typeface="Aptos"/>
              </a:defRPr>
            </a:pPr>
            <a:r>
              <a:rPr sz="825" b="1">
                <a:solidFill>
                  <a:srgbClr val="00FFE0"/>
                </a:solidFill>
                <a:latin typeface="Aptos"/>
                <a:ea typeface="Aptos"/>
                <a:cs typeface="Aptos"/>
              </a:rPr>
              <a:t>REPORTS SCREENSHOT</a:t>
            </a:r>
          </a:p>
        </p:txBody>
      </p:sp>
      <p:sp>
        <p:nvSpPr>
          <p:cNvPr id="7" name="">
            <a:extLst xmlns:a="http://schemas.openxmlformats.org/drawingml/2006/main">
              <a:ext uri="{FF2B5EF4-FFF2-40B4-BE49-F238E27FC236}">
                <a16:creationId xmlns:a16="http://schemas.microsoft.com/office/drawing/2014/main" id="{81C120E2-3989-452F-865D-E5CA6CDA2F8A}"/>
              </a:ext>
            </a:extLst>
          </p:cNvPr>
          <p:cNvSpPr>
            <a:spLocks xmlns:a="http://schemas.openxmlformats.org/drawingml/2006/main" noGrp="1"/>
          </p:cNvSpPr>
          <p:nvPr/>
        </p:nvSpPr>
        <p:spPr>
          <a:xfrm xmlns:a="http://schemas.openxmlformats.org/drawingml/2006/main">
            <a:off x="685800" y="66675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F2BD6"/>
                </a:solidFill>
                <a:latin typeface="Aptos"/>
                <a:ea typeface="Aptos"/>
                <a:cs typeface="Aptos"/>
              </a:defRPr>
            </a:pPr>
            <a:r>
              <a:rPr sz="825" b="1">
                <a:solidFill>
                  <a:srgbClr val="FF2BD6"/>
                </a:solidFill>
                <a:latin typeface="Aptos"/>
                <a:ea typeface="Aptos"/>
                <a:cs typeface="Aptos"/>
              </a:rPr>
              <a:t>REPORTS SCREENSHOT</a:t>
            </a:r>
          </a:p>
        </p:txBody>
      </p:sp>
      <p:sp>
        <p:nvSpPr>
          <p:cNvPr id="8" name="">
            <a:extLst xmlns:a="http://schemas.openxmlformats.org/drawingml/2006/main">
              <a:ext uri="{FF2B5EF4-FFF2-40B4-BE49-F238E27FC236}">
                <a16:creationId xmlns:a16="http://schemas.microsoft.com/office/drawing/2014/main" id="{6C8513C1-EB14-4006-A139-5F54A146D072}"/>
              </a:ext>
            </a:extLst>
          </p:cNvPr>
          <p:cNvSpPr>
            <a:spLocks xmlns:a="http://schemas.openxmlformats.org/drawingml/2006/main" noGrp="1"/>
          </p:cNvSpPr>
          <p:nvPr/>
        </p:nvSpPr>
        <p:spPr>
          <a:xfrm xmlns:a="http://schemas.openxmlformats.org/drawingml/2006/main">
            <a:off x="685800" y="933450"/>
            <a:ext cx="88582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7ECFF"/>
                </a:solidFill>
                <a:latin typeface="Aptos Display"/>
                <a:ea typeface="Aptos Display"/>
                <a:cs typeface="Aptos Display"/>
              </a:defRPr>
            </a:pPr>
            <a:r>
              <a:rPr sz="2550" b="1">
                <a:solidFill>
                  <a:srgbClr val="F7ECFF"/>
                </a:solidFill>
                <a:latin typeface="Aptos Display"/>
                <a:ea typeface="Aptos Display"/>
                <a:cs typeface="Aptos Display"/>
              </a:rPr>
              <a:t>Reports turn AI decisions into reviewable evidence.</a:t>
            </a:r>
          </a:p>
        </p:txBody>
      </p:sp>
      <p:sp>
        <p:nvSpPr>
          <p:cNvPr id="9" name="">
            <a:extLst xmlns:a="http://schemas.openxmlformats.org/drawingml/2006/main">
              <a:ext uri="{FF2B5EF4-FFF2-40B4-BE49-F238E27FC236}">
                <a16:creationId xmlns:a16="http://schemas.microsoft.com/office/drawing/2014/main" id="{78C0017B-9F69-458A-B60E-FA7D21105D5B}"/>
              </a:ext>
            </a:extLst>
          </p:cNvPr>
          <p:cNvSpPr>
            <a:spLocks xmlns:a="http://schemas.openxmlformats.org/drawingml/2006/main" noGrp="1"/>
          </p:cNvSpPr>
          <p:nvPr/>
        </p:nvSpPr>
        <p:spPr>
          <a:xfrm xmlns:a="http://schemas.openxmlformats.org/drawingml/2006/main">
            <a:off x="704850" y="1752600"/>
            <a:ext cx="8667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997BA"/>
                </a:solidFill>
                <a:latin typeface="Aptos"/>
                <a:ea typeface="Aptos"/>
                <a:cs typeface="Aptos"/>
              </a:defRPr>
            </a:pPr>
            <a:r>
              <a:rPr sz="1050" b="0">
                <a:solidFill>
                  <a:srgbClr val="A997BA"/>
                </a:solidFill>
                <a:latin typeface="Aptos"/>
                <a:ea typeface="Aptos"/>
                <a:cs typeface="Aptos"/>
              </a:rPr>
              <a:t>The Reports Center gives the project a complete lifecycle: detection, analysis, response, storage, and export.</a:t>
            </a:r>
          </a:p>
        </p:txBody>
      </p:sp>
      <p:sp>
        <p:nvSpPr>
          <p:cNvPr id="10" name="">
            <a:extLst xmlns:a="http://schemas.openxmlformats.org/drawingml/2006/main">
              <a:ext uri="{FF2B5EF4-FFF2-40B4-BE49-F238E27FC236}">
                <a16:creationId xmlns:a16="http://schemas.microsoft.com/office/drawing/2014/main" id="{6945971E-32F0-4FEB-93BF-9B4F95816521}"/>
              </a:ext>
            </a:extLst>
          </p:cNvPr>
          <p:cNvSpPr>
            <a:spLocks xmlns:a="http://schemas.openxmlformats.org/drawingml/2006/main" noGrp="1"/>
          </p:cNvSpPr>
          <p:nvPr/>
        </p:nvSpPr>
        <p:spPr>
          <a:xfrm xmlns:a="http://schemas.openxmlformats.org/drawingml/2006/main">
            <a:off x="685800" y="2438400"/>
            <a:ext cx="7429500" cy="4171950"/>
          </a:xfrm>
          <a:prstGeom xmlns:a="http://schemas.openxmlformats.org/drawingml/2006/main" prst="rect">
            <a:avLst/>
          </a:prstGeom>
          <a:solidFill xmlns:a="http://schemas.openxmlformats.org/drawingml/2006/main">
            <a:srgbClr val="0B0014"/>
          </a:solidFill>
          <a:ln xmlns:a="http://schemas.openxmlformats.org/drawingml/2006/main" w="9525">
            <a:solidFill>
              <a:srgbClr val="7C3CFF"/>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9e7975bdddc42c9"/>
          <a:stretch xmlns:a="http://schemas.openxmlformats.org/drawingml/2006/main"/>
        </p:blipFill>
        <p:spPr>
          <a:xfrm xmlns:a="http://schemas.openxmlformats.org/drawingml/2006/main">
            <a:off x="869487" y="2514600"/>
            <a:ext cx="7062126" cy="40195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C8DFA63-FC65-4AB2-AE4B-5D1C800EA7C6}"/>
              </a:ext>
            </a:extLst>
          </p:cNvPr>
          <p:cNvSpPr>
            <a:spLocks xmlns:a="http://schemas.openxmlformats.org/drawingml/2006/main" noGrp="1"/>
          </p:cNvSpPr>
          <p:nvPr/>
        </p:nvSpPr>
        <p:spPr>
          <a:xfrm xmlns:a="http://schemas.openxmlformats.org/drawingml/2006/main">
            <a:off x="8496300" y="2457450"/>
            <a:ext cx="2857500" cy="3124200"/>
          </a:xfrm>
          <a:prstGeom xmlns:a="http://schemas.openxmlformats.org/drawingml/2006/main" prst="rect">
            <a:avLst/>
          </a:prstGeom>
          <a:solidFill xmlns:a="http://schemas.openxmlformats.org/drawingml/2006/main">
            <a:srgbClr val="12001E"/>
          </a:solidFill>
          <a:ln xmlns:a="http://schemas.openxmlformats.org/drawingml/2006/main" w="9525">
            <a:solidFill>
              <a:srgbClr val="342043"/>
            </a:solidFill>
            <a:prstDash val="solid"/>
          </a:ln>
        </p:spPr>
      </p:sp>
      <p:sp>
        <p:nvSpPr>
          <p:cNvPr id="13" name="">
            <a:extLst xmlns:a="http://schemas.openxmlformats.org/drawingml/2006/main">
              <a:ext uri="{FF2B5EF4-FFF2-40B4-BE49-F238E27FC236}">
                <a16:creationId xmlns:a16="http://schemas.microsoft.com/office/drawing/2014/main" id="{6E070DCF-5D1A-4B21-B515-F6046FBC5A25}"/>
              </a:ext>
            </a:extLst>
          </p:cNvPr>
          <p:cNvSpPr>
            <a:spLocks xmlns:a="http://schemas.openxmlformats.org/drawingml/2006/main" noGrp="1"/>
          </p:cNvSpPr>
          <p:nvPr/>
        </p:nvSpPr>
        <p:spPr>
          <a:xfrm xmlns:a="http://schemas.openxmlformats.org/drawingml/2006/main">
            <a:off x="8496300" y="2457450"/>
            <a:ext cx="38100" cy="3124200"/>
          </a:xfrm>
          <a:prstGeom xmlns:a="http://schemas.openxmlformats.org/drawingml/2006/main" prst="rect">
            <a:avLst/>
          </a:prstGeom>
          <a:solidFill xmlns:a="http://schemas.openxmlformats.org/drawingml/2006/main">
            <a:srgbClr val="7C3CFF"/>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CAB5DAC1-A210-48C5-95C8-4CA6BFDCD33B}"/>
              </a:ext>
            </a:extLst>
          </p:cNvPr>
          <p:cNvSpPr>
            <a:spLocks xmlns:a="http://schemas.openxmlformats.org/drawingml/2006/main" noGrp="1"/>
          </p:cNvSpPr>
          <p:nvPr/>
        </p:nvSpPr>
        <p:spPr>
          <a:xfrm xmlns:a="http://schemas.openxmlformats.org/drawingml/2006/main">
            <a:off x="8782050" y="2743200"/>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7C3CFF"/>
                </a:solidFill>
                <a:latin typeface="Aptos"/>
                <a:ea typeface="Aptos"/>
                <a:cs typeface="Aptos"/>
              </a:defRPr>
            </a:pPr>
            <a:r>
              <a:rPr sz="1350" b="1">
                <a:solidFill>
                  <a:srgbClr val="7C3CFF"/>
                </a:solidFill>
                <a:latin typeface="Aptos"/>
                <a:ea typeface="Aptos"/>
                <a:cs typeface="Aptos"/>
              </a:rPr>
              <a:t>What to point out</a:t>
            </a:r>
          </a:p>
        </p:txBody>
      </p:sp>
      <p:sp>
        <p:nvSpPr>
          <p:cNvPr id="15" name="">
            <a:extLst xmlns:a="http://schemas.openxmlformats.org/drawingml/2006/main">
              <a:ext uri="{FF2B5EF4-FFF2-40B4-BE49-F238E27FC236}">
                <a16:creationId xmlns:a16="http://schemas.microsoft.com/office/drawing/2014/main" id="{DA627BB8-3B02-4B81-A3A9-3E7D88EC9A9D}"/>
              </a:ext>
            </a:extLst>
          </p:cNvPr>
          <p:cNvSpPr>
            <a:spLocks xmlns:a="http://schemas.openxmlformats.org/drawingml/2006/main" noGrp="1"/>
          </p:cNvSpPr>
          <p:nvPr/>
        </p:nvSpPr>
        <p:spPr>
          <a:xfrm xmlns:a="http://schemas.openxmlformats.org/drawingml/2006/main">
            <a:off x="8782050" y="3228975"/>
            <a:ext cx="66675" cy="66675"/>
          </a:xfrm>
          <a:prstGeom xmlns:a="http://schemas.openxmlformats.org/drawingml/2006/main" prst="ellipse">
            <a:avLst/>
          </a:prstGeom>
          <a:solidFill xmlns:a="http://schemas.openxmlformats.org/drawingml/2006/main">
            <a:srgbClr val="7C3CFF"/>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FCFFBE00-D114-4DAA-907C-A9B1C3A5002E}"/>
              </a:ext>
            </a:extLst>
          </p:cNvPr>
          <p:cNvSpPr>
            <a:spLocks xmlns:a="http://schemas.openxmlformats.org/drawingml/2006/main" noGrp="1"/>
          </p:cNvSpPr>
          <p:nvPr/>
        </p:nvSpPr>
        <p:spPr>
          <a:xfrm xmlns:a="http://schemas.openxmlformats.org/drawingml/2006/main">
            <a:off x="8953500" y="3162300"/>
            <a:ext cx="201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Incident report preview</a:t>
            </a:r>
          </a:p>
        </p:txBody>
      </p:sp>
      <p:sp>
        <p:nvSpPr>
          <p:cNvPr id="17" name="">
            <a:extLst xmlns:a="http://schemas.openxmlformats.org/drawingml/2006/main">
              <a:ext uri="{FF2B5EF4-FFF2-40B4-BE49-F238E27FC236}">
                <a16:creationId xmlns:a16="http://schemas.microsoft.com/office/drawing/2014/main" id="{EF05DF85-CD67-4C5F-9E11-B5F9CB207DC7}"/>
              </a:ext>
            </a:extLst>
          </p:cNvPr>
          <p:cNvSpPr>
            <a:spLocks xmlns:a="http://schemas.openxmlformats.org/drawingml/2006/main" noGrp="1"/>
          </p:cNvSpPr>
          <p:nvPr/>
        </p:nvSpPr>
        <p:spPr>
          <a:xfrm xmlns:a="http://schemas.openxmlformats.org/drawingml/2006/main">
            <a:off x="8782050" y="3743325"/>
            <a:ext cx="66675" cy="66675"/>
          </a:xfrm>
          <a:prstGeom xmlns:a="http://schemas.openxmlformats.org/drawingml/2006/main" prst="ellipse">
            <a:avLst/>
          </a:prstGeom>
          <a:solidFill xmlns:a="http://schemas.openxmlformats.org/drawingml/2006/main">
            <a:srgbClr val="7C3CFF"/>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AA27E638-D054-4B7F-B882-5AA253039728}"/>
              </a:ext>
            </a:extLst>
          </p:cNvPr>
          <p:cNvSpPr>
            <a:spLocks xmlns:a="http://schemas.openxmlformats.org/drawingml/2006/main" noGrp="1"/>
          </p:cNvSpPr>
          <p:nvPr/>
        </p:nvSpPr>
        <p:spPr>
          <a:xfrm xmlns:a="http://schemas.openxmlformats.org/drawingml/2006/main">
            <a:off x="8953500" y="3676650"/>
            <a:ext cx="201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Weekly, monthly, and yearly exports</a:t>
            </a:r>
          </a:p>
        </p:txBody>
      </p:sp>
      <p:sp>
        <p:nvSpPr>
          <p:cNvPr id="19" name="">
            <a:extLst xmlns:a="http://schemas.openxmlformats.org/drawingml/2006/main">
              <a:ext uri="{FF2B5EF4-FFF2-40B4-BE49-F238E27FC236}">
                <a16:creationId xmlns:a16="http://schemas.microsoft.com/office/drawing/2014/main" id="{707C5E8B-5F60-46D0-A6D4-A850233DC3AC}"/>
              </a:ext>
            </a:extLst>
          </p:cNvPr>
          <p:cNvSpPr>
            <a:spLocks xmlns:a="http://schemas.openxmlformats.org/drawingml/2006/main" noGrp="1"/>
          </p:cNvSpPr>
          <p:nvPr/>
        </p:nvSpPr>
        <p:spPr>
          <a:xfrm xmlns:a="http://schemas.openxmlformats.org/drawingml/2006/main">
            <a:off x="8782050" y="4257675"/>
            <a:ext cx="66675" cy="66675"/>
          </a:xfrm>
          <a:prstGeom xmlns:a="http://schemas.openxmlformats.org/drawingml/2006/main" prst="ellipse">
            <a:avLst/>
          </a:prstGeom>
          <a:solidFill xmlns:a="http://schemas.openxmlformats.org/drawingml/2006/main">
            <a:srgbClr val="7C3CFF"/>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13223904-2E6E-4015-AFAB-AA4881DA1F6F}"/>
              </a:ext>
            </a:extLst>
          </p:cNvPr>
          <p:cNvSpPr>
            <a:spLocks xmlns:a="http://schemas.openxmlformats.org/drawingml/2006/main" noGrp="1"/>
          </p:cNvSpPr>
          <p:nvPr/>
        </p:nvSpPr>
        <p:spPr>
          <a:xfrm xmlns:a="http://schemas.openxmlformats.org/drawingml/2006/main">
            <a:off x="8953500" y="4191000"/>
            <a:ext cx="201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AI analyst summary and recommendations</a:t>
            </a:r>
          </a:p>
        </p:txBody>
      </p:sp>
      <p:sp>
        <p:nvSpPr>
          <p:cNvPr id="21" name="">
            <a:extLst xmlns:a="http://schemas.openxmlformats.org/drawingml/2006/main">
              <a:ext uri="{FF2B5EF4-FFF2-40B4-BE49-F238E27FC236}">
                <a16:creationId xmlns:a16="http://schemas.microsoft.com/office/drawing/2014/main" id="{EC7AEB1D-30E7-47B9-8F79-BC3838D6B574}"/>
              </a:ext>
            </a:extLst>
          </p:cNvPr>
          <p:cNvSpPr>
            <a:spLocks xmlns:a="http://schemas.openxmlformats.org/drawingml/2006/main" noGrp="1"/>
          </p:cNvSpPr>
          <p:nvPr/>
        </p:nvSpPr>
        <p:spPr>
          <a:xfrm xmlns:a="http://schemas.openxmlformats.org/drawingml/2006/main">
            <a:off x="8782050" y="4772025"/>
            <a:ext cx="66675" cy="66675"/>
          </a:xfrm>
          <a:prstGeom xmlns:a="http://schemas.openxmlformats.org/drawingml/2006/main" prst="ellipse">
            <a:avLst/>
          </a:prstGeom>
          <a:solidFill xmlns:a="http://schemas.openxmlformats.org/drawingml/2006/main">
            <a:srgbClr val="7C3CFF"/>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EF0E5BE2-A020-4989-8645-B3E7881DD05A}"/>
              </a:ext>
            </a:extLst>
          </p:cNvPr>
          <p:cNvSpPr>
            <a:spLocks xmlns:a="http://schemas.openxmlformats.org/drawingml/2006/main" noGrp="1"/>
          </p:cNvSpPr>
          <p:nvPr/>
        </p:nvSpPr>
        <p:spPr>
          <a:xfrm xmlns:a="http://schemas.openxmlformats.org/drawingml/2006/main">
            <a:off x="8953500" y="4705350"/>
            <a:ext cx="201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Evidence path for instructor evaluation</a:t>
            </a:r>
          </a:p>
        </p:txBody>
      </p:sp>
      <p:sp>
        <p:nvSpPr>
          <p:cNvPr id="23" name="">
            <a:extLst xmlns:a="http://schemas.openxmlformats.org/drawingml/2006/main">
              <a:ext uri="{FF2B5EF4-FFF2-40B4-BE49-F238E27FC236}">
                <a16:creationId xmlns:a16="http://schemas.microsoft.com/office/drawing/2014/main" id="{C72C8B2B-508F-4B21-A199-257D41346B69}"/>
              </a:ext>
            </a:extLst>
          </p:cNvPr>
          <p:cNvSpPr>
            <a:spLocks xmlns:a="http://schemas.openxmlformats.org/drawingml/2006/main" noGrp="1"/>
          </p:cNvSpPr>
          <p:nvPr/>
        </p:nvSpPr>
        <p:spPr>
          <a:xfrm xmlns:a="http://schemas.openxmlformats.org/drawingml/2006/main">
            <a:off x="685800" y="6400800"/>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A997BA"/>
                </a:solidFill>
                <a:latin typeface="Aptos"/>
                <a:ea typeface="Aptos"/>
                <a:cs typeface="Aptos"/>
              </a:defRPr>
            </a:pPr>
            <a:r>
              <a:rPr sz="750" b="0">
                <a:solidFill>
                  <a:srgbClr val="A997BA"/>
                </a:solidFill>
                <a:latin typeface="Aptos"/>
                <a:ea typeface="Aptos"/>
                <a:cs typeface="Aptos"/>
              </a:rPr>
              <a:t>EvoGuard Enterprise - Agentic AI Cyber Defense Platform</a:t>
            </a:r>
          </a:p>
        </p:txBody>
      </p:sp>
      <p:sp>
        <p:nvSpPr>
          <p:cNvPr id="24" name="">
            <a:extLst xmlns:a="http://schemas.openxmlformats.org/drawingml/2006/main">
              <a:ext uri="{FF2B5EF4-FFF2-40B4-BE49-F238E27FC236}">
                <a16:creationId xmlns:a16="http://schemas.microsoft.com/office/drawing/2014/main" id="{9385678E-7199-4E3E-9F1C-7D0E0C52D6EC}"/>
              </a:ext>
            </a:extLst>
          </p:cNvPr>
          <p:cNvSpPr>
            <a:spLocks xmlns:a="http://schemas.openxmlformats.org/drawingml/2006/main" noGrp="1"/>
          </p:cNvSpPr>
          <p:nvPr/>
        </p:nvSpPr>
        <p:spPr>
          <a:xfrm xmlns:a="http://schemas.openxmlformats.org/drawingml/2006/main">
            <a:off x="11125200" y="636270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0FFE0"/>
                </a:solidFill>
                <a:latin typeface="Aptos"/>
                <a:ea typeface="Aptos"/>
                <a:cs typeface="Aptos"/>
              </a:defRPr>
            </a:pPr>
            <a:r>
              <a:rPr sz="975" b="1">
                <a:solidFill>
                  <a:srgbClr val="00FFE0"/>
                </a:solidFill>
                <a:latin typeface="Aptos"/>
                <a:ea typeface="Aptos"/>
                <a:cs typeface="Aptos"/>
              </a:rPr>
              <a:t>08</a:t>
            </a:r>
          </a:p>
        </p:txBody>
      </p:sp>
    </p:spTree>
    <p:extLst>
      <p:ext uri="{BB962C8B-B14F-4D97-AF65-F5344CB8AC3E}">
        <p14:creationId xmlns:p14="http://schemas.microsoft.com/office/powerpoint/2010/main" val="169174165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B50F66E-1870-4900-A46B-411F7E26B22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0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F31A763-CF0E-41F2-9170-F034162CA12A}"/>
              </a:ext>
            </a:extLst>
          </p:cNvPr>
          <p:cNvSpPr>
            <a:spLocks xmlns:a="http://schemas.openxmlformats.org/drawingml/2006/main" noGrp="1"/>
          </p:cNvSpPr>
          <p:nvPr/>
        </p:nvSpPr>
        <p:spPr>
          <a:xfrm xmlns:a="http://schemas.openxmlformats.org/drawingml/2006/main">
            <a:off x="-1190625" y="-1333500"/>
            <a:ext cx="4095750" cy="4095750"/>
          </a:xfrm>
          <a:prstGeom xmlns:a="http://schemas.openxmlformats.org/drawingml/2006/main" prst="ellipse">
            <a:avLst/>
          </a:prstGeom>
          <a:solidFill xmlns:a="http://schemas.openxmlformats.org/drawingml/2006/main">
            <a:srgbClr val="32004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4267688-6EB6-489B-9434-BC10D0ACDDD9}"/>
              </a:ext>
            </a:extLst>
          </p:cNvPr>
          <p:cNvSpPr>
            <a:spLocks xmlns:a="http://schemas.openxmlformats.org/drawingml/2006/main" noGrp="1"/>
          </p:cNvSpPr>
          <p:nvPr/>
        </p:nvSpPr>
        <p:spPr>
          <a:xfrm xmlns:a="http://schemas.openxmlformats.org/drawingml/2006/main">
            <a:off x="9048750" y="-1143000"/>
            <a:ext cx="4095750" cy="4095750"/>
          </a:xfrm>
          <a:prstGeom xmlns:a="http://schemas.openxmlformats.org/drawingml/2006/main" prst="ellipse">
            <a:avLst/>
          </a:prstGeom>
          <a:solidFill xmlns:a="http://schemas.openxmlformats.org/drawingml/2006/main">
            <a:srgbClr val="160A34"/>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10017E5C-3C7D-4299-BA75-86DDDD3E24D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7ADBCC98-E719-4664-9570-B10B9E89DCD4}"/>
              </a:ext>
            </a:extLst>
          </p:cNvPr>
          <p:cNvSpPr>
            <a:spLocks xmlns:a="http://schemas.openxmlformats.org/drawingml/2006/main" noGrp="1"/>
          </p:cNvSpPr>
          <p:nvPr/>
        </p:nvSpPr>
        <p:spPr>
          <a:xfrm xmlns:a="http://schemas.openxmlformats.org/drawingml/2006/main">
            <a:off x="0" y="76200"/>
            <a:ext cx="12192000" cy="28575"/>
          </a:xfrm>
          <a:prstGeom xmlns:a="http://schemas.openxmlformats.org/drawingml/2006/main" prst="rect">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5689CBE7-A953-41A2-AEB2-7843565FC02D}"/>
              </a:ext>
            </a:extLst>
          </p:cNvPr>
          <p:cNvSpPr>
            <a:spLocks xmlns:a="http://schemas.openxmlformats.org/drawingml/2006/main" noGrp="1"/>
          </p:cNvSpPr>
          <p:nvPr/>
        </p:nvSpPr>
        <p:spPr>
          <a:xfrm xmlns:a="http://schemas.openxmlformats.org/drawingml/2006/main">
            <a:off x="685800" y="323850"/>
            <a:ext cx="400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00FFE0"/>
                </a:solidFill>
                <a:latin typeface="Aptos"/>
                <a:ea typeface="Aptos"/>
                <a:cs typeface="Aptos"/>
              </a:defRPr>
            </a:pPr>
            <a:r>
              <a:rPr sz="825" b="1">
                <a:solidFill>
                  <a:srgbClr val="00FFE0"/>
                </a:solidFill>
                <a:latin typeface="Aptos"/>
                <a:ea typeface="Aptos"/>
                <a:cs typeface="Aptos"/>
              </a:rPr>
              <a:t>AI DECISIONING</a:t>
            </a:r>
          </a:p>
        </p:txBody>
      </p:sp>
      <p:sp>
        <p:nvSpPr>
          <p:cNvPr id="7" name="">
            <a:extLst xmlns:a="http://schemas.openxmlformats.org/drawingml/2006/main">
              <a:ext uri="{FF2B5EF4-FFF2-40B4-BE49-F238E27FC236}">
                <a16:creationId xmlns:a16="http://schemas.microsoft.com/office/drawing/2014/main" id="{7A82FE1D-2384-428F-89BD-5CE0E79C68FF}"/>
              </a:ext>
            </a:extLst>
          </p:cNvPr>
          <p:cNvSpPr>
            <a:spLocks xmlns:a="http://schemas.openxmlformats.org/drawingml/2006/main" noGrp="1"/>
          </p:cNvSpPr>
          <p:nvPr/>
        </p:nvSpPr>
        <p:spPr>
          <a:xfrm xmlns:a="http://schemas.openxmlformats.org/drawingml/2006/main">
            <a:off x="685800" y="66675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F2BD6"/>
                </a:solidFill>
                <a:latin typeface="Aptos"/>
                <a:ea typeface="Aptos"/>
                <a:cs typeface="Aptos"/>
              </a:defRPr>
            </a:pPr>
            <a:r>
              <a:rPr sz="825" b="1">
                <a:solidFill>
                  <a:srgbClr val="FF2BD6"/>
                </a:solidFill>
                <a:latin typeface="Aptos"/>
                <a:ea typeface="Aptos"/>
                <a:cs typeface="Aptos"/>
              </a:rPr>
              <a:t>Agentic logic makes classifications explainable and actionable.</a:t>
            </a:r>
          </a:p>
        </p:txBody>
      </p:sp>
      <p:sp>
        <p:nvSpPr>
          <p:cNvPr id="8" name="">
            <a:extLst xmlns:a="http://schemas.openxmlformats.org/drawingml/2006/main">
              <a:ext uri="{FF2B5EF4-FFF2-40B4-BE49-F238E27FC236}">
                <a16:creationId xmlns:a16="http://schemas.microsoft.com/office/drawing/2014/main" id="{83BFC0B1-FFBA-44E9-A53C-0422BEFD144B}"/>
              </a:ext>
            </a:extLst>
          </p:cNvPr>
          <p:cNvSpPr>
            <a:spLocks xmlns:a="http://schemas.openxmlformats.org/drawingml/2006/main" noGrp="1"/>
          </p:cNvSpPr>
          <p:nvPr/>
        </p:nvSpPr>
        <p:spPr>
          <a:xfrm xmlns:a="http://schemas.openxmlformats.org/drawingml/2006/main">
            <a:off x="685800" y="933450"/>
            <a:ext cx="88582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7ECFF"/>
                </a:solidFill>
                <a:latin typeface="Aptos Display"/>
                <a:ea typeface="Aptos Display"/>
                <a:cs typeface="Aptos Display"/>
              </a:defRPr>
            </a:pPr>
            <a:r>
              <a:rPr sz="2550" b="1">
                <a:solidFill>
                  <a:srgbClr val="F7ECFF"/>
                </a:solidFill>
                <a:latin typeface="Aptos Display"/>
                <a:ea typeface="Aptos Display"/>
                <a:cs typeface="Aptos Display"/>
              </a:rPr>
              <a:t>The AI layer combines model output, attack category, risk scoring, IOC context, MITRE mapping, and autonomous response planning.</a:t>
            </a:r>
          </a:p>
        </p:txBody>
      </p:sp>
      <p:sp>
        <p:nvSpPr>
          <p:cNvPr id="9" name="">
            <a:extLst xmlns:a="http://schemas.openxmlformats.org/drawingml/2006/main">
              <a:ext uri="{FF2B5EF4-FFF2-40B4-BE49-F238E27FC236}">
                <a16:creationId xmlns:a16="http://schemas.microsoft.com/office/drawing/2014/main" id="{C6E03A7B-256F-4DBB-8634-6AC4CA9E9ACC}"/>
              </a:ext>
            </a:extLst>
          </p:cNvPr>
          <p:cNvSpPr>
            <a:spLocks xmlns:a="http://schemas.openxmlformats.org/drawingml/2006/main" noGrp="1"/>
          </p:cNvSpPr>
          <p:nvPr/>
        </p:nvSpPr>
        <p:spPr>
          <a:xfrm xmlns:a="http://schemas.openxmlformats.org/drawingml/2006/main">
            <a:off x="762000" y="2476500"/>
            <a:ext cx="3238500" cy="2952750"/>
          </a:xfrm>
          <a:prstGeom xmlns:a="http://schemas.openxmlformats.org/drawingml/2006/main" prst="rect">
            <a:avLst/>
          </a:prstGeom>
          <a:solidFill xmlns:a="http://schemas.openxmlformats.org/drawingml/2006/main">
            <a:srgbClr val="12001E"/>
          </a:solidFill>
          <a:ln xmlns:a="http://schemas.openxmlformats.org/drawingml/2006/main" w="9525">
            <a:solidFill>
              <a:srgbClr val="342043"/>
            </a:solidFill>
            <a:prstDash val="solid"/>
          </a:ln>
        </p:spPr>
      </p:sp>
      <p:sp>
        <p:nvSpPr>
          <p:cNvPr id="10" name="">
            <a:extLst xmlns:a="http://schemas.openxmlformats.org/drawingml/2006/main">
              <a:ext uri="{FF2B5EF4-FFF2-40B4-BE49-F238E27FC236}">
                <a16:creationId xmlns:a16="http://schemas.microsoft.com/office/drawing/2014/main" id="{1502106D-F4DA-4237-975A-97B2420DDA90}"/>
              </a:ext>
            </a:extLst>
          </p:cNvPr>
          <p:cNvSpPr>
            <a:spLocks xmlns:a="http://schemas.openxmlformats.org/drawingml/2006/main" noGrp="1"/>
          </p:cNvSpPr>
          <p:nvPr/>
        </p:nvSpPr>
        <p:spPr>
          <a:xfrm xmlns:a="http://schemas.openxmlformats.org/drawingml/2006/main">
            <a:off x="762000" y="2476500"/>
            <a:ext cx="38100" cy="2952750"/>
          </a:xfrm>
          <a:prstGeom xmlns:a="http://schemas.openxmlformats.org/drawingml/2006/main" prst="rect">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FE4FE202-79EC-44AE-9F86-3B577BB69E51}"/>
              </a:ext>
            </a:extLst>
          </p:cNvPr>
          <p:cNvSpPr>
            <a:spLocks xmlns:a="http://schemas.openxmlformats.org/drawingml/2006/main" noGrp="1"/>
          </p:cNvSpPr>
          <p:nvPr/>
        </p:nvSpPr>
        <p:spPr>
          <a:xfrm xmlns:a="http://schemas.openxmlformats.org/drawingml/2006/main">
            <a:off x="1047750" y="2781300"/>
            <a:ext cx="228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F2BD6"/>
                </a:solidFill>
                <a:latin typeface="Aptos"/>
                <a:ea typeface="Aptos"/>
                <a:cs typeface="Aptos"/>
              </a:defRPr>
            </a:pPr>
            <a:r>
              <a:rPr sz="1500" b="1">
                <a:solidFill>
                  <a:srgbClr val="FF2BD6"/>
                </a:solidFill>
                <a:latin typeface="Aptos"/>
                <a:ea typeface="Aptos"/>
                <a:cs typeface="Aptos"/>
              </a:rPr>
              <a:t>Input Event</a:t>
            </a:r>
          </a:p>
        </p:txBody>
      </p:sp>
      <p:sp>
        <p:nvSpPr>
          <p:cNvPr id="12" name="">
            <a:extLst xmlns:a="http://schemas.openxmlformats.org/drawingml/2006/main">
              <a:ext uri="{FF2B5EF4-FFF2-40B4-BE49-F238E27FC236}">
                <a16:creationId xmlns:a16="http://schemas.microsoft.com/office/drawing/2014/main" id="{5E5E0B6B-038A-406E-A617-7100B2E562E6}"/>
              </a:ext>
            </a:extLst>
          </p:cNvPr>
          <p:cNvSpPr>
            <a:spLocks xmlns:a="http://schemas.openxmlformats.org/drawingml/2006/main" noGrp="1"/>
          </p:cNvSpPr>
          <p:nvPr/>
        </p:nvSpPr>
        <p:spPr>
          <a:xfrm xmlns:a="http://schemas.openxmlformats.org/drawingml/2006/main">
            <a:off x="1085850" y="3324225"/>
            <a:ext cx="66675" cy="66675"/>
          </a:xfrm>
          <a:prstGeom xmlns:a="http://schemas.openxmlformats.org/drawingml/2006/main" prst="ellipse">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AC2738AB-B5D7-4434-90C3-19AB44ACFBC3}"/>
              </a:ext>
            </a:extLst>
          </p:cNvPr>
          <p:cNvSpPr>
            <a:spLocks xmlns:a="http://schemas.openxmlformats.org/drawingml/2006/main" noGrp="1"/>
          </p:cNvSpPr>
          <p:nvPr/>
        </p:nvSpPr>
        <p:spPr>
          <a:xfrm xmlns:a="http://schemas.openxmlformats.org/drawingml/2006/main">
            <a:off x="1257300" y="3257550"/>
            <a:ext cx="2305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Attack type and source IP</a:t>
            </a:r>
          </a:p>
        </p:txBody>
      </p:sp>
      <p:sp>
        <p:nvSpPr>
          <p:cNvPr id="14" name="">
            <a:extLst xmlns:a="http://schemas.openxmlformats.org/drawingml/2006/main">
              <a:ext uri="{FF2B5EF4-FFF2-40B4-BE49-F238E27FC236}">
                <a16:creationId xmlns:a16="http://schemas.microsoft.com/office/drawing/2014/main" id="{E8E53BD4-BEF1-45C4-87BD-02AB673B8C98}"/>
              </a:ext>
            </a:extLst>
          </p:cNvPr>
          <p:cNvSpPr>
            <a:spLocks xmlns:a="http://schemas.openxmlformats.org/drawingml/2006/main" noGrp="1"/>
          </p:cNvSpPr>
          <p:nvPr/>
        </p:nvSpPr>
        <p:spPr>
          <a:xfrm xmlns:a="http://schemas.openxmlformats.org/drawingml/2006/main">
            <a:off x="1085850" y="3876675"/>
            <a:ext cx="66675" cy="66675"/>
          </a:xfrm>
          <a:prstGeom xmlns:a="http://schemas.openxmlformats.org/drawingml/2006/main" prst="ellipse">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7C782953-2907-401B-BFF4-8006BED9C258}"/>
              </a:ext>
            </a:extLst>
          </p:cNvPr>
          <p:cNvSpPr>
            <a:spLocks xmlns:a="http://schemas.openxmlformats.org/drawingml/2006/main" noGrp="1"/>
          </p:cNvSpPr>
          <p:nvPr/>
        </p:nvSpPr>
        <p:spPr>
          <a:xfrm xmlns:a="http://schemas.openxmlformats.org/drawingml/2006/main">
            <a:off x="1257300" y="3810000"/>
            <a:ext cx="2305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Country and activity</a:t>
            </a:r>
          </a:p>
        </p:txBody>
      </p:sp>
      <p:sp>
        <p:nvSpPr>
          <p:cNvPr id="16" name="">
            <a:extLst xmlns:a="http://schemas.openxmlformats.org/drawingml/2006/main">
              <a:ext uri="{FF2B5EF4-FFF2-40B4-BE49-F238E27FC236}">
                <a16:creationId xmlns:a16="http://schemas.microsoft.com/office/drawing/2014/main" id="{064A1743-3F7C-448C-A6F8-4075A2719A43}"/>
              </a:ext>
            </a:extLst>
          </p:cNvPr>
          <p:cNvSpPr>
            <a:spLocks xmlns:a="http://schemas.openxmlformats.org/drawingml/2006/main" noGrp="1"/>
          </p:cNvSpPr>
          <p:nvPr/>
        </p:nvSpPr>
        <p:spPr>
          <a:xfrm xmlns:a="http://schemas.openxmlformats.org/drawingml/2006/main">
            <a:off x="1085850" y="4429125"/>
            <a:ext cx="66675" cy="66675"/>
          </a:xfrm>
          <a:prstGeom xmlns:a="http://schemas.openxmlformats.org/drawingml/2006/main" prst="ellipse">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1D6373DE-C4A7-4416-8789-FB2FFCE237AF}"/>
              </a:ext>
            </a:extLst>
          </p:cNvPr>
          <p:cNvSpPr>
            <a:spLocks xmlns:a="http://schemas.openxmlformats.org/drawingml/2006/main" noGrp="1"/>
          </p:cNvSpPr>
          <p:nvPr/>
        </p:nvSpPr>
        <p:spPr>
          <a:xfrm xmlns:a="http://schemas.openxmlformats.org/drawingml/2006/main">
            <a:off x="1257300" y="4362450"/>
            <a:ext cx="2305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Telemetry or CSV/API input</a:t>
            </a:r>
          </a:p>
        </p:txBody>
      </p:sp>
      <p:sp>
        <p:nvSpPr>
          <p:cNvPr id="18" name="">
            <a:extLst xmlns:a="http://schemas.openxmlformats.org/drawingml/2006/main">
              <a:ext uri="{FF2B5EF4-FFF2-40B4-BE49-F238E27FC236}">
                <a16:creationId xmlns:a16="http://schemas.microsoft.com/office/drawing/2014/main" id="{0D200F07-AB2B-40F0-946F-0F7AF64DD1A6}"/>
              </a:ext>
            </a:extLst>
          </p:cNvPr>
          <p:cNvSpPr>
            <a:spLocks xmlns:a="http://schemas.openxmlformats.org/drawingml/2006/main" noGrp="1"/>
          </p:cNvSpPr>
          <p:nvPr/>
        </p:nvSpPr>
        <p:spPr>
          <a:xfrm xmlns:a="http://schemas.openxmlformats.org/drawingml/2006/main">
            <a:off x="4552950" y="2476500"/>
            <a:ext cx="3238500" cy="2952750"/>
          </a:xfrm>
          <a:prstGeom xmlns:a="http://schemas.openxmlformats.org/drawingml/2006/main" prst="rect">
            <a:avLst/>
          </a:prstGeom>
          <a:solidFill xmlns:a="http://schemas.openxmlformats.org/drawingml/2006/main">
            <a:srgbClr val="12001E"/>
          </a:solidFill>
          <a:ln xmlns:a="http://schemas.openxmlformats.org/drawingml/2006/main" w="9525">
            <a:solidFill>
              <a:srgbClr val="342043"/>
            </a:solidFill>
            <a:prstDash val="solid"/>
          </a:ln>
        </p:spPr>
      </p:sp>
      <p:sp>
        <p:nvSpPr>
          <p:cNvPr id="19" name="">
            <a:extLst xmlns:a="http://schemas.openxmlformats.org/drawingml/2006/main">
              <a:ext uri="{FF2B5EF4-FFF2-40B4-BE49-F238E27FC236}">
                <a16:creationId xmlns:a16="http://schemas.microsoft.com/office/drawing/2014/main" id="{1B2E9AC9-978B-41E7-950A-65C3D17372F2}"/>
              </a:ext>
            </a:extLst>
          </p:cNvPr>
          <p:cNvSpPr>
            <a:spLocks xmlns:a="http://schemas.openxmlformats.org/drawingml/2006/main" noGrp="1"/>
          </p:cNvSpPr>
          <p:nvPr/>
        </p:nvSpPr>
        <p:spPr>
          <a:xfrm xmlns:a="http://schemas.openxmlformats.org/drawingml/2006/main">
            <a:off x="4552950" y="2476500"/>
            <a:ext cx="38100" cy="2952750"/>
          </a:xfrm>
          <a:prstGeom xmlns:a="http://schemas.openxmlformats.org/drawingml/2006/main" prst="rect">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A40A7A08-88B1-4191-A5A8-64CB8D0F4179}"/>
              </a:ext>
            </a:extLst>
          </p:cNvPr>
          <p:cNvSpPr>
            <a:spLocks xmlns:a="http://schemas.openxmlformats.org/drawingml/2006/main" noGrp="1"/>
          </p:cNvSpPr>
          <p:nvPr/>
        </p:nvSpPr>
        <p:spPr>
          <a:xfrm xmlns:a="http://schemas.openxmlformats.org/drawingml/2006/main">
            <a:off x="4838700" y="2781300"/>
            <a:ext cx="228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FFE0"/>
                </a:solidFill>
                <a:latin typeface="Aptos"/>
                <a:ea typeface="Aptos"/>
                <a:cs typeface="Aptos"/>
              </a:defRPr>
            </a:pPr>
            <a:r>
              <a:rPr sz="1500" b="1">
                <a:solidFill>
                  <a:srgbClr val="00FFE0"/>
                </a:solidFill>
                <a:latin typeface="Aptos"/>
                <a:ea typeface="Aptos"/>
                <a:cs typeface="Aptos"/>
              </a:rPr>
              <a:t>AI Analysis</a:t>
            </a:r>
          </a:p>
        </p:txBody>
      </p:sp>
      <p:sp>
        <p:nvSpPr>
          <p:cNvPr id="21" name="">
            <a:extLst xmlns:a="http://schemas.openxmlformats.org/drawingml/2006/main">
              <a:ext uri="{FF2B5EF4-FFF2-40B4-BE49-F238E27FC236}">
                <a16:creationId xmlns:a16="http://schemas.microsoft.com/office/drawing/2014/main" id="{184F1960-A438-4953-9B08-9E53193ABFD5}"/>
              </a:ext>
            </a:extLst>
          </p:cNvPr>
          <p:cNvSpPr>
            <a:spLocks xmlns:a="http://schemas.openxmlformats.org/drawingml/2006/main" noGrp="1"/>
          </p:cNvSpPr>
          <p:nvPr/>
        </p:nvSpPr>
        <p:spPr>
          <a:xfrm xmlns:a="http://schemas.openxmlformats.org/drawingml/2006/main">
            <a:off x="4876800" y="3324225"/>
            <a:ext cx="66675" cy="66675"/>
          </a:xfrm>
          <a:prstGeom xmlns:a="http://schemas.openxmlformats.org/drawingml/2006/main" prst="ellipse">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D29522D0-D9D3-42C1-B5A9-53F042FDC214}"/>
              </a:ext>
            </a:extLst>
          </p:cNvPr>
          <p:cNvSpPr>
            <a:spLocks xmlns:a="http://schemas.openxmlformats.org/drawingml/2006/main" noGrp="1"/>
          </p:cNvSpPr>
          <p:nvPr/>
        </p:nvSpPr>
        <p:spPr>
          <a:xfrm xmlns:a="http://schemas.openxmlformats.org/drawingml/2006/main">
            <a:off x="5048250" y="3257550"/>
            <a:ext cx="2305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Classify attack label</a:t>
            </a:r>
          </a:p>
        </p:txBody>
      </p:sp>
      <p:sp>
        <p:nvSpPr>
          <p:cNvPr id="23" name="">
            <a:extLst xmlns:a="http://schemas.openxmlformats.org/drawingml/2006/main">
              <a:ext uri="{FF2B5EF4-FFF2-40B4-BE49-F238E27FC236}">
                <a16:creationId xmlns:a16="http://schemas.microsoft.com/office/drawing/2014/main" id="{C6B8F8F8-92A4-4EEF-8624-50389582509C}"/>
              </a:ext>
            </a:extLst>
          </p:cNvPr>
          <p:cNvSpPr>
            <a:spLocks xmlns:a="http://schemas.openxmlformats.org/drawingml/2006/main" noGrp="1"/>
          </p:cNvSpPr>
          <p:nvPr/>
        </p:nvSpPr>
        <p:spPr>
          <a:xfrm xmlns:a="http://schemas.openxmlformats.org/drawingml/2006/main">
            <a:off x="4876800" y="3876675"/>
            <a:ext cx="66675" cy="66675"/>
          </a:xfrm>
          <a:prstGeom xmlns:a="http://schemas.openxmlformats.org/drawingml/2006/main" prst="ellipse">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2ED57F73-2BB7-4B2D-BDEF-7CB57F093EB1}"/>
              </a:ext>
            </a:extLst>
          </p:cNvPr>
          <p:cNvSpPr>
            <a:spLocks xmlns:a="http://schemas.openxmlformats.org/drawingml/2006/main" noGrp="1"/>
          </p:cNvSpPr>
          <p:nvPr/>
        </p:nvSpPr>
        <p:spPr>
          <a:xfrm xmlns:a="http://schemas.openxmlformats.org/drawingml/2006/main">
            <a:off x="5048250" y="3810000"/>
            <a:ext cx="2305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Score risk and confidence</a:t>
            </a:r>
          </a:p>
        </p:txBody>
      </p:sp>
      <p:sp>
        <p:nvSpPr>
          <p:cNvPr id="25" name="">
            <a:extLst xmlns:a="http://schemas.openxmlformats.org/drawingml/2006/main">
              <a:ext uri="{FF2B5EF4-FFF2-40B4-BE49-F238E27FC236}">
                <a16:creationId xmlns:a16="http://schemas.microsoft.com/office/drawing/2014/main" id="{951591FB-D87D-43B4-9E3C-738989A69DA7}"/>
              </a:ext>
            </a:extLst>
          </p:cNvPr>
          <p:cNvSpPr>
            <a:spLocks xmlns:a="http://schemas.openxmlformats.org/drawingml/2006/main" noGrp="1"/>
          </p:cNvSpPr>
          <p:nvPr/>
        </p:nvSpPr>
        <p:spPr>
          <a:xfrm xmlns:a="http://schemas.openxmlformats.org/drawingml/2006/main">
            <a:off x="4876800" y="4429125"/>
            <a:ext cx="66675" cy="66675"/>
          </a:xfrm>
          <a:prstGeom xmlns:a="http://schemas.openxmlformats.org/drawingml/2006/main" prst="ellipse">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17358106-C652-4496-AC14-43B3F4197506}"/>
              </a:ext>
            </a:extLst>
          </p:cNvPr>
          <p:cNvSpPr>
            <a:spLocks xmlns:a="http://schemas.openxmlformats.org/drawingml/2006/main" noGrp="1"/>
          </p:cNvSpPr>
          <p:nvPr/>
        </p:nvSpPr>
        <p:spPr>
          <a:xfrm xmlns:a="http://schemas.openxmlformats.org/drawingml/2006/main">
            <a:off x="5048250" y="4362450"/>
            <a:ext cx="2305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Enrich with IOC + MITRE</a:t>
            </a:r>
          </a:p>
        </p:txBody>
      </p:sp>
      <p:sp>
        <p:nvSpPr>
          <p:cNvPr id="27" name="">
            <a:extLst xmlns:a="http://schemas.openxmlformats.org/drawingml/2006/main">
              <a:ext uri="{FF2B5EF4-FFF2-40B4-BE49-F238E27FC236}">
                <a16:creationId xmlns:a16="http://schemas.microsoft.com/office/drawing/2014/main" id="{F2DCC197-3073-463F-9D24-70E98F81C7E7}"/>
              </a:ext>
            </a:extLst>
          </p:cNvPr>
          <p:cNvSpPr>
            <a:spLocks xmlns:a="http://schemas.openxmlformats.org/drawingml/2006/main" noGrp="1"/>
          </p:cNvSpPr>
          <p:nvPr/>
        </p:nvSpPr>
        <p:spPr>
          <a:xfrm xmlns:a="http://schemas.openxmlformats.org/drawingml/2006/main">
            <a:off x="8153400" y="2476500"/>
            <a:ext cx="3238500" cy="2952750"/>
          </a:xfrm>
          <a:prstGeom xmlns:a="http://schemas.openxmlformats.org/drawingml/2006/main" prst="rect">
            <a:avLst/>
          </a:prstGeom>
          <a:solidFill xmlns:a="http://schemas.openxmlformats.org/drawingml/2006/main">
            <a:srgbClr val="12001E"/>
          </a:solidFill>
          <a:ln xmlns:a="http://schemas.openxmlformats.org/drawingml/2006/main" w="9525">
            <a:solidFill>
              <a:srgbClr val="342043"/>
            </a:solidFill>
            <a:prstDash val="solid"/>
          </a:ln>
        </p:spPr>
      </p:sp>
      <p:sp>
        <p:nvSpPr>
          <p:cNvPr id="28" name="">
            <a:extLst xmlns:a="http://schemas.openxmlformats.org/drawingml/2006/main">
              <a:ext uri="{FF2B5EF4-FFF2-40B4-BE49-F238E27FC236}">
                <a16:creationId xmlns:a16="http://schemas.microsoft.com/office/drawing/2014/main" id="{B3CD913E-73B5-495B-B785-F80E180CDA8E}"/>
              </a:ext>
            </a:extLst>
          </p:cNvPr>
          <p:cNvSpPr>
            <a:spLocks xmlns:a="http://schemas.openxmlformats.org/drawingml/2006/main" noGrp="1"/>
          </p:cNvSpPr>
          <p:nvPr/>
        </p:nvSpPr>
        <p:spPr>
          <a:xfrm xmlns:a="http://schemas.openxmlformats.org/drawingml/2006/main">
            <a:off x="8153400" y="2476500"/>
            <a:ext cx="38100" cy="2952750"/>
          </a:xfrm>
          <a:prstGeom xmlns:a="http://schemas.openxmlformats.org/drawingml/2006/main" prst="rect">
            <a:avLst/>
          </a:prstGeom>
          <a:solidFill xmlns:a="http://schemas.openxmlformats.org/drawingml/2006/main">
            <a:srgbClr val="2CFF9B"/>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910E6E10-F0B1-4C75-B434-7714A631E18B}"/>
              </a:ext>
            </a:extLst>
          </p:cNvPr>
          <p:cNvSpPr>
            <a:spLocks xmlns:a="http://schemas.openxmlformats.org/drawingml/2006/main" noGrp="1"/>
          </p:cNvSpPr>
          <p:nvPr/>
        </p:nvSpPr>
        <p:spPr>
          <a:xfrm xmlns:a="http://schemas.openxmlformats.org/drawingml/2006/main">
            <a:off x="8439150" y="2781300"/>
            <a:ext cx="228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2CFF9B"/>
                </a:solidFill>
                <a:latin typeface="Aptos"/>
                <a:ea typeface="Aptos"/>
                <a:cs typeface="Aptos"/>
              </a:defRPr>
            </a:pPr>
            <a:r>
              <a:rPr sz="1500" b="1">
                <a:solidFill>
                  <a:srgbClr val="2CFF9B"/>
                </a:solidFill>
                <a:latin typeface="Aptos"/>
                <a:ea typeface="Aptos"/>
                <a:cs typeface="Aptos"/>
              </a:rPr>
              <a:t>System Output</a:t>
            </a:r>
          </a:p>
        </p:txBody>
      </p:sp>
      <p:sp>
        <p:nvSpPr>
          <p:cNvPr id="30" name="">
            <a:extLst xmlns:a="http://schemas.openxmlformats.org/drawingml/2006/main">
              <a:ext uri="{FF2B5EF4-FFF2-40B4-BE49-F238E27FC236}">
                <a16:creationId xmlns:a16="http://schemas.microsoft.com/office/drawing/2014/main" id="{87EC2901-B5B1-4AEB-BB4B-ED3D1DB3D6CD}"/>
              </a:ext>
            </a:extLst>
          </p:cNvPr>
          <p:cNvSpPr>
            <a:spLocks xmlns:a="http://schemas.openxmlformats.org/drawingml/2006/main" noGrp="1"/>
          </p:cNvSpPr>
          <p:nvPr/>
        </p:nvSpPr>
        <p:spPr>
          <a:xfrm xmlns:a="http://schemas.openxmlformats.org/drawingml/2006/main">
            <a:off x="8477250" y="3324225"/>
            <a:ext cx="66675" cy="66675"/>
          </a:xfrm>
          <a:prstGeom xmlns:a="http://schemas.openxmlformats.org/drawingml/2006/main" prst="ellipse">
            <a:avLst/>
          </a:prstGeom>
          <a:solidFill xmlns:a="http://schemas.openxmlformats.org/drawingml/2006/main">
            <a:srgbClr val="2CFF9B"/>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23709FC6-CC59-4FDF-8F1E-8002659E0099}"/>
              </a:ext>
            </a:extLst>
          </p:cNvPr>
          <p:cNvSpPr>
            <a:spLocks xmlns:a="http://schemas.openxmlformats.org/drawingml/2006/main" noGrp="1"/>
          </p:cNvSpPr>
          <p:nvPr/>
        </p:nvSpPr>
        <p:spPr>
          <a:xfrm xmlns:a="http://schemas.openxmlformats.org/drawingml/2006/main">
            <a:off x="8648700" y="3257550"/>
            <a:ext cx="2305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Dashboard alert + logs</a:t>
            </a:r>
          </a:p>
        </p:txBody>
      </p:sp>
      <p:sp>
        <p:nvSpPr>
          <p:cNvPr id="32" name="">
            <a:extLst xmlns:a="http://schemas.openxmlformats.org/drawingml/2006/main">
              <a:ext uri="{FF2B5EF4-FFF2-40B4-BE49-F238E27FC236}">
                <a16:creationId xmlns:a16="http://schemas.microsoft.com/office/drawing/2014/main" id="{8F0C6997-50F6-48FB-B751-1FD26ED2437E}"/>
              </a:ext>
            </a:extLst>
          </p:cNvPr>
          <p:cNvSpPr>
            <a:spLocks xmlns:a="http://schemas.openxmlformats.org/drawingml/2006/main" noGrp="1"/>
          </p:cNvSpPr>
          <p:nvPr/>
        </p:nvSpPr>
        <p:spPr>
          <a:xfrm xmlns:a="http://schemas.openxmlformats.org/drawingml/2006/main">
            <a:off x="8477250" y="3876675"/>
            <a:ext cx="66675" cy="66675"/>
          </a:xfrm>
          <a:prstGeom xmlns:a="http://schemas.openxmlformats.org/drawingml/2006/main" prst="ellipse">
            <a:avLst/>
          </a:prstGeom>
          <a:solidFill xmlns:a="http://schemas.openxmlformats.org/drawingml/2006/main">
            <a:srgbClr val="2CFF9B"/>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3056DFEC-05A2-4FD9-907B-AC1E8D3ABC52}"/>
              </a:ext>
            </a:extLst>
          </p:cNvPr>
          <p:cNvSpPr>
            <a:spLocks xmlns:a="http://schemas.openxmlformats.org/drawingml/2006/main" noGrp="1"/>
          </p:cNvSpPr>
          <p:nvPr/>
        </p:nvSpPr>
        <p:spPr>
          <a:xfrm xmlns:a="http://schemas.openxmlformats.org/drawingml/2006/main">
            <a:off x="8648700" y="3810000"/>
            <a:ext cx="2305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Attack map source route</a:t>
            </a:r>
          </a:p>
        </p:txBody>
      </p:sp>
      <p:sp>
        <p:nvSpPr>
          <p:cNvPr id="34" name="">
            <a:extLst xmlns:a="http://schemas.openxmlformats.org/drawingml/2006/main">
              <a:ext uri="{FF2B5EF4-FFF2-40B4-BE49-F238E27FC236}">
                <a16:creationId xmlns:a16="http://schemas.microsoft.com/office/drawing/2014/main" id="{F5D814E4-5A0B-4CDA-AB6B-0350FBF2199E}"/>
              </a:ext>
            </a:extLst>
          </p:cNvPr>
          <p:cNvSpPr>
            <a:spLocks xmlns:a="http://schemas.openxmlformats.org/drawingml/2006/main" noGrp="1"/>
          </p:cNvSpPr>
          <p:nvPr/>
        </p:nvSpPr>
        <p:spPr>
          <a:xfrm xmlns:a="http://schemas.openxmlformats.org/drawingml/2006/main">
            <a:off x="8477250" y="4429125"/>
            <a:ext cx="66675" cy="66675"/>
          </a:xfrm>
          <a:prstGeom xmlns:a="http://schemas.openxmlformats.org/drawingml/2006/main" prst="ellipse">
            <a:avLst/>
          </a:prstGeom>
          <a:solidFill xmlns:a="http://schemas.openxmlformats.org/drawingml/2006/main">
            <a:srgbClr val="2CFF9B"/>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063524E8-B9B5-45BE-A51D-8E30AF5892D0}"/>
              </a:ext>
            </a:extLst>
          </p:cNvPr>
          <p:cNvSpPr>
            <a:spLocks xmlns:a="http://schemas.openxmlformats.org/drawingml/2006/main" noGrp="1"/>
          </p:cNvSpPr>
          <p:nvPr/>
        </p:nvSpPr>
        <p:spPr>
          <a:xfrm xmlns:a="http://schemas.openxmlformats.org/drawingml/2006/main">
            <a:off x="8648700" y="4362450"/>
            <a:ext cx="2305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7ECFF"/>
                </a:solidFill>
                <a:latin typeface="Aptos"/>
                <a:ea typeface="Aptos"/>
                <a:cs typeface="Aptos"/>
              </a:defRPr>
            </a:pPr>
            <a:r>
              <a:rPr sz="1050" b="0">
                <a:solidFill>
                  <a:srgbClr val="F7ECFF"/>
                </a:solidFill>
                <a:latin typeface="Aptos"/>
                <a:ea typeface="Aptos"/>
                <a:cs typeface="Aptos"/>
              </a:rPr>
              <a:t>Report and incident history</a:t>
            </a:r>
          </a:p>
        </p:txBody>
      </p:sp>
      <p:sp>
        <p:nvSpPr>
          <p:cNvPr id="36" name="">
            <a:extLst xmlns:a="http://schemas.openxmlformats.org/drawingml/2006/main">
              <a:ext uri="{FF2B5EF4-FFF2-40B4-BE49-F238E27FC236}">
                <a16:creationId xmlns:a16="http://schemas.microsoft.com/office/drawing/2014/main" id="{5F9A99AA-59FE-473E-A9F8-8BD460E86F07}"/>
              </a:ext>
            </a:extLst>
          </p:cNvPr>
          <p:cNvSpPr>
            <a:spLocks xmlns:a="http://schemas.openxmlformats.org/drawingml/2006/main" noGrp="1"/>
          </p:cNvSpPr>
          <p:nvPr/>
        </p:nvSpPr>
        <p:spPr>
          <a:xfrm xmlns:a="http://schemas.openxmlformats.org/drawingml/2006/main">
            <a:off x="4000500" y="3943350"/>
            <a:ext cx="552450" cy="28575"/>
          </a:xfrm>
          <a:prstGeom xmlns:a="http://schemas.openxmlformats.org/drawingml/2006/main" prst="rect">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B2EE2D1B-0E51-4DD6-89E2-5F15576D2F95}"/>
              </a:ext>
            </a:extLst>
          </p:cNvPr>
          <p:cNvSpPr>
            <a:spLocks xmlns:a="http://schemas.openxmlformats.org/drawingml/2006/main" noGrp="1"/>
          </p:cNvSpPr>
          <p:nvPr/>
        </p:nvSpPr>
        <p:spPr>
          <a:xfrm xmlns:a="http://schemas.openxmlformats.org/drawingml/2006/main">
            <a:off x="7791450" y="3943350"/>
            <a:ext cx="361950" cy="28575"/>
          </a:xfrm>
          <a:prstGeom xmlns:a="http://schemas.openxmlformats.org/drawingml/2006/main" prst="rect">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2AA9441E-20D4-4366-8AC1-92E77D31308D}"/>
              </a:ext>
            </a:extLst>
          </p:cNvPr>
          <p:cNvSpPr>
            <a:spLocks xmlns:a="http://schemas.openxmlformats.org/drawingml/2006/main" noGrp="1"/>
          </p:cNvSpPr>
          <p:nvPr/>
        </p:nvSpPr>
        <p:spPr>
          <a:xfrm xmlns:a="http://schemas.openxmlformats.org/drawingml/2006/main">
            <a:off x="685800" y="6400800"/>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A997BA"/>
                </a:solidFill>
                <a:latin typeface="Aptos"/>
                <a:ea typeface="Aptos"/>
                <a:cs typeface="Aptos"/>
              </a:defRPr>
            </a:pPr>
            <a:r>
              <a:rPr sz="750" b="0">
                <a:solidFill>
                  <a:srgbClr val="A997BA"/>
                </a:solidFill>
                <a:latin typeface="Aptos"/>
                <a:ea typeface="Aptos"/>
                <a:cs typeface="Aptos"/>
              </a:rPr>
              <a:t>EvoGuard Enterprise - Agentic AI Cyber Defense Platform</a:t>
            </a:r>
          </a:p>
        </p:txBody>
      </p:sp>
      <p:sp>
        <p:nvSpPr>
          <p:cNvPr id="39" name="">
            <a:extLst xmlns:a="http://schemas.openxmlformats.org/drawingml/2006/main">
              <a:ext uri="{FF2B5EF4-FFF2-40B4-BE49-F238E27FC236}">
                <a16:creationId xmlns:a16="http://schemas.microsoft.com/office/drawing/2014/main" id="{71A52029-F9C0-4D5B-9FD4-17ABA20FB07D}"/>
              </a:ext>
            </a:extLst>
          </p:cNvPr>
          <p:cNvSpPr>
            <a:spLocks xmlns:a="http://schemas.openxmlformats.org/drawingml/2006/main" noGrp="1"/>
          </p:cNvSpPr>
          <p:nvPr/>
        </p:nvSpPr>
        <p:spPr>
          <a:xfrm xmlns:a="http://schemas.openxmlformats.org/drawingml/2006/main">
            <a:off x="11125200" y="636270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0FFE0"/>
                </a:solidFill>
                <a:latin typeface="Aptos"/>
                <a:ea typeface="Aptos"/>
                <a:cs typeface="Aptos"/>
              </a:defRPr>
            </a:pPr>
            <a:r>
              <a:rPr sz="975" b="1">
                <a:solidFill>
                  <a:srgbClr val="00FFE0"/>
                </a:solidFill>
                <a:latin typeface="Aptos"/>
                <a:ea typeface="Aptos"/>
                <a:cs typeface="Aptos"/>
              </a:rPr>
              <a:t>09</a:t>
            </a:r>
          </a:p>
        </p:txBody>
      </p:sp>
    </p:spTree>
    <p:extLst>
      <p:ext uri="{BB962C8B-B14F-4D97-AF65-F5344CB8AC3E}">
        <p14:creationId xmlns:p14="http://schemas.microsoft.com/office/powerpoint/2010/main" val="201881996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4EB4CEC-F7DE-4BE6-ABC8-B43F74D1312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0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315F6A0-2AB9-4B78-ADF9-6CB0B7A1A93E}"/>
              </a:ext>
            </a:extLst>
          </p:cNvPr>
          <p:cNvSpPr>
            <a:spLocks xmlns:a="http://schemas.openxmlformats.org/drawingml/2006/main" noGrp="1"/>
          </p:cNvSpPr>
          <p:nvPr/>
        </p:nvSpPr>
        <p:spPr>
          <a:xfrm xmlns:a="http://schemas.openxmlformats.org/drawingml/2006/main">
            <a:off x="-1190625" y="-1333500"/>
            <a:ext cx="4095750" cy="4095750"/>
          </a:xfrm>
          <a:prstGeom xmlns:a="http://schemas.openxmlformats.org/drawingml/2006/main" prst="ellipse">
            <a:avLst/>
          </a:prstGeom>
          <a:solidFill xmlns:a="http://schemas.openxmlformats.org/drawingml/2006/main">
            <a:srgbClr val="32004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5100B08-097D-49E5-AAC5-1706786BEEB5}"/>
              </a:ext>
            </a:extLst>
          </p:cNvPr>
          <p:cNvSpPr>
            <a:spLocks xmlns:a="http://schemas.openxmlformats.org/drawingml/2006/main" noGrp="1"/>
          </p:cNvSpPr>
          <p:nvPr/>
        </p:nvSpPr>
        <p:spPr>
          <a:xfrm xmlns:a="http://schemas.openxmlformats.org/drawingml/2006/main">
            <a:off x="9048750" y="-1143000"/>
            <a:ext cx="4095750" cy="4095750"/>
          </a:xfrm>
          <a:prstGeom xmlns:a="http://schemas.openxmlformats.org/drawingml/2006/main" prst="ellipse">
            <a:avLst/>
          </a:prstGeom>
          <a:solidFill xmlns:a="http://schemas.openxmlformats.org/drawingml/2006/main">
            <a:srgbClr val="160A34"/>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FBC8A9C2-0FEF-403E-9492-18A5566C704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C6CB71FB-5828-4B0F-BE68-123FD2392E40}"/>
              </a:ext>
            </a:extLst>
          </p:cNvPr>
          <p:cNvSpPr>
            <a:spLocks xmlns:a="http://schemas.openxmlformats.org/drawingml/2006/main" noGrp="1"/>
          </p:cNvSpPr>
          <p:nvPr/>
        </p:nvSpPr>
        <p:spPr>
          <a:xfrm xmlns:a="http://schemas.openxmlformats.org/drawingml/2006/main">
            <a:off x="0" y="76200"/>
            <a:ext cx="12192000" cy="28575"/>
          </a:xfrm>
          <a:prstGeom xmlns:a="http://schemas.openxmlformats.org/drawingml/2006/main" prst="rect">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B3DF2D0D-520E-4E4F-A0FF-E3D72E93CF3A}"/>
              </a:ext>
            </a:extLst>
          </p:cNvPr>
          <p:cNvSpPr>
            <a:spLocks xmlns:a="http://schemas.openxmlformats.org/drawingml/2006/main" noGrp="1"/>
          </p:cNvSpPr>
          <p:nvPr/>
        </p:nvSpPr>
        <p:spPr>
          <a:xfrm xmlns:a="http://schemas.openxmlformats.org/drawingml/2006/main">
            <a:off x="685800" y="323850"/>
            <a:ext cx="400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00FFE0"/>
                </a:solidFill>
                <a:latin typeface="Aptos"/>
                <a:ea typeface="Aptos"/>
                <a:cs typeface="Aptos"/>
              </a:defRPr>
            </a:pPr>
            <a:r>
              <a:rPr sz="825" b="1">
                <a:solidFill>
                  <a:srgbClr val="00FFE0"/>
                </a:solidFill>
                <a:latin typeface="Aptos"/>
                <a:ea typeface="Aptos"/>
                <a:cs typeface="Aptos"/>
              </a:rPr>
              <a:t>COMPLETED ENGINEERING</a:t>
            </a:r>
          </a:p>
        </p:txBody>
      </p:sp>
      <p:sp>
        <p:nvSpPr>
          <p:cNvPr id="7" name="">
            <a:extLst xmlns:a="http://schemas.openxmlformats.org/drawingml/2006/main">
              <a:ext uri="{FF2B5EF4-FFF2-40B4-BE49-F238E27FC236}">
                <a16:creationId xmlns:a16="http://schemas.microsoft.com/office/drawing/2014/main" id="{ABE0238D-F02F-44BA-959F-97FBF180FDCB}"/>
              </a:ext>
            </a:extLst>
          </p:cNvPr>
          <p:cNvSpPr>
            <a:spLocks xmlns:a="http://schemas.openxmlformats.org/drawingml/2006/main" noGrp="1"/>
          </p:cNvSpPr>
          <p:nvPr/>
        </p:nvSpPr>
        <p:spPr>
          <a:xfrm xmlns:a="http://schemas.openxmlformats.org/drawingml/2006/main">
            <a:off x="685800" y="66675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F2BD6"/>
                </a:solidFill>
                <a:latin typeface="Aptos"/>
                <a:ea typeface="Aptos"/>
                <a:cs typeface="Aptos"/>
              </a:defRPr>
            </a:pPr>
            <a:r>
              <a:rPr sz="825" b="1">
                <a:solidFill>
                  <a:srgbClr val="FF2BD6"/>
                </a:solidFill>
                <a:latin typeface="Aptos"/>
                <a:ea typeface="Aptos"/>
                <a:cs typeface="Aptos"/>
              </a:rPr>
              <a:t>The implementation has moved beyond UI styling into backend-led cyber workflows.</a:t>
            </a:r>
          </a:p>
        </p:txBody>
      </p:sp>
      <p:sp>
        <p:nvSpPr>
          <p:cNvPr id="8" name="">
            <a:extLst xmlns:a="http://schemas.openxmlformats.org/drawingml/2006/main">
              <a:ext uri="{FF2B5EF4-FFF2-40B4-BE49-F238E27FC236}">
                <a16:creationId xmlns:a16="http://schemas.microsoft.com/office/drawing/2014/main" id="{B0BA30F7-575D-4735-9565-063DA84849A1}"/>
              </a:ext>
            </a:extLst>
          </p:cNvPr>
          <p:cNvSpPr>
            <a:spLocks xmlns:a="http://schemas.openxmlformats.org/drawingml/2006/main" noGrp="1"/>
          </p:cNvSpPr>
          <p:nvPr/>
        </p:nvSpPr>
        <p:spPr>
          <a:xfrm xmlns:a="http://schemas.openxmlformats.org/drawingml/2006/main">
            <a:off x="685800" y="933450"/>
            <a:ext cx="88582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7ECFF"/>
                </a:solidFill>
                <a:latin typeface="Aptos Display"/>
                <a:ea typeface="Aptos Display"/>
                <a:cs typeface="Aptos Display"/>
              </a:defRPr>
            </a:pPr>
            <a:r>
              <a:rPr sz="2550" b="1">
                <a:solidFill>
                  <a:srgbClr val="F7ECFF"/>
                </a:solidFill>
                <a:latin typeface="Aptos Display"/>
                <a:ea typeface="Aptos Display"/>
                <a:cs typeface="Aptos Display"/>
              </a:rPr>
              <a:t>Completed work includes APIs, realtime updates, event intake, AI response logs, threat intelligence, report generation, and public deployment.</a:t>
            </a:r>
          </a:p>
        </p:txBody>
      </p:sp>
      <p:sp>
        <p:nvSpPr>
          <p:cNvPr id="9" name="">
            <a:extLst xmlns:a="http://schemas.openxmlformats.org/drawingml/2006/main">
              <a:ext uri="{FF2B5EF4-FFF2-40B4-BE49-F238E27FC236}">
                <a16:creationId xmlns:a16="http://schemas.microsoft.com/office/drawing/2014/main" id="{315BAA29-BE99-432A-A897-6313D87CCCBB}"/>
              </a:ext>
            </a:extLst>
          </p:cNvPr>
          <p:cNvSpPr>
            <a:spLocks xmlns:a="http://schemas.openxmlformats.org/drawingml/2006/main" noGrp="1"/>
          </p:cNvSpPr>
          <p:nvPr/>
        </p:nvSpPr>
        <p:spPr>
          <a:xfrm xmlns:a="http://schemas.openxmlformats.org/drawingml/2006/main">
            <a:off x="952500" y="2571750"/>
            <a:ext cx="171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7ECFF"/>
                </a:solidFill>
                <a:latin typeface="Aptos"/>
                <a:ea typeface="Aptos"/>
                <a:cs typeface="Aptos"/>
              </a:defRPr>
            </a:pPr>
            <a:r>
              <a:rPr sz="1125" b="1">
                <a:solidFill>
                  <a:srgbClr val="F7ECFF"/>
                </a:solidFill>
                <a:latin typeface="Aptos"/>
                <a:ea typeface="Aptos"/>
                <a:cs typeface="Aptos"/>
              </a:rPr>
              <a:t>Backend APIs</a:t>
            </a:r>
          </a:p>
        </p:txBody>
      </p:sp>
      <p:sp>
        <p:nvSpPr>
          <p:cNvPr id="10" name="">
            <a:extLst xmlns:a="http://schemas.openxmlformats.org/drawingml/2006/main">
              <a:ext uri="{FF2B5EF4-FFF2-40B4-BE49-F238E27FC236}">
                <a16:creationId xmlns:a16="http://schemas.microsoft.com/office/drawing/2014/main" id="{90BD07FE-CCD4-43AC-81F5-B8D633D602A0}"/>
              </a:ext>
            </a:extLst>
          </p:cNvPr>
          <p:cNvSpPr>
            <a:spLocks xmlns:a="http://schemas.openxmlformats.org/drawingml/2006/main" noGrp="1"/>
          </p:cNvSpPr>
          <p:nvPr/>
        </p:nvSpPr>
        <p:spPr>
          <a:xfrm xmlns:a="http://schemas.openxmlformats.org/drawingml/2006/main">
            <a:off x="2952750" y="2533650"/>
            <a:ext cx="5715000" cy="247650"/>
          </a:xfrm>
          <a:prstGeom xmlns:a="http://schemas.openxmlformats.org/drawingml/2006/main" prst="rect">
            <a:avLst/>
          </a:prstGeom>
          <a:solidFill xmlns:a="http://schemas.openxmlformats.org/drawingml/2006/main">
            <a:srgbClr val="1B0A29"/>
          </a:solidFill>
          <a:ln xmlns:a="http://schemas.openxmlformats.org/drawingml/2006/main" w="9525">
            <a:solidFill>
              <a:srgbClr val="362447"/>
            </a:solidFill>
            <a:prstDash val="solid"/>
          </a:ln>
        </p:spPr>
      </p:sp>
      <p:sp>
        <p:nvSpPr>
          <p:cNvPr id="11" name="">
            <a:extLst xmlns:a="http://schemas.openxmlformats.org/drawingml/2006/main">
              <a:ext uri="{FF2B5EF4-FFF2-40B4-BE49-F238E27FC236}">
                <a16:creationId xmlns:a16="http://schemas.microsoft.com/office/drawing/2014/main" id="{DDCE2610-EF88-414E-9E40-950FC1FBFB38}"/>
              </a:ext>
            </a:extLst>
          </p:cNvPr>
          <p:cNvSpPr>
            <a:spLocks xmlns:a="http://schemas.openxmlformats.org/drawingml/2006/main" noGrp="1"/>
          </p:cNvSpPr>
          <p:nvPr/>
        </p:nvSpPr>
        <p:spPr>
          <a:xfrm xmlns:a="http://schemas.openxmlformats.org/drawingml/2006/main">
            <a:off x="2952750" y="2533650"/>
            <a:ext cx="5429250" cy="247650"/>
          </a:xfrm>
          <a:prstGeom xmlns:a="http://schemas.openxmlformats.org/drawingml/2006/main" prst="rect">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A2C4396A-7D45-4806-9899-6910F1B6E732}"/>
              </a:ext>
            </a:extLst>
          </p:cNvPr>
          <p:cNvSpPr>
            <a:spLocks xmlns:a="http://schemas.openxmlformats.org/drawingml/2006/main" noGrp="1"/>
          </p:cNvSpPr>
          <p:nvPr/>
        </p:nvSpPr>
        <p:spPr>
          <a:xfrm xmlns:a="http://schemas.openxmlformats.org/drawingml/2006/main">
            <a:off x="8858250" y="2571750"/>
            <a:ext cx="1809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0FFE0"/>
                </a:solidFill>
                <a:latin typeface="Aptos"/>
                <a:ea typeface="Aptos"/>
                <a:cs typeface="Aptos"/>
              </a:defRPr>
            </a:pPr>
            <a:r>
              <a:rPr sz="900" b="0">
                <a:solidFill>
                  <a:srgbClr val="00FFE0"/>
                </a:solidFill>
                <a:latin typeface="Aptos"/>
                <a:ea typeface="Aptos"/>
                <a:cs typeface="Aptos"/>
              </a:rPr>
              <a:t>95% prototype coverage</a:t>
            </a:r>
          </a:p>
        </p:txBody>
      </p:sp>
      <p:sp>
        <p:nvSpPr>
          <p:cNvPr id="13" name="">
            <a:extLst xmlns:a="http://schemas.openxmlformats.org/drawingml/2006/main">
              <a:ext uri="{FF2B5EF4-FFF2-40B4-BE49-F238E27FC236}">
                <a16:creationId xmlns:a16="http://schemas.microsoft.com/office/drawing/2014/main" id="{9D664CA2-9ACB-4F05-B59B-2A93790EFA0D}"/>
              </a:ext>
            </a:extLst>
          </p:cNvPr>
          <p:cNvSpPr>
            <a:spLocks xmlns:a="http://schemas.openxmlformats.org/drawingml/2006/main" noGrp="1"/>
          </p:cNvSpPr>
          <p:nvPr/>
        </p:nvSpPr>
        <p:spPr>
          <a:xfrm xmlns:a="http://schemas.openxmlformats.org/drawingml/2006/main">
            <a:off x="952500" y="3162300"/>
            <a:ext cx="171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7ECFF"/>
                </a:solidFill>
                <a:latin typeface="Aptos"/>
                <a:ea typeface="Aptos"/>
                <a:cs typeface="Aptos"/>
              </a:defRPr>
            </a:pPr>
            <a:r>
              <a:rPr sz="1125" b="1">
                <a:solidFill>
                  <a:srgbClr val="F7ECFF"/>
                </a:solidFill>
                <a:latin typeface="Aptos"/>
                <a:ea typeface="Aptos"/>
                <a:cs typeface="Aptos"/>
              </a:rPr>
              <a:t>Realtime updates</a:t>
            </a:r>
          </a:p>
        </p:txBody>
      </p:sp>
      <p:sp>
        <p:nvSpPr>
          <p:cNvPr id="14" name="">
            <a:extLst xmlns:a="http://schemas.openxmlformats.org/drawingml/2006/main">
              <a:ext uri="{FF2B5EF4-FFF2-40B4-BE49-F238E27FC236}">
                <a16:creationId xmlns:a16="http://schemas.microsoft.com/office/drawing/2014/main" id="{59F966EB-A25A-4F39-AFD4-F023D75FB26B}"/>
              </a:ext>
            </a:extLst>
          </p:cNvPr>
          <p:cNvSpPr>
            <a:spLocks xmlns:a="http://schemas.openxmlformats.org/drawingml/2006/main" noGrp="1"/>
          </p:cNvSpPr>
          <p:nvPr/>
        </p:nvSpPr>
        <p:spPr>
          <a:xfrm xmlns:a="http://schemas.openxmlformats.org/drawingml/2006/main">
            <a:off x="2952750" y="3124200"/>
            <a:ext cx="5715000" cy="247650"/>
          </a:xfrm>
          <a:prstGeom xmlns:a="http://schemas.openxmlformats.org/drawingml/2006/main" prst="rect">
            <a:avLst/>
          </a:prstGeom>
          <a:solidFill xmlns:a="http://schemas.openxmlformats.org/drawingml/2006/main">
            <a:srgbClr val="1B0A29"/>
          </a:solidFill>
          <a:ln xmlns:a="http://schemas.openxmlformats.org/drawingml/2006/main" w="9525">
            <a:solidFill>
              <a:srgbClr val="362447"/>
            </a:solidFill>
            <a:prstDash val="solid"/>
          </a:ln>
        </p:spPr>
      </p:sp>
      <p:sp>
        <p:nvSpPr>
          <p:cNvPr id="15" name="">
            <a:extLst xmlns:a="http://schemas.openxmlformats.org/drawingml/2006/main">
              <a:ext uri="{FF2B5EF4-FFF2-40B4-BE49-F238E27FC236}">
                <a16:creationId xmlns:a16="http://schemas.microsoft.com/office/drawing/2014/main" id="{1252D86A-10E7-48A0-AD51-C7FF08509725}"/>
              </a:ext>
            </a:extLst>
          </p:cNvPr>
          <p:cNvSpPr>
            <a:spLocks xmlns:a="http://schemas.openxmlformats.org/drawingml/2006/main" noGrp="1"/>
          </p:cNvSpPr>
          <p:nvPr/>
        </p:nvSpPr>
        <p:spPr>
          <a:xfrm xmlns:a="http://schemas.openxmlformats.org/drawingml/2006/main">
            <a:off x="2952750" y="3124200"/>
            <a:ext cx="5143500" cy="247650"/>
          </a:xfrm>
          <a:prstGeom xmlns:a="http://schemas.openxmlformats.org/drawingml/2006/main" prst="rect">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F1AA86FD-DA93-45F9-A5DE-C4494F3198F5}"/>
              </a:ext>
            </a:extLst>
          </p:cNvPr>
          <p:cNvSpPr>
            <a:spLocks xmlns:a="http://schemas.openxmlformats.org/drawingml/2006/main" noGrp="1"/>
          </p:cNvSpPr>
          <p:nvPr/>
        </p:nvSpPr>
        <p:spPr>
          <a:xfrm xmlns:a="http://schemas.openxmlformats.org/drawingml/2006/main">
            <a:off x="8858250" y="3162300"/>
            <a:ext cx="1809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FF2BD6"/>
                </a:solidFill>
                <a:latin typeface="Aptos"/>
                <a:ea typeface="Aptos"/>
                <a:cs typeface="Aptos"/>
              </a:defRPr>
            </a:pPr>
            <a:r>
              <a:rPr sz="900" b="0">
                <a:solidFill>
                  <a:srgbClr val="FF2BD6"/>
                </a:solidFill>
                <a:latin typeface="Aptos"/>
                <a:ea typeface="Aptos"/>
                <a:cs typeface="Aptos"/>
              </a:rPr>
              <a:t>90% prototype coverage</a:t>
            </a:r>
          </a:p>
        </p:txBody>
      </p:sp>
      <p:sp>
        <p:nvSpPr>
          <p:cNvPr id="17" name="">
            <a:extLst xmlns:a="http://schemas.openxmlformats.org/drawingml/2006/main">
              <a:ext uri="{FF2B5EF4-FFF2-40B4-BE49-F238E27FC236}">
                <a16:creationId xmlns:a16="http://schemas.microsoft.com/office/drawing/2014/main" id="{687587BF-C461-4142-B3D7-55EF4B1A59BF}"/>
              </a:ext>
            </a:extLst>
          </p:cNvPr>
          <p:cNvSpPr>
            <a:spLocks xmlns:a="http://schemas.openxmlformats.org/drawingml/2006/main" noGrp="1"/>
          </p:cNvSpPr>
          <p:nvPr/>
        </p:nvSpPr>
        <p:spPr>
          <a:xfrm xmlns:a="http://schemas.openxmlformats.org/drawingml/2006/main">
            <a:off x="952500" y="3752850"/>
            <a:ext cx="171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7ECFF"/>
                </a:solidFill>
                <a:latin typeface="Aptos"/>
                <a:ea typeface="Aptos"/>
                <a:cs typeface="Aptos"/>
              </a:defRPr>
            </a:pPr>
            <a:r>
              <a:rPr sz="1125" b="1">
                <a:solidFill>
                  <a:srgbClr val="F7ECFF"/>
                </a:solidFill>
                <a:latin typeface="Aptos"/>
                <a:ea typeface="Aptos"/>
                <a:cs typeface="Aptos"/>
              </a:rPr>
              <a:t>AI response logic</a:t>
            </a:r>
          </a:p>
        </p:txBody>
      </p:sp>
      <p:sp>
        <p:nvSpPr>
          <p:cNvPr id="18" name="">
            <a:extLst xmlns:a="http://schemas.openxmlformats.org/drawingml/2006/main">
              <a:ext uri="{FF2B5EF4-FFF2-40B4-BE49-F238E27FC236}">
                <a16:creationId xmlns:a16="http://schemas.microsoft.com/office/drawing/2014/main" id="{8ADB46CF-7862-4427-9EC6-F2990BD21B26}"/>
              </a:ext>
            </a:extLst>
          </p:cNvPr>
          <p:cNvSpPr>
            <a:spLocks xmlns:a="http://schemas.openxmlformats.org/drawingml/2006/main" noGrp="1"/>
          </p:cNvSpPr>
          <p:nvPr/>
        </p:nvSpPr>
        <p:spPr>
          <a:xfrm xmlns:a="http://schemas.openxmlformats.org/drawingml/2006/main">
            <a:off x="2952750" y="3714750"/>
            <a:ext cx="5715000" cy="247650"/>
          </a:xfrm>
          <a:prstGeom xmlns:a="http://schemas.openxmlformats.org/drawingml/2006/main" prst="rect">
            <a:avLst/>
          </a:prstGeom>
          <a:solidFill xmlns:a="http://schemas.openxmlformats.org/drawingml/2006/main">
            <a:srgbClr val="1B0A29"/>
          </a:solidFill>
          <a:ln xmlns:a="http://schemas.openxmlformats.org/drawingml/2006/main" w="9525">
            <a:solidFill>
              <a:srgbClr val="362447"/>
            </a:solidFill>
            <a:prstDash val="solid"/>
          </a:ln>
        </p:spPr>
      </p:sp>
      <p:sp>
        <p:nvSpPr>
          <p:cNvPr id="19" name="">
            <a:extLst xmlns:a="http://schemas.openxmlformats.org/drawingml/2006/main">
              <a:ext uri="{FF2B5EF4-FFF2-40B4-BE49-F238E27FC236}">
                <a16:creationId xmlns:a16="http://schemas.microsoft.com/office/drawing/2014/main" id="{4C4313C7-A679-48F9-A3FD-ECD855E501E6}"/>
              </a:ext>
            </a:extLst>
          </p:cNvPr>
          <p:cNvSpPr>
            <a:spLocks xmlns:a="http://schemas.openxmlformats.org/drawingml/2006/main" noGrp="1"/>
          </p:cNvSpPr>
          <p:nvPr/>
        </p:nvSpPr>
        <p:spPr>
          <a:xfrm xmlns:a="http://schemas.openxmlformats.org/drawingml/2006/main">
            <a:off x="2952750" y="3714750"/>
            <a:ext cx="5029200" cy="247650"/>
          </a:xfrm>
          <a:prstGeom xmlns:a="http://schemas.openxmlformats.org/drawingml/2006/main" prst="rect">
            <a:avLst/>
          </a:prstGeom>
          <a:solidFill xmlns:a="http://schemas.openxmlformats.org/drawingml/2006/main">
            <a:srgbClr val="2CFF9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E6C3681A-2B97-4093-85C8-43BF0DEB3BC2}"/>
              </a:ext>
            </a:extLst>
          </p:cNvPr>
          <p:cNvSpPr>
            <a:spLocks xmlns:a="http://schemas.openxmlformats.org/drawingml/2006/main" noGrp="1"/>
          </p:cNvSpPr>
          <p:nvPr/>
        </p:nvSpPr>
        <p:spPr>
          <a:xfrm xmlns:a="http://schemas.openxmlformats.org/drawingml/2006/main">
            <a:off x="8858250" y="3752850"/>
            <a:ext cx="1809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2CFF9B"/>
                </a:solidFill>
                <a:latin typeface="Aptos"/>
                <a:ea typeface="Aptos"/>
                <a:cs typeface="Aptos"/>
              </a:defRPr>
            </a:pPr>
            <a:r>
              <a:rPr sz="900" b="0">
                <a:solidFill>
                  <a:srgbClr val="2CFF9B"/>
                </a:solidFill>
                <a:latin typeface="Aptos"/>
                <a:ea typeface="Aptos"/>
                <a:cs typeface="Aptos"/>
              </a:rPr>
              <a:t>88% prototype coverage</a:t>
            </a:r>
          </a:p>
        </p:txBody>
      </p:sp>
      <p:sp>
        <p:nvSpPr>
          <p:cNvPr id="21" name="">
            <a:extLst xmlns:a="http://schemas.openxmlformats.org/drawingml/2006/main">
              <a:ext uri="{FF2B5EF4-FFF2-40B4-BE49-F238E27FC236}">
                <a16:creationId xmlns:a16="http://schemas.microsoft.com/office/drawing/2014/main" id="{EDA45699-7C14-4816-9902-B4EF3BBC4AE7}"/>
              </a:ext>
            </a:extLst>
          </p:cNvPr>
          <p:cNvSpPr>
            <a:spLocks xmlns:a="http://schemas.openxmlformats.org/drawingml/2006/main" noGrp="1"/>
          </p:cNvSpPr>
          <p:nvPr/>
        </p:nvSpPr>
        <p:spPr>
          <a:xfrm xmlns:a="http://schemas.openxmlformats.org/drawingml/2006/main">
            <a:off x="952500" y="4343400"/>
            <a:ext cx="171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7ECFF"/>
                </a:solidFill>
                <a:latin typeface="Aptos"/>
                <a:ea typeface="Aptos"/>
                <a:cs typeface="Aptos"/>
              </a:defRPr>
            </a:pPr>
            <a:r>
              <a:rPr sz="1125" b="1">
                <a:solidFill>
                  <a:srgbClr val="F7ECFF"/>
                </a:solidFill>
                <a:latin typeface="Aptos"/>
                <a:ea typeface="Aptos"/>
                <a:cs typeface="Aptos"/>
              </a:rPr>
              <a:t>Threat intelligence</a:t>
            </a:r>
          </a:p>
        </p:txBody>
      </p:sp>
      <p:sp>
        <p:nvSpPr>
          <p:cNvPr id="22" name="">
            <a:extLst xmlns:a="http://schemas.openxmlformats.org/drawingml/2006/main">
              <a:ext uri="{FF2B5EF4-FFF2-40B4-BE49-F238E27FC236}">
                <a16:creationId xmlns:a16="http://schemas.microsoft.com/office/drawing/2014/main" id="{3CD4BE19-31BB-4661-9641-619E0072C845}"/>
              </a:ext>
            </a:extLst>
          </p:cNvPr>
          <p:cNvSpPr>
            <a:spLocks xmlns:a="http://schemas.openxmlformats.org/drawingml/2006/main" noGrp="1"/>
          </p:cNvSpPr>
          <p:nvPr/>
        </p:nvSpPr>
        <p:spPr>
          <a:xfrm xmlns:a="http://schemas.openxmlformats.org/drawingml/2006/main">
            <a:off x="2952750" y="4305300"/>
            <a:ext cx="5715000" cy="247650"/>
          </a:xfrm>
          <a:prstGeom xmlns:a="http://schemas.openxmlformats.org/drawingml/2006/main" prst="rect">
            <a:avLst/>
          </a:prstGeom>
          <a:solidFill xmlns:a="http://schemas.openxmlformats.org/drawingml/2006/main">
            <a:srgbClr val="1B0A29"/>
          </a:solidFill>
          <a:ln xmlns:a="http://schemas.openxmlformats.org/drawingml/2006/main" w="9525">
            <a:solidFill>
              <a:srgbClr val="362447"/>
            </a:solidFill>
            <a:prstDash val="solid"/>
          </a:ln>
        </p:spPr>
      </p:sp>
      <p:sp>
        <p:nvSpPr>
          <p:cNvPr id="23" name="">
            <a:extLst xmlns:a="http://schemas.openxmlformats.org/drawingml/2006/main">
              <a:ext uri="{FF2B5EF4-FFF2-40B4-BE49-F238E27FC236}">
                <a16:creationId xmlns:a16="http://schemas.microsoft.com/office/drawing/2014/main" id="{E3489A06-930D-4C5C-AC95-BFF601FAE1D5}"/>
              </a:ext>
            </a:extLst>
          </p:cNvPr>
          <p:cNvSpPr>
            <a:spLocks xmlns:a="http://schemas.openxmlformats.org/drawingml/2006/main" noGrp="1"/>
          </p:cNvSpPr>
          <p:nvPr/>
        </p:nvSpPr>
        <p:spPr>
          <a:xfrm xmlns:a="http://schemas.openxmlformats.org/drawingml/2006/main">
            <a:off x="2952750" y="4305300"/>
            <a:ext cx="4686300" cy="247650"/>
          </a:xfrm>
          <a:prstGeom xmlns:a="http://schemas.openxmlformats.org/drawingml/2006/main" prst="rect">
            <a:avLst/>
          </a:prstGeom>
          <a:solidFill xmlns:a="http://schemas.openxmlformats.org/drawingml/2006/main">
            <a:srgbClr val="FF9F1C"/>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B3A2F144-3D77-41B8-9092-1A440D003B66}"/>
              </a:ext>
            </a:extLst>
          </p:cNvPr>
          <p:cNvSpPr>
            <a:spLocks xmlns:a="http://schemas.openxmlformats.org/drawingml/2006/main" noGrp="1"/>
          </p:cNvSpPr>
          <p:nvPr/>
        </p:nvSpPr>
        <p:spPr>
          <a:xfrm xmlns:a="http://schemas.openxmlformats.org/drawingml/2006/main">
            <a:off x="8858250" y="4343400"/>
            <a:ext cx="1809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FF9F1C"/>
                </a:solidFill>
                <a:latin typeface="Aptos"/>
                <a:ea typeface="Aptos"/>
                <a:cs typeface="Aptos"/>
              </a:defRPr>
            </a:pPr>
            <a:r>
              <a:rPr sz="900" b="0">
                <a:solidFill>
                  <a:srgbClr val="FF9F1C"/>
                </a:solidFill>
                <a:latin typeface="Aptos"/>
                <a:ea typeface="Aptos"/>
                <a:cs typeface="Aptos"/>
              </a:rPr>
              <a:t>82% prototype coverage</a:t>
            </a:r>
          </a:p>
        </p:txBody>
      </p:sp>
      <p:sp>
        <p:nvSpPr>
          <p:cNvPr id="25" name="">
            <a:extLst xmlns:a="http://schemas.openxmlformats.org/drawingml/2006/main">
              <a:ext uri="{FF2B5EF4-FFF2-40B4-BE49-F238E27FC236}">
                <a16:creationId xmlns:a16="http://schemas.microsoft.com/office/drawing/2014/main" id="{56B5DCB1-E70A-40D5-835D-81D2F23648A2}"/>
              </a:ext>
            </a:extLst>
          </p:cNvPr>
          <p:cNvSpPr>
            <a:spLocks xmlns:a="http://schemas.openxmlformats.org/drawingml/2006/main" noGrp="1"/>
          </p:cNvSpPr>
          <p:nvPr/>
        </p:nvSpPr>
        <p:spPr>
          <a:xfrm xmlns:a="http://schemas.openxmlformats.org/drawingml/2006/main">
            <a:off x="952500" y="4933950"/>
            <a:ext cx="171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7ECFF"/>
                </a:solidFill>
                <a:latin typeface="Aptos"/>
                <a:ea typeface="Aptos"/>
                <a:cs typeface="Aptos"/>
              </a:defRPr>
            </a:pPr>
            <a:r>
              <a:rPr sz="1125" b="1">
                <a:solidFill>
                  <a:srgbClr val="F7ECFF"/>
                </a:solidFill>
                <a:latin typeface="Aptos"/>
                <a:ea typeface="Aptos"/>
                <a:cs typeface="Aptos"/>
              </a:rPr>
              <a:t>Public deployment</a:t>
            </a:r>
          </a:p>
        </p:txBody>
      </p:sp>
      <p:sp>
        <p:nvSpPr>
          <p:cNvPr id="26" name="">
            <a:extLst xmlns:a="http://schemas.openxmlformats.org/drawingml/2006/main">
              <a:ext uri="{FF2B5EF4-FFF2-40B4-BE49-F238E27FC236}">
                <a16:creationId xmlns:a16="http://schemas.microsoft.com/office/drawing/2014/main" id="{D9C278C9-348A-43E5-93D4-56E9B7E0043A}"/>
              </a:ext>
            </a:extLst>
          </p:cNvPr>
          <p:cNvSpPr>
            <a:spLocks xmlns:a="http://schemas.openxmlformats.org/drawingml/2006/main" noGrp="1"/>
          </p:cNvSpPr>
          <p:nvPr/>
        </p:nvSpPr>
        <p:spPr>
          <a:xfrm xmlns:a="http://schemas.openxmlformats.org/drawingml/2006/main">
            <a:off x="2952750" y="4895850"/>
            <a:ext cx="5715000" cy="247650"/>
          </a:xfrm>
          <a:prstGeom xmlns:a="http://schemas.openxmlformats.org/drawingml/2006/main" prst="rect">
            <a:avLst/>
          </a:prstGeom>
          <a:solidFill xmlns:a="http://schemas.openxmlformats.org/drawingml/2006/main">
            <a:srgbClr val="1B0A29"/>
          </a:solidFill>
          <a:ln xmlns:a="http://schemas.openxmlformats.org/drawingml/2006/main" w="9525">
            <a:solidFill>
              <a:srgbClr val="362447"/>
            </a:solidFill>
            <a:prstDash val="solid"/>
          </a:ln>
        </p:spPr>
      </p:sp>
      <p:sp>
        <p:nvSpPr>
          <p:cNvPr id="27" name="">
            <a:extLst xmlns:a="http://schemas.openxmlformats.org/drawingml/2006/main">
              <a:ext uri="{FF2B5EF4-FFF2-40B4-BE49-F238E27FC236}">
                <a16:creationId xmlns:a16="http://schemas.microsoft.com/office/drawing/2014/main" id="{178A4642-504C-4C2B-A400-C23DE74F357B}"/>
              </a:ext>
            </a:extLst>
          </p:cNvPr>
          <p:cNvSpPr>
            <a:spLocks xmlns:a="http://schemas.openxmlformats.org/drawingml/2006/main" noGrp="1"/>
          </p:cNvSpPr>
          <p:nvPr/>
        </p:nvSpPr>
        <p:spPr>
          <a:xfrm xmlns:a="http://schemas.openxmlformats.org/drawingml/2006/main">
            <a:off x="2952750" y="4895850"/>
            <a:ext cx="4914900" cy="247650"/>
          </a:xfrm>
          <a:prstGeom xmlns:a="http://schemas.openxmlformats.org/drawingml/2006/main" prst="rect">
            <a:avLst/>
          </a:prstGeom>
          <a:solidFill xmlns:a="http://schemas.openxmlformats.org/drawingml/2006/main">
            <a:srgbClr val="7C3CFF"/>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E35D5E23-643D-4D2B-A43F-8D230E4827B4}"/>
              </a:ext>
            </a:extLst>
          </p:cNvPr>
          <p:cNvSpPr>
            <a:spLocks xmlns:a="http://schemas.openxmlformats.org/drawingml/2006/main" noGrp="1"/>
          </p:cNvSpPr>
          <p:nvPr/>
        </p:nvSpPr>
        <p:spPr>
          <a:xfrm xmlns:a="http://schemas.openxmlformats.org/drawingml/2006/main">
            <a:off x="8858250" y="4933950"/>
            <a:ext cx="1809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7C3CFF"/>
                </a:solidFill>
                <a:latin typeface="Aptos"/>
                <a:ea typeface="Aptos"/>
                <a:cs typeface="Aptos"/>
              </a:defRPr>
            </a:pPr>
            <a:r>
              <a:rPr sz="900" b="0">
                <a:solidFill>
                  <a:srgbClr val="7C3CFF"/>
                </a:solidFill>
                <a:latin typeface="Aptos"/>
                <a:ea typeface="Aptos"/>
                <a:cs typeface="Aptos"/>
              </a:rPr>
              <a:t>86% prototype coverage</a:t>
            </a:r>
          </a:p>
        </p:txBody>
      </p:sp>
      <p:sp>
        <p:nvSpPr>
          <p:cNvPr id="29" name="">
            <a:extLst xmlns:a="http://schemas.openxmlformats.org/drawingml/2006/main">
              <a:ext uri="{FF2B5EF4-FFF2-40B4-BE49-F238E27FC236}">
                <a16:creationId xmlns:a16="http://schemas.microsoft.com/office/drawing/2014/main" id="{F8F276BB-A297-4A1D-BF74-EDDDFABF27AE}"/>
              </a:ext>
            </a:extLst>
          </p:cNvPr>
          <p:cNvSpPr>
            <a:spLocks xmlns:a="http://schemas.openxmlformats.org/drawingml/2006/main" noGrp="1"/>
          </p:cNvSpPr>
          <p:nvPr/>
        </p:nvSpPr>
        <p:spPr>
          <a:xfrm xmlns:a="http://schemas.openxmlformats.org/drawingml/2006/main">
            <a:off x="990600" y="5638800"/>
            <a:ext cx="9620250" cy="609600"/>
          </a:xfrm>
          <a:prstGeom xmlns:a="http://schemas.openxmlformats.org/drawingml/2006/main" prst="rect">
            <a:avLst/>
          </a:prstGeom>
          <a:solidFill xmlns:a="http://schemas.openxmlformats.org/drawingml/2006/main">
            <a:srgbClr val="12001E"/>
          </a:solidFill>
          <a:ln xmlns:a="http://schemas.openxmlformats.org/drawingml/2006/main" w="9525">
            <a:solidFill>
              <a:srgbClr val="342043"/>
            </a:solidFill>
            <a:prstDash val="solid"/>
          </a:ln>
        </p:spPr>
      </p:sp>
      <p:sp>
        <p:nvSpPr>
          <p:cNvPr id="30" name="">
            <a:extLst xmlns:a="http://schemas.openxmlformats.org/drawingml/2006/main">
              <a:ext uri="{FF2B5EF4-FFF2-40B4-BE49-F238E27FC236}">
                <a16:creationId xmlns:a16="http://schemas.microsoft.com/office/drawing/2014/main" id="{F1461C7B-5272-4886-A6DC-C438B77F168E}"/>
              </a:ext>
            </a:extLst>
          </p:cNvPr>
          <p:cNvSpPr>
            <a:spLocks xmlns:a="http://schemas.openxmlformats.org/drawingml/2006/main" noGrp="1"/>
          </p:cNvSpPr>
          <p:nvPr/>
        </p:nvSpPr>
        <p:spPr>
          <a:xfrm xmlns:a="http://schemas.openxmlformats.org/drawingml/2006/main">
            <a:off x="990600" y="5638800"/>
            <a:ext cx="38100" cy="609600"/>
          </a:xfrm>
          <a:prstGeom xmlns:a="http://schemas.openxmlformats.org/drawingml/2006/main" prst="rect">
            <a:avLst/>
          </a:prstGeom>
          <a:solidFill xmlns:a="http://schemas.openxmlformats.org/drawingml/2006/main">
            <a:srgbClr val="2CFF9B"/>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E220F8B0-875A-49BD-AAED-60DFAB554F67}"/>
              </a:ext>
            </a:extLst>
          </p:cNvPr>
          <p:cNvSpPr>
            <a:spLocks xmlns:a="http://schemas.openxmlformats.org/drawingml/2006/main" noGrp="1"/>
          </p:cNvSpPr>
          <p:nvPr/>
        </p:nvSpPr>
        <p:spPr>
          <a:xfrm xmlns:a="http://schemas.openxmlformats.org/drawingml/2006/main">
            <a:off x="1257300" y="5819775"/>
            <a:ext cx="8953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7ECFF"/>
                </a:solidFill>
                <a:latin typeface="Aptos"/>
                <a:ea typeface="Aptos"/>
                <a:cs typeface="Aptos"/>
              </a:defRPr>
            </a:pPr>
            <a:r>
              <a:rPr sz="975" b="0">
                <a:solidFill>
                  <a:srgbClr val="F7ECFF"/>
                </a:solidFill>
                <a:latin typeface="Aptos"/>
                <a:ea typeface="Aptos"/>
                <a:cs typeface="Aptos"/>
              </a:rPr>
              <a:t>Completed capabilities: backend login, event intake, CSV intake, Socket.IO realtime events, autonomous AI response logs, AI defense score, IOC enrichment, MITRE mapping, enriched PDF reports, AI assistant endpoints, Docker files, and public deployment.</a:t>
            </a:r>
          </a:p>
        </p:txBody>
      </p:sp>
      <p:sp>
        <p:nvSpPr>
          <p:cNvPr id="32" name="">
            <a:extLst xmlns:a="http://schemas.openxmlformats.org/drawingml/2006/main">
              <a:ext uri="{FF2B5EF4-FFF2-40B4-BE49-F238E27FC236}">
                <a16:creationId xmlns:a16="http://schemas.microsoft.com/office/drawing/2014/main" id="{1DB3A444-8BEC-42DA-BA20-00E2F970932B}"/>
              </a:ext>
            </a:extLst>
          </p:cNvPr>
          <p:cNvSpPr>
            <a:spLocks xmlns:a="http://schemas.openxmlformats.org/drawingml/2006/main" noGrp="1"/>
          </p:cNvSpPr>
          <p:nvPr/>
        </p:nvSpPr>
        <p:spPr>
          <a:xfrm xmlns:a="http://schemas.openxmlformats.org/drawingml/2006/main">
            <a:off x="685800" y="6400800"/>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A997BA"/>
                </a:solidFill>
                <a:latin typeface="Aptos"/>
                <a:ea typeface="Aptos"/>
                <a:cs typeface="Aptos"/>
              </a:defRPr>
            </a:pPr>
            <a:r>
              <a:rPr sz="750" b="0">
                <a:solidFill>
                  <a:srgbClr val="A997BA"/>
                </a:solidFill>
                <a:latin typeface="Aptos"/>
                <a:ea typeface="Aptos"/>
                <a:cs typeface="Aptos"/>
              </a:rPr>
              <a:t>EvoGuard Enterprise - Agentic AI Cyber Defense Platform</a:t>
            </a:r>
          </a:p>
        </p:txBody>
      </p:sp>
      <p:sp>
        <p:nvSpPr>
          <p:cNvPr id="33" name="">
            <a:extLst xmlns:a="http://schemas.openxmlformats.org/drawingml/2006/main">
              <a:ext uri="{FF2B5EF4-FFF2-40B4-BE49-F238E27FC236}">
                <a16:creationId xmlns:a16="http://schemas.microsoft.com/office/drawing/2014/main" id="{23436CBB-52F3-4C01-89AA-8B75171C58CB}"/>
              </a:ext>
            </a:extLst>
          </p:cNvPr>
          <p:cNvSpPr>
            <a:spLocks xmlns:a="http://schemas.openxmlformats.org/drawingml/2006/main" noGrp="1"/>
          </p:cNvSpPr>
          <p:nvPr/>
        </p:nvSpPr>
        <p:spPr>
          <a:xfrm xmlns:a="http://schemas.openxmlformats.org/drawingml/2006/main">
            <a:off x="11125200" y="636270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0FFE0"/>
                </a:solidFill>
                <a:latin typeface="Aptos"/>
                <a:ea typeface="Aptos"/>
                <a:cs typeface="Aptos"/>
              </a:defRPr>
            </a:pPr>
            <a:r>
              <a:rPr sz="975" b="1">
                <a:solidFill>
                  <a:srgbClr val="00FFE0"/>
                </a:solidFill>
                <a:latin typeface="Aptos"/>
                <a:ea typeface="Aptos"/>
                <a:cs typeface="Aptos"/>
              </a:rPr>
              <a:t>10</a:t>
            </a:r>
          </a:p>
        </p:txBody>
      </p:sp>
    </p:spTree>
    <p:extLst>
      <p:ext uri="{BB962C8B-B14F-4D97-AF65-F5344CB8AC3E}">
        <p14:creationId xmlns:p14="http://schemas.microsoft.com/office/powerpoint/2010/main" val="22331933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980B97E-11B8-4876-A264-FA2B5B5F800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0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BD4855D-F898-44E5-B56B-58EB174B8989}"/>
              </a:ext>
            </a:extLst>
          </p:cNvPr>
          <p:cNvSpPr>
            <a:spLocks xmlns:a="http://schemas.openxmlformats.org/drawingml/2006/main" noGrp="1"/>
          </p:cNvSpPr>
          <p:nvPr/>
        </p:nvSpPr>
        <p:spPr>
          <a:xfrm xmlns:a="http://schemas.openxmlformats.org/drawingml/2006/main">
            <a:off x="-1190625" y="-1333500"/>
            <a:ext cx="4095750" cy="4095750"/>
          </a:xfrm>
          <a:prstGeom xmlns:a="http://schemas.openxmlformats.org/drawingml/2006/main" prst="ellipse">
            <a:avLst/>
          </a:prstGeom>
          <a:solidFill xmlns:a="http://schemas.openxmlformats.org/drawingml/2006/main">
            <a:srgbClr val="32004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986B70D-581C-4538-8A84-8874F7C3CDEC}"/>
              </a:ext>
            </a:extLst>
          </p:cNvPr>
          <p:cNvSpPr>
            <a:spLocks xmlns:a="http://schemas.openxmlformats.org/drawingml/2006/main" noGrp="1"/>
          </p:cNvSpPr>
          <p:nvPr/>
        </p:nvSpPr>
        <p:spPr>
          <a:xfrm xmlns:a="http://schemas.openxmlformats.org/drawingml/2006/main">
            <a:off x="9048750" y="-1143000"/>
            <a:ext cx="4095750" cy="4095750"/>
          </a:xfrm>
          <a:prstGeom xmlns:a="http://schemas.openxmlformats.org/drawingml/2006/main" prst="ellipse">
            <a:avLst/>
          </a:prstGeom>
          <a:solidFill xmlns:a="http://schemas.openxmlformats.org/drawingml/2006/main">
            <a:srgbClr val="160A34"/>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F57F9D8F-F659-4399-909B-1B7C8D99A62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B0237E7E-FC2A-42F8-BEEE-6B18CB7F251E}"/>
              </a:ext>
            </a:extLst>
          </p:cNvPr>
          <p:cNvSpPr>
            <a:spLocks xmlns:a="http://schemas.openxmlformats.org/drawingml/2006/main" noGrp="1"/>
          </p:cNvSpPr>
          <p:nvPr/>
        </p:nvSpPr>
        <p:spPr>
          <a:xfrm xmlns:a="http://schemas.openxmlformats.org/drawingml/2006/main">
            <a:off x="0" y="76200"/>
            <a:ext cx="12192000" cy="28575"/>
          </a:xfrm>
          <a:prstGeom xmlns:a="http://schemas.openxmlformats.org/drawingml/2006/main" prst="rect">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00BE21BC-6D92-42A3-B0DB-CDA8AF4EAD3C}"/>
              </a:ext>
            </a:extLst>
          </p:cNvPr>
          <p:cNvSpPr>
            <a:spLocks xmlns:a="http://schemas.openxmlformats.org/drawingml/2006/main" noGrp="1"/>
          </p:cNvSpPr>
          <p:nvPr/>
        </p:nvSpPr>
        <p:spPr>
          <a:xfrm xmlns:a="http://schemas.openxmlformats.org/drawingml/2006/main">
            <a:off x="685800" y="323850"/>
            <a:ext cx="400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00FFE0"/>
                </a:solidFill>
                <a:latin typeface="Aptos"/>
                <a:ea typeface="Aptos"/>
                <a:cs typeface="Aptos"/>
              </a:defRPr>
            </a:pPr>
            <a:r>
              <a:rPr sz="825" b="1">
                <a:solidFill>
                  <a:srgbClr val="00FFE0"/>
                </a:solidFill>
                <a:latin typeface="Aptos"/>
                <a:ea typeface="Aptos"/>
                <a:cs typeface="Aptos"/>
              </a:rPr>
              <a:t>DEMO SCRIPT</a:t>
            </a:r>
          </a:p>
        </p:txBody>
      </p:sp>
      <p:sp>
        <p:nvSpPr>
          <p:cNvPr id="7" name="">
            <a:extLst xmlns:a="http://schemas.openxmlformats.org/drawingml/2006/main">
              <a:ext uri="{FF2B5EF4-FFF2-40B4-BE49-F238E27FC236}">
                <a16:creationId xmlns:a16="http://schemas.microsoft.com/office/drawing/2014/main" id="{F817CCC4-72F8-4350-814D-9F757A9A5FD1}"/>
              </a:ext>
            </a:extLst>
          </p:cNvPr>
          <p:cNvSpPr>
            <a:spLocks xmlns:a="http://schemas.openxmlformats.org/drawingml/2006/main" noGrp="1"/>
          </p:cNvSpPr>
          <p:nvPr/>
        </p:nvSpPr>
        <p:spPr>
          <a:xfrm xmlns:a="http://schemas.openxmlformats.org/drawingml/2006/main">
            <a:off x="685800" y="66675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F2BD6"/>
                </a:solidFill>
                <a:latin typeface="Aptos"/>
                <a:ea typeface="Aptos"/>
                <a:cs typeface="Aptos"/>
              </a:defRPr>
            </a:pPr>
            <a:r>
              <a:rPr sz="825" b="1">
                <a:solidFill>
                  <a:srgbClr val="FF2BD6"/>
                </a:solidFill>
                <a:latin typeface="Aptos"/>
                <a:ea typeface="Aptos"/>
                <a:cs typeface="Aptos"/>
              </a:rPr>
              <a:t>A five-minute demo can prove the whole system without explaining every file.</a:t>
            </a:r>
          </a:p>
        </p:txBody>
      </p:sp>
      <p:sp>
        <p:nvSpPr>
          <p:cNvPr id="8" name="">
            <a:extLst xmlns:a="http://schemas.openxmlformats.org/drawingml/2006/main">
              <a:ext uri="{FF2B5EF4-FFF2-40B4-BE49-F238E27FC236}">
                <a16:creationId xmlns:a16="http://schemas.microsoft.com/office/drawing/2014/main" id="{1CF95938-F74D-4211-90E7-283E34800440}"/>
              </a:ext>
            </a:extLst>
          </p:cNvPr>
          <p:cNvSpPr>
            <a:spLocks xmlns:a="http://schemas.openxmlformats.org/drawingml/2006/main" noGrp="1"/>
          </p:cNvSpPr>
          <p:nvPr/>
        </p:nvSpPr>
        <p:spPr>
          <a:xfrm xmlns:a="http://schemas.openxmlformats.org/drawingml/2006/main">
            <a:off x="685800" y="933450"/>
            <a:ext cx="88582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7ECFF"/>
                </a:solidFill>
                <a:latin typeface="Aptos Display"/>
                <a:ea typeface="Aptos Display"/>
                <a:cs typeface="Aptos Display"/>
              </a:defRPr>
            </a:pPr>
            <a:r>
              <a:rPr sz="2550" b="1">
                <a:solidFill>
                  <a:srgbClr val="F7ECFF"/>
                </a:solidFill>
                <a:latin typeface="Aptos Display"/>
                <a:ea typeface="Aptos Display"/>
                <a:cs typeface="Aptos Display"/>
              </a:rPr>
              <a:t>The flow should show what the evaluator sees first, then connect each screen to backend behavior and AI reasoning.</a:t>
            </a:r>
          </a:p>
        </p:txBody>
      </p:sp>
      <p:sp>
        <p:nvSpPr>
          <p:cNvPr id="9" name="">
            <a:extLst xmlns:a="http://schemas.openxmlformats.org/drawingml/2006/main">
              <a:ext uri="{FF2B5EF4-FFF2-40B4-BE49-F238E27FC236}">
                <a16:creationId xmlns:a16="http://schemas.microsoft.com/office/drawing/2014/main" id="{7E93CB7C-8EE2-46DE-A1AB-F827BAAA7B0F}"/>
              </a:ext>
            </a:extLst>
          </p:cNvPr>
          <p:cNvSpPr>
            <a:spLocks xmlns:a="http://schemas.openxmlformats.org/drawingml/2006/main" noGrp="1"/>
          </p:cNvSpPr>
          <p:nvPr/>
        </p:nvSpPr>
        <p:spPr>
          <a:xfrm xmlns:a="http://schemas.openxmlformats.org/drawingml/2006/main">
            <a:off x="914400" y="2381250"/>
            <a:ext cx="400050" cy="400050"/>
          </a:xfrm>
          <a:prstGeom xmlns:a="http://schemas.openxmlformats.org/drawingml/2006/main" prst="ellipse">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E47E4295-921A-4183-8E1E-AE054D2EB41D}"/>
              </a:ext>
            </a:extLst>
          </p:cNvPr>
          <p:cNvSpPr>
            <a:spLocks xmlns:a="http://schemas.openxmlformats.org/drawingml/2006/main" noGrp="1"/>
          </p:cNvSpPr>
          <p:nvPr/>
        </p:nvSpPr>
        <p:spPr>
          <a:xfrm xmlns:a="http://schemas.openxmlformats.org/drawingml/2006/main">
            <a:off x="914400" y="2495550"/>
            <a:ext cx="4000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7000F"/>
                </a:solidFill>
                <a:latin typeface="Aptos"/>
                <a:ea typeface="Aptos"/>
                <a:cs typeface="Aptos"/>
              </a:defRPr>
            </a:pPr>
            <a:r>
              <a:rPr sz="975" b="1">
                <a:solidFill>
                  <a:srgbClr val="07000F"/>
                </a:solidFill>
                <a:latin typeface="Aptos"/>
                <a:ea typeface="Aptos"/>
                <a:cs typeface="Aptos"/>
              </a:rPr>
              <a:t>1</a:t>
            </a:r>
          </a:p>
        </p:txBody>
      </p:sp>
      <p:sp>
        <p:nvSpPr>
          <p:cNvPr id="11" name="">
            <a:extLst xmlns:a="http://schemas.openxmlformats.org/drawingml/2006/main">
              <a:ext uri="{FF2B5EF4-FFF2-40B4-BE49-F238E27FC236}">
                <a16:creationId xmlns:a16="http://schemas.microsoft.com/office/drawing/2014/main" id="{2B57BBAE-0BB2-43FB-A16E-06CC9A42149D}"/>
              </a:ext>
            </a:extLst>
          </p:cNvPr>
          <p:cNvSpPr>
            <a:spLocks xmlns:a="http://schemas.openxmlformats.org/drawingml/2006/main" noGrp="1"/>
          </p:cNvSpPr>
          <p:nvPr/>
        </p:nvSpPr>
        <p:spPr>
          <a:xfrm xmlns:a="http://schemas.openxmlformats.org/drawingml/2006/main">
            <a:off x="1524000" y="2409825"/>
            <a:ext cx="2190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ECFF"/>
                </a:solidFill>
                <a:latin typeface="Aptos"/>
                <a:ea typeface="Aptos"/>
                <a:cs typeface="Aptos"/>
              </a:defRPr>
            </a:pPr>
            <a:r>
              <a:rPr sz="1425" b="1">
                <a:solidFill>
                  <a:srgbClr val="F7ECFF"/>
                </a:solidFill>
                <a:latin typeface="Aptos"/>
                <a:ea typeface="Aptos"/>
                <a:cs typeface="Aptos"/>
              </a:rPr>
              <a:t>Open backend</a:t>
            </a:r>
          </a:p>
        </p:txBody>
      </p:sp>
      <p:sp>
        <p:nvSpPr>
          <p:cNvPr id="12" name="">
            <a:extLst xmlns:a="http://schemas.openxmlformats.org/drawingml/2006/main">
              <a:ext uri="{FF2B5EF4-FFF2-40B4-BE49-F238E27FC236}">
                <a16:creationId xmlns:a16="http://schemas.microsoft.com/office/drawing/2014/main" id="{B9CD1803-965F-4852-830D-B404A532E5E6}"/>
              </a:ext>
            </a:extLst>
          </p:cNvPr>
          <p:cNvSpPr>
            <a:spLocks xmlns:a="http://schemas.openxmlformats.org/drawingml/2006/main" noGrp="1"/>
          </p:cNvSpPr>
          <p:nvPr/>
        </p:nvSpPr>
        <p:spPr>
          <a:xfrm xmlns:a="http://schemas.openxmlformats.org/drawingml/2006/main">
            <a:off x="3810000" y="2428875"/>
            <a:ext cx="3714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997BA"/>
                </a:solidFill>
                <a:latin typeface="Aptos"/>
                <a:ea typeface="Aptos"/>
                <a:cs typeface="Aptos"/>
              </a:defRPr>
            </a:pPr>
            <a:r>
              <a:rPr sz="1050" b="0">
                <a:solidFill>
                  <a:srgbClr val="A997BA"/>
                </a:solidFill>
                <a:latin typeface="Aptos"/>
                <a:ea typeface="Aptos"/>
                <a:cs typeface="Aptos"/>
              </a:rPr>
              <a:t>Wake Render and verify API status</a:t>
            </a:r>
          </a:p>
        </p:txBody>
      </p:sp>
      <p:sp>
        <p:nvSpPr>
          <p:cNvPr id="13" name="">
            <a:extLst xmlns:a="http://schemas.openxmlformats.org/drawingml/2006/main">
              <a:ext uri="{FF2B5EF4-FFF2-40B4-BE49-F238E27FC236}">
                <a16:creationId xmlns:a16="http://schemas.microsoft.com/office/drawing/2014/main" id="{46F8A3D4-0880-489D-8E0A-27FDCF484E9E}"/>
              </a:ext>
            </a:extLst>
          </p:cNvPr>
          <p:cNvSpPr>
            <a:spLocks xmlns:a="http://schemas.openxmlformats.org/drawingml/2006/main" noGrp="1"/>
          </p:cNvSpPr>
          <p:nvPr/>
        </p:nvSpPr>
        <p:spPr>
          <a:xfrm xmlns:a="http://schemas.openxmlformats.org/drawingml/2006/main">
            <a:off x="914400" y="3048000"/>
            <a:ext cx="400050" cy="400050"/>
          </a:xfrm>
          <a:prstGeom xmlns:a="http://schemas.openxmlformats.org/drawingml/2006/main" prst="ellipse">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0955C6A1-9B6B-4306-B093-22339221C0D2}"/>
              </a:ext>
            </a:extLst>
          </p:cNvPr>
          <p:cNvSpPr>
            <a:spLocks xmlns:a="http://schemas.openxmlformats.org/drawingml/2006/main" noGrp="1"/>
          </p:cNvSpPr>
          <p:nvPr/>
        </p:nvSpPr>
        <p:spPr>
          <a:xfrm xmlns:a="http://schemas.openxmlformats.org/drawingml/2006/main">
            <a:off x="914400" y="3162300"/>
            <a:ext cx="4000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7000F"/>
                </a:solidFill>
                <a:latin typeface="Aptos"/>
                <a:ea typeface="Aptos"/>
                <a:cs typeface="Aptos"/>
              </a:defRPr>
            </a:pPr>
            <a:r>
              <a:rPr sz="975" b="1">
                <a:solidFill>
                  <a:srgbClr val="07000F"/>
                </a:solidFill>
                <a:latin typeface="Aptos"/>
                <a:ea typeface="Aptos"/>
                <a:cs typeface="Aptos"/>
              </a:rPr>
              <a:t>2</a:t>
            </a:r>
          </a:p>
        </p:txBody>
      </p:sp>
      <p:sp>
        <p:nvSpPr>
          <p:cNvPr id="15" name="">
            <a:extLst xmlns:a="http://schemas.openxmlformats.org/drawingml/2006/main">
              <a:ext uri="{FF2B5EF4-FFF2-40B4-BE49-F238E27FC236}">
                <a16:creationId xmlns:a16="http://schemas.microsoft.com/office/drawing/2014/main" id="{3C9C518E-583F-4FEE-B606-B2CF72A58024}"/>
              </a:ext>
            </a:extLst>
          </p:cNvPr>
          <p:cNvSpPr>
            <a:spLocks xmlns:a="http://schemas.openxmlformats.org/drawingml/2006/main" noGrp="1"/>
          </p:cNvSpPr>
          <p:nvPr/>
        </p:nvSpPr>
        <p:spPr>
          <a:xfrm xmlns:a="http://schemas.openxmlformats.org/drawingml/2006/main">
            <a:off x="1524000" y="3076575"/>
            <a:ext cx="2190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ECFF"/>
                </a:solidFill>
                <a:latin typeface="Aptos"/>
                <a:ea typeface="Aptos"/>
                <a:cs typeface="Aptos"/>
              </a:defRPr>
            </a:pPr>
            <a:r>
              <a:rPr sz="1425" b="1">
                <a:solidFill>
                  <a:srgbClr val="F7ECFF"/>
                </a:solidFill>
                <a:latin typeface="Aptos"/>
                <a:ea typeface="Aptos"/>
                <a:cs typeface="Aptos"/>
              </a:rPr>
              <a:t>Login</a:t>
            </a:r>
          </a:p>
        </p:txBody>
      </p:sp>
      <p:sp>
        <p:nvSpPr>
          <p:cNvPr id="16" name="">
            <a:extLst xmlns:a="http://schemas.openxmlformats.org/drawingml/2006/main">
              <a:ext uri="{FF2B5EF4-FFF2-40B4-BE49-F238E27FC236}">
                <a16:creationId xmlns:a16="http://schemas.microsoft.com/office/drawing/2014/main" id="{9C5243EA-E9E0-4650-A99B-E3043E52426A}"/>
              </a:ext>
            </a:extLst>
          </p:cNvPr>
          <p:cNvSpPr>
            <a:spLocks xmlns:a="http://schemas.openxmlformats.org/drawingml/2006/main" noGrp="1"/>
          </p:cNvSpPr>
          <p:nvPr/>
        </p:nvSpPr>
        <p:spPr>
          <a:xfrm xmlns:a="http://schemas.openxmlformats.org/drawingml/2006/main">
            <a:off x="3810000" y="3095625"/>
            <a:ext cx="3714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997BA"/>
                </a:solidFill>
                <a:latin typeface="Aptos"/>
                <a:ea typeface="Aptos"/>
                <a:cs typeface="Aptos"/>
              </a:defRPr>
            </a:pPr>
            <a:r>
              <a:rPr sz="1050" b="0">
                <a:solidFill>
                  <a:srgbClr val="A997BA"/>
                </a:solidFill>
                <a:latin typeface="Aptos"/>
                <a:ea typeface="Aptos"/>
                <a:cs typeface="Aptos"/>
              </a:rPr>
              <a:t>Use mayed / mayed123</a:t>
            </a:r>
          </a:p>
        </p:txBody>
      </p:sp>
      <p:sp>
        <p:nvSpPr>
          <p:cNvPr id="17" name="">
            <a:extLst xmlns:a="http://schemas.openxmlformats.org/drawingml/2006/main">
              <a:ext uri="{FF2B5EF4-FFF2-40B4-BE49-F238E27FC236}">
                <a16:creationId xmlns:a16="http://schemas.microsoft.com/office/drawing/2014/main" id="{549D60F5-313B-446C-BD2F-13EE82646E6F}"/>
              </a:ext>
            </a:extLst>
          </p:cNvPr>
          <p:cNvSpPr>
            <a:spLocks xmlns:a="http://schemas.openxmlformats.org/drawingml/2006/main" noGrp="1"/>
          </p:cNvSpPr>
          <p:nvPr/>
        </p:nvSpPr>
        <p:spPr>
          <a:xfrm xmlns:a="http://schemas.openxmlformats.org/drawingml/2006/main">
            <a:off x="914400" y="3714750"/>
            <a:ext cx="400050" cy="400050"/>
          </a:xfrm>
          <a:prstGeom xmlns:a="http://schemas.openxmlformats.org/drawingml/2006/main" prst="ellipse">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9B9E96AD-6D43-4602-BD1F-65D76DA2E064}"/>
              </a:ext>
            </a:extLst>
          </p:cNvPr>
          <p:cNvSpPr>
            <a:spLocks xmlns:a="http://schemas.openxmlformats.org/drawingml/2006/main" noGrp="1"/>
          </p:cNvSpPr>
          <p:nvPr/>
        </p:nvSpPr>
        <p:spPr>
          <a:xfrm xmlns:a="http://schemas.openxmlformats.org/drawingml/2006/main">
            <a:off x="914400" y="3829050"/>
            <a:ext cx="4000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7000F"/>
                </a:solidFill>
                <a:latin typeface="Aptos"/>
                <a:ea typeface="Aptos"/>
                <a:cs typeface="Aptos"/>
              </a:defRPr>
            </a:pPr>
            <a:r>
              <a:rPr sz="975" b="1">
                <a:solidFill>
                  <a:srgbClr val="07000F"/>
                </a:solidFill>
                <a:latin typeface="Aptos"/>
                <a:ea typeface="Aptos"/>
                <a:cs typeface="Aptos"/>
              </a:rPr>
              <a:t>3</a:t>
            </a:r>
          </a:p>
        </p:txBody>
      </p:sp>
      <p:sp>
        <p:nvSpPr>
          <p:cNvPr id="19" name="">
            <a:extLst xmlns:a="http://schemas.openxmlformats.org/drawingml/2006/main">
              <a:ext uri="{FF2B5EF4-FFF2-40B4-BE49-F238E27FC236}">
                <a16:creationId xmlns:a16="http://schemas.microsoft.com/office/drawing/2014/main" id="{E55E6895-C80D-450D-8013-DCF008B4F266}"/>
              </a:ext>
            </a:extLst>
          </p:cNvPr>
          <p:cNvSpPr>
            <a:spLocks xmlns:a="http://schemas.openxmlformats.org/drawingml/2006/main" noGrp="1"/>
          </p:cNvSpPr>
          <p:nvPr/>
        </p:nvSpPr>
        <p:spPr>
          <a:xfrm xmlns:a="http://schemas.openxmlformats.org/drawingml/2006/main">
            <a:off x="1524000" y="3743325"/>
            <a:ext cx="2190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ECFF"/>
                </a:solidFill>
                <a:latin typeface="Aptos"/>
                <a:ea typeface="Aptos"/>
                <a:cs typeface="Aptos"/>
              </a:defRPr>
            </a:pPr>
            <a:r>
              <a:rPr sz="1425" b="1">
                <a:solidFill>
                  <a:srgbClr val="F7ECFF"/>
                </a:solidFill>
                <a:latin typeface="Aptos"/>
                <a:ea typeface="Aptos"/>
                <a:cs typeface="Aptos"/>
              </a:rPr>
              <a:t>Dashboard</a:t>
            </a:r>
          </a:p>
        </p:txBody>
      </p:sp>
      <p:sp>
        <p:nvSpPr>
          <p:cNvPr id="20" name="">
            <a:extLst xmlns:a="http://schemas.openxmlformats.org/drawingml/2006/main">
              <a:ext uri="{FF2B5EF4-FFF2-40B4-BE49-F238E27FC236}">
                <a16:creationId xmlns:a16="http://schemas.microsoft.com/office/drawing/2014/main" id="{723EDDDB-9E4F-4F55-A6EE-53494ED80C65}"/>
              </a:ext>
            </a:extLst>
          </p:cNvPr>
          <p:cNvSpPr>
            <a:spLocks xmlns:a="http://schemas.openxmlformats.org/drawingml/2006/main" noGrp="1"/>
          </p:cNvSpPr>
          <p:nvPr/>
        </p:nvSpPr>
        <p:spPr>
          <a:xfrm xmlns:a="http://schemas.openxmlformats.org/drawingml/2006/main">
            <a:off x="3810000" y="3762375"/>
            <a:ext cx="3714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997BA"/>
                </a:solidFill>
                <a:latin typeface="Aptos"/>
                <a:ea typeface="Aptos"/>
                <a:cs typeface="Aptos"/>
              </a:defRPr>
            </a:pPr>
            <a:r>
              <a:rPr sz="1050" b="0">
                <a:solidFill>
                  <a:srgbClr val="A997BA"/>
                </a:solidFill>
                <a:latin typeface="Aptos"/>
                <a:ea typeface="Aptos"/>
                <a:cs typeface="Aptos"/>
              </a:rPr>
              <a:t>Show live stats, device telemetry, SOC terminal</a:t>
            </a:r>
          </a:p>
        </p:txBody>
      </p:sp>
      <p:sp>
        <p:nvSpPr>
          <p:cNvPr id="21" name="">
            <a:extLst xmlns:a="http://schemas.openxmlformats.org/drawingml/2006/main">
              <a:ext uri="{FF2B5EF4-FFF2-40B4-BE49-F238E27FC236}">
                <a16:creationId xmlns:a16="http://schemas.microsoft.com/office/drawing/2014/main" id="{8C478EE2-BC16-49EF-9EF3-1314CB822D57}"/>
              </a:ext>
            </a:extLst>
          </p:cNvPr>
          <p:cNvSpPr>
            <a:spLocks xmlns:a="http://schemas.openxmlformats.org/drawingml/2006/main" noGrp="1"/>
          </p:cNvSpPr>
          <p:nvPr/>
        </p:nvSpPr>
        <p:spPr>
          <a:xfrm xmlns:a="http://schemas.openxmlformats.org/drawingml/2006/main">
            <a:off x="914400" y="4381500"/>
            <a:ext cx="400050" cy="400050"/>
          </a:xfrm>
          <a:prstGeom xmlns:a="http://schemas.openxmlformats.org/drawingml/2006/main" prst="ellipse">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B6215817-3DC5-468E-A968-972FB2746832}"/>
              </a:ext>
            </a:extLst>
          </p:cNvPr>
          <p:cNvSpPr>
            <a:spLocks xmlns:a="http://schemas.openxmlformats.org/drawingml/2006/main" noGrp="1"/>
          </p:cNvSpPr>
          <p:nvPr/>
        </p:nvSpPr>
        <p:spPr>
          <a:xfrm xmlns:a="http://schemas.openxmlformats.org/drawingml/2006/main">
            <a:off x="914400" y="4495800"/>
            <a:ext cx="4000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7000F"/>
                </a:solidFill>
                <a:latin typeface="Aptos"/>
                <a:ea typeface="Aptos"/>
                <a:cs typeface="Aptos"/>
              </a:defRPr>
            </a:pPr>
            <a:r>
              <a:rPr sz="975" b="1">
                <a:solidFill>
                  <a:srgbClr val="07000F"/>
                </a:solidFill>
                <a:latin typeface="Aptos"/>
                <a:ea typeface="Aptos"/>
                <a:cs typeface="Aptos"/>
              </a:rPr>
              <a:t>4</a:t>
            </a:r>
          </a:p>
        </p:txBody>
      </p:sp>
      <p:sp>
        <p:nvSpPr>
          <p:cNvPr id="23" name="">
            <a:extLst xmlns:a="http://schemas.openxmlformats.org/drawingml/2006/main">
              <a:ext uri="{FF2B5EF4-FFF2-40B4-BE49-F238E27FC236}">
                <a16:creationId xmlns:a16="http://schemas.microsoft.com/office/drawing/2014/main" id="{64E34BA2-AE86-4304-B28E-B018C4F48D72}"/>
              </a:ext>
            </a:extLst>
          </p:cNvPr>
          <p:cNvSpPr>
            <a:spLocks xmlns:a="http://schemas.openxmlformats.org/drawingml/2006/main" noGrp="1"/>
          </p:cNvSpPr>
          <p:nvPr/>
        </p:nvSpPr>
        <p:spPr>
          <a:xfrm xmlns:a="http://schemas.openxmlformats.org/drawingml/2006/main">
            <a:off x="1524000" y="4410075"/>
            <a:ext cx="2190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ECFF"/>
                </a:solidFill>
                <a:latin typeface="Aptos"/>
                <a:ea typeface="Aptos"/>
                <a:cs typeface="Aptos"/>
              </a:defRPr>
            </a:pPr>
            <a:r>
              <a:rPr sz="1425" b="1">
                <a:solidFill>
                  <a:srgbClr val="F7ECFF"/>
                </a:solidFill>
                <a:latin typeface="Aptos"/>
                <a:ea typeface="Aptos"/>
                <a:cs typeface="Aptos"/>
              </a:rPr>
              <a:t>Simulation</a:t>
            </a:r>
          </a:p>
        </p:txBody>
      </p:sp>
      <p:sp>
        <p:nvSpPr>
          <p:cNvPr id="24" name="">
            <a:extLst xmlns:a="http://schemas.openxmlformats.org/drawingml/2006/main">
              <a:ext uri="{FF2B5EF4-FFF2-40B4-BE49-F238E27FC236}">
                <a16:creationId xmlns:a16="http://schemas.microsoft.com/office/drawing/2014/main" id="{D92F3403-5EEC-4249-A2AF-20E6BAEE1AE5}"/>
              </a:ext>
            </a:extLst>
          </p:cNvPr>
          <p:cNvSpPr>
            <a:spLocks xmlns:a="http://schemas.openxmlformats.org/drawingml/2006/main" noGrp="1"/>
          </p:cNvSpPr>
          <p:nvPr/>
        </p:nvSpPr>
        <p:spPr>
          <a:xfrm xmlns:a="http://schemas.openxmlformats.org/drawingml/2006/main">
            <a:off x="3810000" y="4429125"/>
            <a:ext cx="3714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997BA"/>
                </a:solidFill>
                <a:latin typeface="Aptos"/>
                <a:ea typeface="Aptos"/>
                <a:cs typeface="Aptos"/>
              </a:defRPr>
            </a:pPr>
            <a:r>
              <a:rPr sz="1050" b="0">
                <a:solidFill>
                  <a:srgbClr val="A997BA"/>
                </a:solidFill>
                <a:latin typeface="Aptos"/>
                <a:ea typeface="Aptos"/>
                <a:cs typeface="Aptos"/>
              </a:rPr>
              <a:t>Run DoS or U2R scenario</a:t>
            </a:r>
          </a:p>
        </p:txBody>
      </p:sp>
      <p:sp>
        <p:nvSpPr>
          <p:cNvPr id="25" name="">
            <a:extLst xmlns:a="http://schemas.openxmlformats.org/drawingml/2006/main">
              <a:ext uri="{FF2B5EF4-FFF2-40B4-BE49-F238E27FC236}">
                <a16:creationId xmlns:a16="http://schemas.microsoft.com/office/drawing/2014/main" id="{9AE93837-E15F-4540-A6D0-56F6B54F6658}"/>
              </a:ext>
            </a:extLst>
          </p:cNvPr>
          <p:cNvSpPr>
            <a:spLocks xmlns:a="http://schemas.openxmlformats.org/drawingml/2006/main" noGrp="1"/>
          </p:cNvSpPr>
          <p:nvPr/>
        </p:nvSpPr>
        <p:spPr>
          <a:xfrm xmlns:a="http://schemas.openxmlformats.org/drawingml/2006/main">
            <a:off x="914400" y="5048250"/>
            <a:ext cx="400050" cy="400050"/>
          </a:xfrm>
          <a:prstGeom xmlns:a="http://schemas.openxmlformats.org/drawingml/2006/main" prst="ellipse">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A5F21A2B-5293-4A6E-B474-529FA71DB5CE}"/>
              </a:ext>
            </a:extLst>
          </p:cNvPr>
          <p:cNvSpPr>
            <a:spLocks xmlns:a="http://schemas.openxmlformats.org/drawingml/2006/main" noGrp="1"/>
          </p:cNvSpPr>
          <p:nvPr/>
        </p:nvSpPr>
        <p:spPr>
          <a:xfrm xmlns:a="http://schemas.openxmlformats.org/drawingml/2006/main">
            <a:off x="914400" y="5162550"/>
            <a:ext cx="4000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7000F"/>
                </a:solidFill>
                <a:latin typeface="Aptos"/>
                <a:ea typeface="Aptos"/>
                <a:cs typeface="Aptos"/>
              </a:defRPr>
            </a:pPr>
            <a:r>
              <a:rPr sz="975" b="1">
                <a:solidFill>
                  <a:srgbClr val="07000F"/>
                </a:solidFill>
                <a:latin typeface="Aptos"/>
                <a:ea typeface="Aptos"/>
                <a:cs typeface="Aptos"/>
              </a:rPr>
              <a:t>5</a:t>
            </a:r>
          </a:p>
        </p:txBody>
      </p:sp>
      <p:sp>
        <p:nvSpPr>
          <p:cNvPr id="27" name="">
            <a:extLst xmlns:a="http://schemas.openxmlformats.org/drawingml/2006/main">
              <a:ext uri="{FF2B5EF4-FFF2-40B4-BE49-F238E27FC236}">
                <a16:creationId xmlns:a16="http://schemas.microsoft.com/office/drawing/2014/main" id="{809D797D-2881-4907-878C-9924BC0C24EF}"/>
              </a:ext>
            </a:extLst>
          </p:cNvPr>
          <p:cNvSpPr>
            <a:spLocks xmlns:a="http://schemas.openxmlformats.org/drawingml/2006/main" noGrp="1"/>
          </p:cNvSpPr>
          <p:nvPr/>
        </p:nvSpPr>
        <p:spPr>
          <a:xfrm xmlns:a="http://schemas.openxmlformats.org/drawingml/2006/main">
            <a:off x="1524000" y="5076825"/>
            <a:ext cx="2190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ECFF"/>
                </a:solidFill>
                <a:latin typeface="Aptos"/>
                <a:ea typeface="Aptos"/>
                <a:cs typeface="Aptos"/>
              </a:defRPr>
            </a:pPr>
            <a:r>
              <a:rPr sz="1425" b="1">
                <a:solidFill>
                  <a:srgbClr val="F7ECFF"/>
                </a:solidFill>
                <a:latin typeface="Aptos"/>
                <a:ea typeface="Aptos"/>
                <a:cs typeface="Aptos"/>
              </a:rPr>
              <a:t>AI proof</a:t>
            </a:r>
          </a:p>
        </p:txBody>
      </p:sp>
      <p:sp>
        <p:nvSpPr>
          <p:cNvPr id="28" name="">
            <a:extLst xmlns:a="http://schemas.openxmlformats.org/drawingml/2006/main">
              <a:ext uri="{FF2B5EF4-FFF2-40B4-BE49-F238E27FC236}">
                <a16:creationId xmlns:a16="http://schemas.microsoft.com/office/drawing/2014/main" id="{79A3E744-B4A5-407C-BB35-F729EF53FF7D}"/>
              </a:ext>
            </a:extLst>
          </p:cNvPr>
          <p:cNvSpPr>
            <a:spLocks xmlns:a="http://schemas.openxmlformats.org/drawingml/2006/main" noGrp="1"/>
          </p:cNvSpPr>
          <p:nvPr/>
        </p:nvSpPr>
        <p:spPr>
          <a:xfrm xmlns:a="http://schemas.openxmlformats.org/drawingml/2006/main">
            <a:off x="3810000" y="5095875"/>
            <a:ext cx="3714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997BA"/>
                </a:solidFill>
                <a:latin typeface="Aptos"/>
                <a:ea typeface="Aptos"/>
                <a:cs typeface="Aptos"/>
              </a:defRPr>
            </a:pPr>
            <a:r>
              <a:rPr sz="1050" b="0">
                <a:solidFill>
                  <a:srgbClr val="A997BA"/>
                </a:solidFill>
                <a:latin typeface="Aptos"/>
                <a:ea typeface="Aptos"/>
                <a:cs typeface="Aptos"/>
              </a:rPr>
              <a:t>Show risk score, MITRE, IOC, response actions, report</a:t>
            </a:r>
          </a:p>
        </p:txBody>
      </p:sp>
      <p:sp>
        <p:nvSpPr>
          <p:cNvPr id="29" name="">
            <a:extLst xmlns:a="http://schemas.openxmlformats.org/drawingml/2006/main">
              <a:ext uri="{FF2B5EF4-FFF2-40B4-BE49-F238E27FC236}">
                <a16:creationId xmlns:a16="http://schemas.microsoft.com/office/drawing/2014/main" id="{E9C16D07-7B4F-437B-ACE0-EC3C9DE06A0D}"/>
              </a:ext>
            </a:extLst>
          </p:cNvPr>
          <p:cNvSpPr>
            <a:spLocks xmlns:a="http://schemas.openxmlformats.org/drawingml/2006/main" noGrp="1"/>
          </p:cNvSpPr>
          <p:nvPr/>
        </p:nvSpPr>
        <p:spPr>
          <a:xfrm xmlns:a="http://schemas.openxmlformats.org/drawingml/2006/main">
            <a:off x="8096250" y="2476500"/>
            <a:ext cx="2857500" cy="2857500"/>
          </a:xfrm>
          <a:prstGeom xmlns:a="http://schemas.openxmlformats.org/drawingml/2006/main" prst="rect">
            <a:avLst/>
          </a:prstGeom>
          <a:solidFill xmlns:a="http://schemas.openxmlformats.org/drawingml/2006/main">
            <a:srgbClr val="12001E"/>
          </a:solidFill>
          <a:ln xmlns:a="http://schemas.openxmlformats.org/drawingml/2006/main" w="9525">
            <a:solidFill>
              <a:srgbClr val="342043"/>
            </a:solidFill>
            <a:prstDash val="solid"/>
          </a:ln>
        </p:spPr>
      </p:sp>
      <p:sp>
        <p:nvSpPr>
          <p:cNvPr id="30" name="">
            <a:extLst xmlns:a="http://schemas.openxmlformats.org/drawingml/2006/main">
              <a:ext uri="{FF2B5EF4-FFF2-40B4-BE49-F238E27FC236}">
                <a16:creationId xmlns:a16="http://schemas.microsoft.com/office/drawing/2014/main" id="{2E1CCAEE-7642-4077-A0FD-3FA4F212FD4F}"/>
              </a:ext>
            </a:extLst>
          </p:cNvPr>
          <p:cNvSpPr>
            <a:spLocks xmlns:a="http://schemas.openxmlformats.org/drawingml/2006/main" noGrp="1"/>
          </p:cNvSpPr>
          <p:nvPr/>
        </p:nvSpPr>
        <p:spPr>
          <a:xfrm xmlns:a="http://schemas.openxmlformats.org/drawingml/2006/main">
            <a:off x="8096250" y="2476500"/>
            <a:ext cx="38100" cy="2857500"/>
          </a:xfrm>
          <a:prstGeom xmlns:a="http://schemas.openxmlformats.org/drawingml/2006/main" prst="rect">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CDB948DD-ADB1-43B9-B230-265F15E0EAAB}"/>
              </a:ext>
            </a:extLst>
          </p:cNvPr>
          <p:cNvSpPr>
            <a:spLocks xmlns:a="http://schemas.openxmlformats.org/drawingml/2006/main" noGrp="1"/>
          </p:cNvSpPr>
          <p:nvPr/>
        </p:nvSpPr>
        <p:spPr>
          <a:xfrm xmlns:a="http://schemas.openxmlformats.org/drawingml/2006/main">
            <a:off x="8382000" y="278130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0FFE0"/>
                </a:solidFill>
                <a:latin typeface="Aptos"/>
                <a:ea typeface="Aptos"/>
                <a:cs typeface="Aptos"/>
              </a:defRPr>
            </a:pPr>
            <a:r>
              <a:rPr sz="1350" b="1">
                <a:solidFill>
                  <a:srgbClr val="00FFE0"/>
                </a:solidFill>
                <a:latin typeface="Aptos"/>
                <a:ea typeface="Aptos"/>
                <a:cs typeface="Aptos"/>
              </a:rPr>
              <a:t>Demo links</a:t>
            </a:r>
          </a:p>
        </p:txBody>
      </p:sp>
      <p:sp>
        <p:nvSpPr>
          <p:cNvPr id="32" name="">
            <a:extLst xmlns:a="http://schemas.openxmlformats.org/drawingml/2006/main">
              <a:ext uri="{FF2B5EF4-FFF2-40B4-BE49-F238E27FC236}">
                <a16:creationId xmlns:a16="http://schemas.microsoft.com/office/drawing/2014/main" id="{89CE3782-B9FA-4062-B841-CFECA7E78304}"/>
              </a:ext>
            </a:extLst>
          </p:cNvPr>
          <p:cNvSpPr>
            <a:spLocks xmlns:a="http://schemas.openxmlformats.org/drawingml/2006/main" noGrp="1"/>
          </p:cNvSpPr>
          <p:nvPr/>
        </p:nvSpPr>
        <p:spPr>
          <a:xfrm xmlns:a="http://schemas.openxmlformats.org/drawingml/2006/main">
            <a:off x="8382000" y="3181350"/>
            <a:ext cx="226695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7ECFF"/>
                </a:solidFill>
                <a:latin typeface="Aptos"/>
                <a:ea typeface="Aptos"/>
                <a:cs typeface="Aptos"/>
              </a:defRPr>
            </a:pPr>
            <a:r>
              <a:rPr sz="975" b="0">
                <a:solidFill>
                  <a:srgbClr val="F7ECFF"/>
                </a:solidFill>
                <a:latin typeface="Aptos"/>
                <a:ea typeface="Aptos"/>
                <a:cs typeface="Aptos"/>
              </a:rPr>
              <a:t>Frontend</a:t>
            </a:r>
          </a:p>
          <a:p xmlns:a="http://schemas.openxmlformats.org/drawingml/2006/main">
            <a:pPr algn="l">
              <a:defRPr sz="975" b="0">
                <a:solidFill>
                  <a:srgbClr val="F7ECFF"/>
                </a:solidFill>
                <a:latin typeface="Aptos"/>
                <a:ea typeface="Aptos"/>
                <a:cs typeface="Aptos"/>
              </a:defRPr>
            </a:pPr>
            <a:r>
              <a:rPr sz="975" b="0">
                <a:solidFill>
                  <a:srgbClr val="F7ECFF"/>
                </a:solidFill>
                <a:latin typeface="Aptos"/>
                <a:ea typeface="Aptos"/>
                <a:cs typeface="Aptos"/>
              </a:rPr>
              <a:t>mayedalshehhi.github.io/EvoGuard-Enterprise</a:t>
            </a:r>
          </a:p>
          <a:p xmlns:a="http://schemas.openxmlformats.org/drawingml/2006/main">
            <a:r>
              <a:t/>
            </a:r>
          </a:p>
          <a:p xmlns:a="http://schemas.openxmlformats.org/drawingml/2006/main">
            <a:pPr algn="l">
              <a:defRPr sz="975" b="0">
                <a:solidFill>
                  <a:srgbClr val="F7ECFF"/>
                </a:solidFill>
                <a:latin typeface="Aptos"/>
                <a:ea typeface="Aptos"/>
                <a:cs typeface="Aptos"/>
              </a:defRPr>
            </a:pPr>
            <a:r>
              <a:rPr sz="975" b="0">
                <a:solidFill>
                  <a:srgbClr val="F7ECFF"/>
                </a:solidFill>
                <a:latin typeface="Aptos"/>
                <a:ea typeface="Aptos"/>
                <a:cs typeface="Aptos"/>
              </a:rPr>
              <a:t>Backend</a:t>
            </a:r>
          </a:p>
          <a:p xmlns:a="http://schemas.openxmlformats.org/drawingml/2006/main">
            <a:pPr algn="l">
              <a:defRPr sz="975" b="0">
                <a:solidFill>
                  <a:srgbClr val="F7ECFF"/>
                </a:solidFill>
                <a:latin typeface="Aptos"/>
                <a:ea typeface="Aptos"/>
                <a:cs typeface="Aptos"/>
              </a:defRPr>
            </a:pPr>
            <a:r>
              <a:rPr sz="975" b="0">
                <a:solidFill>
                  <a:srgbClr val="F7ECFF"/>
                </a:solidFill>
                <a:latin typeface="Aptos"/>
                <a:ea typeface="Aptos"/>
                <a:cs typeface="Aptos"/>
              </a:rPr>
              <a:t>evoguard-enterprise-backend.onrender.com</a:t>
            </a:r>
          </a:p>
          <a:p xmlns:a="http://schemas.openxmlformats.org/drawingml/2006/main">
            <a:r>
              <a:t/>
            </a:r>
          </a:p>
          <a:p xmlns:a="http://schemas.openxmlformats.org/drawingml/2006/main">
            <a:pPr algn="l">
              <a:defRPr sz="975" b="0">
                <a:solidFill>
                  <a:srgbClr val="F7ECFF"/>
                </a:solidFill>
                <a:latin typeface="Aptos"/>
                <a:ea typeface="Aptos"/>
                <a:cs typeface="Aptos"/>
              </a:defRPr>
            </a:pPr>
            <a:r>
              <a:rPr sz="975" b="0">
                <a:solidFill>
                  <a:srgbClr val="F7ECFF"/>
                </a:solidFill>
                <a:latin typeface="Aptos"/>
                <a:ea typeface="Aptos"/>
                <a:cs typeface="Aptos"/>
              </a:rPr>
              <a:t>Note</a:t>
            </a:r>
          </a:p>
          <a:p xmlns:a="http://schemas.openxmlformats.org/drawingml/2006/main">
            <a:pPr algn="l">
              <a:defRPr sz="975" b="0">
                <a:solidFill>
                  <a:srgbClr val="F7ECFF"/>
                </a:solidFill>
                <a:latin typeface="Aptos"/>
                <a:ea typeface="Aptos"/>
                <a:cs typeface="Aptos"/>
              </a:defRPr>
            </a:pPr>
            <a:r>
              <a:rPr sz="975" b="0">
                <a:solidFill>
                  <a:srgbClr val="F7ECFF"/>
                </a:solidFill>
                <a:latin typeface="Aptos"/>
                <a:ea typeface="Aptos"/>
                <a:cs typeface="Aptos"/>
              </a:rPr>
              <a:t>Render may take a short time to wake up.</a:t>
            </a:r>
          </a:p>
        </p:txBody>
      </p:sp>
      <p:sp>
        <p:nvSpPr>
          <p:cNvPr id="33" name="">
            <a:extLst xmlns:a="http://schemas.openxmlformats.org/drawingml/2006/main">
              <a:ext uri="{FF2B5EF4-FFF2-40B4-BE49-F238E27FC236}">
                <a16:creationId xmlns:a16="http://schemas.microsoft.com/office/drawing/2014/main" id="{C61708BE-BA5B-4778-A577-F10B06A9AF67}"/>
              </a:ext>
            </a:extLst>
          </p:cNvPr>
          <p:cNvSpPr>
            <a:spLocks xmlns:a="http://schemas.openxmlformats.org/drawingml/2006/main" noGrp="1"/>
          </p:cNvSpPr>
          <p:nvPr/>
        </p:nvSpPr>
        <p:spPr>
          <a:xfrm xmlns:a="http://schemas.openxmlformats.org/drawingml/2006/main">
            <a:off x="685800" y="6400800"/>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A997BA"/>
                </a:solidFill>
                <a:latin typeface="Aptos"/>
                <a:ea typeface="Aptos"/>
                <a:cs typeface="Aptos"/>
              </a:defRPr>
            </a:pPr>
            <a:r>
              <a:rPr sz="750" b="0">
                <a:solidFill>
                  <a:srgbClr val="A997BA"/>
                </a:solidFill>
                <a:latin typeface="Aptos"/>
                <a:ea typeface="Aptos"/>
                <a:cs typeface="Aptos"/>
              </a:rPr>
              <a:t>EvoGuard Enterprise - Agentic AI Cyber Defense Platform</a:t>
            </a:r>
          </a:p>
        </p:txBody>
      </p:sp>
      <p:sp>
        <p:nvSpPr>
          <p:cNvPr id="34" name="">
            <a:extLst xmlns:a="http://schemas.openxmlformats.org/drawingml/2006/main">
              <a:ext uri="{FF2B5EF4-FFF2-40B4-BE49-F238E27FC236}">
                <a16:creationId xmlns:a16="http://schemas.microsoft.com/office/drawing/2014/main" id="{082A27CB-731F-49AB-87FB-94C127D11098}"/>
              </a:ext>
            </a:extLst>
          </p:cNvPr>
          <p:cNvSpPr>
            <a:spLocks xmlns:a="http://schemas.openxmlformats.org/drawingml/2006/main" noGrp="1"/>
          </p:cNvSpPr>
          <p:nvPr/>
        </p:nvSpPr>
        <p:spPr>
          <a:xfrm xmlns:a="http://schemas.openxmlformats.org/drawingml/2006/main">
            <a:off x="11125200" y="636270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0FFE0"/>
                </a:solidFill>
                <a:latin typeface="Aptos"/>
                <a:ea typeface="Aptos"/>
                <a:cs typeface="Aptos"/>
              </a:defRPr>
            </a:pPr>
            <a:r>
              <a:rPr sz="975" b="1">
                <a:solidFill>
                  <a:srgbClr val="00FFE0"/>
                </a:solidFill>
                <a:latin typeface="Aptos"/>
                <a:ea typeface="Aptos"/>
                <a:cs typeface="Aptos"/>
              </a:rPr>
              <a:t>11</a:t>
            </a:r>
          </a:p>
        </p:txBody>
      </p:sp>
    </p:spTree>
    <p:extLst>
      <p:ext uri="{BB962C8B-B14F-4D97-AF65-F5344CB8AC3E}">
        <p14:creationId xmlns:p14="http://schemas.microsoft.com/office/powerpoint/2010/main" val="63554857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05E5723-3E8C-4036-A070-ACC52F53C5E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00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A1A5AFC-EA03-4E40-86FD-FF2ED2E5ACB2}"/>
              </a:ext>
            </a:extLst>
          </p:cNvPr>
          <p:cNvSpPr>
            <a:spLocks xmlns:a="http://schemas.openxmlformats.org/drawingml/2006/main" noGrp="1"/>
          </p:cNvSpPr>
          <p:nvPr/>
        </p:nvSpPr>
        <p:spPr>
          <a:xfrm xmlns:a="http://schemas.openxmlformats.org/drawingml/2006/main">
            <a:off x="-1190625" y="-1333500"/>
            <a:ext cx="4095750" cy="4095750"/>
          </a:xfrm>
          <a:prstGeom xmlns:a="http://schemas.openxmlformats.org/drawingml/2006/main" prst="ellipse">
            <a:avLst/>
          </a:prstGeom>
          <a:solidFill xmlns:a="http://schemas.openxmlformats.org/drawingml/2006/main">
            <a:srgbClr val="32004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30896EE-A260-4EA3-B83E-BFCD6BC0B8A4}"/>
              </a:ext>
            </a:extLst>
          </p:cNvPr>
          <p:cNvSpPr>
            <a:spLocks xmlns:a="http://schemas.openxmlformats.org/drawingml/2006/main" noGrp="1"/>
          </p:cNvSpPr>
          <p:nvPr/>
        </p:nvSpPr>
        <p:spPr>
          <a:xfrm xmlns:a="http://schemas.openxmlformats.org/drawingml/2006/main">
            <a:off x="9048750" y="-1143000"/>
            <a:ext cx="4095750" cy="4095750"/>
          </a:xfrm>
          <a:prstGeom xmlns:a="http://schemas.openxmlformats.org/drawingml/2006/main" prst="ellipse">
            <a:avLst/>
          </a:prstGeom>
          <a:solidFill xmlns:a="http://schemas.openxmlformats.org/drawingml/2006/main">
            <a:srgbClr val="160A34"/>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497DCB42-676B-4814-B137-9BC43606F9B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CB29F5E-E6EA-4E52-9DA5-11A1E47A1A00}"/>
              </a:ext>
            </a:extLst>
          </p:cNvPr>
          <p:cNvSpPr>
            <a:spLocks xmlns:a="http://schemas.openxmlformats.org/drawingml/2006/main" noGrp="1"/>
          </p:cNvSpPr>
          <p:nvPr/>
        </p:nvSpPr>
        <p:spPr>
          <a:xfrm xmlns:a="http://schemas.openxmlformats.org/drawingml/2006/main">
            <a:off x="0" y="76200"/>
            <a:ext cx="12192000" cy="28575"/>
          </a:xfrm>
          <a:prstGeom xmlns:a="http://schemas.openxmlformats.org/drawingml/2006/main" prst="rect">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AB6DB36A-E928-4C92-BEA1-AD4F2377FBA0}"/>
              </a:ext>
            </a:extLst>
          </p:cNvPr>
          <p:cNvSpPr>
            <a:spLocks xmlns:a="http://schemas.openxmlformats.org/drawingml/2006/main" noGrp="1"/>
          </p:cNvSpPr>
          <p:nvPr/>
        </p:nvSpPr>
        <p:spPr>
          <a:xfrm xmlns:a="http://schemas.openxmlformats.org/drawingml/2006/main">
            <a:off x="685800" y="323850"/>
            <a:ext cx="400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00FFE0"/>
                </a:solidFill>
                <a:latin typeface="Aptos"/>
                <a:ea typeface="Aptos"/>
                <a:cs typeface="Aptos"/>
              </a:defRPr>
            </a:pPr>
            <a:r>
              <a:rPr sz="825" b="1">
                <a:solidFill>
                  <a:srgbClr val="00FFE0"/>
                </a:solidFill>
                <a:latin typeface="Aptos"/>
                <a:ea typeface="Aptos"/>
                <a:cs typeface="Aptos"/>
              </a:rPr>
              <a:t>ROADMAP</a:t>
            </a:r>
          </a:p>
        </p:txBody>
      </p:sp>
      <p:sp>
        <p:nvSpPr>
          <p:cNvPr id="7" name="">
            <a:extLst xmlns:a="http://schemas.openxmlformats.org/drawingml/2006/main">
              <a:ext uri="{FF2B5EF4-FFF2-40B4-BE49-F238E27FC236}">
                <a16:creationId xmlns:a16="http://schemas.microsoft.com/office/drawing/2014/main" id="{35548810-EF6E-44AD-BEAF-E56348112189}"/>
              </a:ext>
            </a:extLst>
          </p:cNvPr>
          <p:cNvSpPr>
            <a:spLocks xmlns:a="http://schemas.openxmlformats.org/drawingml/2006/main" noGrp="1"/>
          </p:cNvSpPr>
          <p:nvPr/>
        </p:nvSpPr>
        <p:spPr>
          <a:xfrm xmlns:a="http://schemas.openxmlformats.org/drawingml/2006/main">
            <a:off x="685800" y="66675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F2BD6"/>
                </a:solidFill>
                <a:latin typeface="Aptos"/>
                <a:ea typeface="Aptos"/>
                <a:cs typeface="Aptos"/>
              </a:defRPr>
            </a:pPr>
            <a:r>
              <a:rPr sz="825" b="1">
                <a:solidFill>
                  <a:srgbClr val="FF2BD6"/>
                </a:solidFill>
                <a:latin typeface="Aptos"/>
                <a:ea typeface="Aptos"/>
                <a:cs typeface="Aptos"/>
              </a:rPr>
              <a:t>The next evolution is a backend-led AI SOC platform.</a:t>
            </a:r>
          </a:p>
        </p:txBody>
      </p:sp>
      <p:sp>
        <p:nvSpPr>
          <p:cNvPr id="8" name="">
            <a:extLst xmlns:a="http://schemas.openxmlformats.org/drawingml/2006/main">
              <a:ext uri="{FF2B5EF4-FFF2-40B4-BE49-F238E27FC236}">
                <a16:creationId xmlns:a16="http://schemas.microsoft.com/office/drawing/2014/main" id="{C43067DC-8A48-44B2-8A11-86E150674E8E}"/>
              </a:ext>
            </a:extLst>
          </p:cNvPr>
          <p:cNvSpPr>
            <a:spLocks xmlns:a="http://schemas.openxmlformats.org/drawingml/2006/main" noGrp="1"/>
          </p:cNvSpPr>
          <p:nvPr/>
        </p:nvSpPr>
        <p:spPr>
          <a:xfrm xmlns:a="http://schemas.openxmlformats.org/drawingml/2006/main">
            <a:off x="685800" y="933450"/>
            <a:ext cx="88582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7ECFF"/>
                </a:solidFill>
                <a:latin typeface="Aptos Display"/>
                <a:ea typeface="Aptos Display"/>
                <a:cs typeface="Aptos Display"/>
              </a:defRPr>
            </a:pPr>
            <a:r>
              <a:rPr sz="2550" b="1">
                <a:solidFill>
                  <a:srgbClr val="F7ECFF"/>
                </a:solidFill>
                <a:latin typeface="Aptos Display"/>
                <a:ea typeface="Aptos Display"/>
                <a:cs typeface="Aptos Display"/>
              </a:rPr>
              <a:t>Future work should deepen the backend: stronger auth, persistent database, real traffic intake, AI evaluation, and production-style deployment.</a:t>
            </a:r>
          </a:p>
        </p:txBody>
      </p:sp>
      <p:sp>
        <p:nvSpPr>
          <p:cNvPr id="9" name="">
            <a:extLst xmlns:a="http://schemas.openxmlformats.org/drawingml/2006/main">
              <a:ext uri="{FF2B5EF4-FFF2-40B4-BE49-F238E27FC236}">
                <a16:creationId xmlns:a16="http://schemas.microsoft.com/office/drawing/2014/main" id="{F4B49B75-9BF7-4817-A8D5-258542A43D20}"/>
              </a:ext>
            </a:extLst>
          </p:cNvPr>
          <p:cNvSpPr>
            <a:spLocks xmlns:a="http://schemas.openxmlformats.org/drawingml/2006/main" noGrp="1"/>
          </p:cNvSpPr>
          <p:nvPr/>
        </p:nvSpPr>
        <p:spPr>
          <a:xfrm xmlns:a="http://schemas.openxmlformats.org/drawingml/2006/main">
            <a:off x="838200" y="2609850"/>
            <a:ext cx="1752600" cy="2095500"/>
          </a:xfrm>
          <a:prstGeom xmlns:a="http://schemas.openxmlformats.org/drawingml/2006/main" prst="rect">
            <a:avLst/>
          </a:prstGeom>
          <a:solidFill xmlns:a="http://schemas.openxmlformats.org/drawingml/2006/main">
            <a:srgbClr val="12001E"/>
          </a:solidFill>
          <a:ln xmlns:a="http://schemas.openxmlformats.org/drawingml/2006/main" w="9525">
            <a:solidFill>
              <a:srgbClr val="342043"/>
            </a:solidFill>
            <a:prstDash val="solid"/>
          </a:ln>
        </p:spPr>
      </p:sp>
      <p:sp>
        <p:nvSpPr>
          <p:cNvPr id="10" name="">
            <a:extLst xmlns:a="http://schemas.openxmlformats.org/drawingml/2006/main">
              <a:ext uri="{FF2B5EF4-FFF2-40B4-BE49-F238E27FC236}">
                <a16:creationId xmlns:a16="http://schemas.microsoft.com/office/drawing/2014/main" id="{33DF7B13-9E84-49E0-8964-A5154EA92FEA}"/>
              </a:ext>
            </a:extLst>
          </p:cNvPr>
          <p:cNvSpPr>
            <a:spLocks xmlns:a="http://schemas.openxmlformats.org/drawingml/2006/main" noGrp="1"/>
          </p:cNvSpPr>
          <p:nvPr/>
        </p:nvSpPr>
        <p:spPr>
          <a:xfrm xmlns:a="http://schemas.openxmlformats.org/drawingml/2006/main">
            <a:off x="838200" y="2609850"/>
            <a:ext cx="38100" cy="2095500"/>
          </a:xfrm>
          <a:prstGeom xmlns:a="http://schemas.openxmlformats.org/drawingml/2006/main" prst="rect">
            <a:avLst/>
          </a:prstGeom>
          <a:solidFill xmlns:a="http://schemas.openxmlformats.org/drawingml/2006/main">
            <a:srgbClr val="00FFE0"/>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2D4CCC45-C243-432B-8786-C4767F5638FA}"/>
              </a:ext>
            </a:extLst>
          </p:cNvPr>
          <p:cNvSpPr>
            <a:spLocks xmlns:a="http://schemas.openxmlformats.org/drawingml/2006/main" noGrp="1"/>
          </p:cNvSpPr>
          <p:nvPr/>
        </p:nvSpPr>
        <p:spPr>
          <a:xfrm xmlns:a="http://schemas.openxmlformats.org/drawingml/2006/main">
            <a:off x="1009650" y="2895600"/>
            <a:ext cx="1352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0FFE0"/>
                </a:solidFill>
                <a:latin typeface="Aptos"/>
                <a:ea typeface="Aptos"/>
                <a:cs typeface="Aptos"/>
              </a:defRPr>
            </a:pPr>
            <a:r>
              <a:rPr sz="1275" b="1">
                <a:solidFill>
                  <a:srgbClr val="00FFE0"/>
                </a:solidFill>
                <a:latin typeface="Aptos"/>
                <a:ea typeface="Aptos"/>
                <a:cs typeface="Aptos"/>
              </a:rPr>
              <a:t>Short Term</a:t>
            </a:r>
          </a:p>
        </p:txBody>
      </p:sp>
      <p:sp>
        <p:nvSpPr>
          <p:cNvPr id="12" name="">
            <a:extLst xmlns:a="http://schemas.openxmlformats.org/drawingml/2006/main">
              <a:ext uri="{FF2B5EF4-FFF2-40B4-BE49-F238E27FC236}">
                <a16:creationId xmlns:a16="http://schemas.microsoft.com/office/drawing/2014/main" id="{C3AF8528-839E-4A8A-A3E2-D3D9798F7BAC}"/>
              </a:ext>
            </a:extLst>
          </p:cNvPr>
          <p:cNvSpPr>
            <a:spLocks xmlns:a="http://schemas.openxmlformats.org/drawingml/2006/main" noGrp="1"/>
          </p:cNvSpPr>
          <p:nvPr/>
        </p:nvSpPr>
        <p:spPr>
          <a:xfrm xmlns:a="http://schemas.openxmlformats.org/drawingml/2006/main">
            <a:off x="1009650" y="3333750"/>
            <a:ext cx="1333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7ECFF"/>
                </a:solidFill>
                <a:latin typeface="Aptos"/>
                <a:ea typeface="Aptos"/>
                <a:cs typeface="Aptos"/>
              </a:defRPr>
            </a:pPr>
            <a:r>
              <a:rPr sz="975" b="0">
                <a:solidFill>
                  <a:srgbClr val="F7ECFF"/>
                </a:solidFill>
                <a:latin typeface="Aptos"/>
                <a:ea typeface="Aptos"/>
                <a:cs typeface="Aptos"/>
              </a:rPr>
              <a:t>Demo polish, README, screenshots, instructor script</a:t>
            </a:r>
          </a:p>
        </p:txBody>
      </p:sp>
      <p:sp>
        <p:nvSpPr>
          <p:cNvPr id="13" name="">
            <a:extLst xmlns:a="http://schemas.openxmlformats.org/drawingml/2006/main">
              <a:ext uri="{FF2B5EF4-FFF2-40B4-BE49-F238E27FC236}">
                <a16:creationId xmlns:a16="http://schemas.microsoft.com/office/drawing/2014/main" id="{1B22C111-393F-4F41-9D0C-D8BD6608978E}"/>
              </a:ext>
            </a:extLst>
          </p:cNvPr>
          <p:cNvSpPr>
            <a:spLocks xmlns:a="http://schemas.openxmlformats.org/drawingml/2006/main" noGrp="1"/>
          </p:cNvSpPr>
          <p:nvPr/>
        </p:nvSpPr>
        <p:spPr>
          <a:xfrm xmlns:a="http://schemas.openxmlformats.org/drawingml/2006/main">
            <a:off x="2971800" y="2609850"/>
            <a:ext cx="1752600" cy="2095500"/>
          </a:xfrm>
          <a:prstGeom xmlns:a="http://schemas.openxmlformats.org/drawingml/2006/main" prst="rect">
            <a:avLst/>
          </a:prstGeom>
          <a:solidFill xmlns:a="http://schemas.openxmlformats.org/drawingml/2006/main">
            <a:srgbClr val="12001E"/>
          </a:solidFill>
          <a:ln xmlns:a="http://schemas.openxmlformats.org/drawingml/2006/main" w="9525">
            <a:solidFill>
              <a:srgbClr val="342043"/>
            </a:solidFill>
            <a:prstDash val="solid"/>
          </a:ln>
        </p:spPr>
      </p:sp>
      <p:sp>
        <p:nvSpPr>
          <p:cNvPr id="14" name="">
            <a:extLst xmlns:a="http://schemas.openxmlformats.org/drawingml/2006/main">
              <a:ext uri="{FF2B5EF4-FFF2-40B4-BE49-F238E27FC236}">
                <a16:creationId xmlns:a16="http://schemas.microsoft.com/office/drawing/2014/main" id="{93839D0C-66CF-4C86-B553-64A647F02BA7}"/>
              </a:ext>
            </a:extLst>
          </p:cNvPr>
          <p:cNvSpPr>
            <a:spLocks xmlns:a="http://schemas.openxmlformats.org/drawingml/2006/main" noGrp="1"/>
          </p:cNvSpPr>
          <p:nvPr/>
        </p:nvSpPr>
        <p:spPr>
          <a:xfrm xmlns:a="http://schemas.openxmlformats.org/drawingml/2006/main">
            <a:off x="2971800" y="2609850"/>
            <a:ext cx="38100" cy="2095500"/>
          </a:xfrm>
          <a:prstGeom xmlns:a="http://schemas.openxmlformats.org/drawingml/2006/main" prst="rect">
            <a:avLst/>
          </a:prstGeom>
          <a:solidFill xmlns:a="http://schemas.openxmlformats.org/drawingml/2006/main">
            <a:srgbClr val="FF2BD6"/>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8ECA906D-B41A-4C51-9280-E433D8E37369}"/>
              </a:ext>
            </a:extLst>
          </p:cNvPr>
          <p:cNvSpPr>
            <a:spLocks xmlns:a="http://schemas.openxmlformats.org/drawingml/2006/main" noGrp="1"/>
          </p:cNvSpPr>
          <p:nvPr/>
        </p:nvSpPr>
        <p:spPr>
          <a:xfrm xmlns:a="http://schemas.openxmlformats.org/drawingml/2006/main">
            <a:off x="3143250" y="2895600"/>
            <a:ext cx="1352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F2BD6"/>
                </a:solidFill>
                <a:latin typeface="Aptos"/>
                <a:ea typeface="Aptos"/>
                <a:cs typeface="Aptos"/>
              </a:defRPr>
            </a:pPr>
            <a:r>
              <a:rPr sz="1275" b="1">
                <a:solidFill>
                  <a:srgbClr val="FF2BD6"/>
                </a:solidFill>
                <a:latin typeface="Aptos"/>
                <a:ea typeface="Aptos"/>
                <a:cs typeface="Aptos"/>
              </a:rPr>
              <a:t>AI Depth</a:t>
            </a:r>
          </a:p>
        </p:txBody>
      </p:sp>
      <p:sp>
        <p:nvSpPr>
          <p:cNvPr id="16" name="">
            <a:extLst xmlns:a="http://schemas.openxmlformats.org/drawingml/2006/main">
              <a:ext uri="{FF2B5EF4-FFF2-40B4-BE49-F238E27FC236}">
                <a16:creationId xmlns:a16="http://schemas.microsoft.com/office/drawing/2014/main" id="{09260E0C-FF92-4151-967E-6A03E53944FE}"/>
              </a:ext>
            </a:extLst>
          </p:cNvPr>
          <p:cNvSpPr>
            <a:spLocks xmlns:a="http://schemas.openxmlformats.org/drawingml/2006/main" noGrp="1"/>
          </p:cNvSpPr>
          <p:nvPr/>
        </p:nvSpPr>
        <p:spPr>
          <a:xfrm xmlns:a="http://schemas.openxmlformats.org/drawingml/2006/main">
            <a:off x="3143250" y="3333750"/>
            <a:ext cx="1333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7ECFF"/>
                </a:solidFill>
                <a:latin typeface="Aptos"/>
                <a:ea typeface="Aptos"/>
                <a:cs typeface="Aptos"/>
              </a:defRPr>
            </a:pPr>
            <a:r>
              <a:rPr sz="975" b="0">
                <a:solidFill>
                  <a:srgbClr val="F7ECFF"/>
                </a:solidFill>
                <a:latin typeface="Aptos"/>
                <a:ea typeface="Aptos"/>
                <a:cs typeface="Aptos"/>
              </a:rPr>
              <a:t>Dynamic model accuracy, response success scoring, confidence tracking</a:t>
            </a:r>
          </a:p>
        </p:txBody>
      </p:sp>
      <p:sp>
        <p:nvSpPr>
          <p:cNvPr id="17" name="">
            <a:extLst xmlns:a="http://schemas.openxmlformats.org/drawingml/2006/main">
              <a:ext uri="{FF2B5EF4-FFF2-40B4-BE49-F238E27FC236}">
                <a16:creationId xmlns:a16="http://schemas.microsoft.com/office/drawing/2014/main" id="{0095305A-3F21-4B6F-8C8D-53EAEFCF82E6}"/>
              </a:ext>
            </a:extLst>
          </p:cNvPr>
          <p:cNvSpPr>
            <a:spLocks xmlns:a="http://schemas.openxmlformats.org/drawingml/2006/main" noGrp="1"/>
          </p:cNvSpPr>
          <p:nvPr/>
        </p:nvSpPr>
        <p:spPr>
          <a:xfrm xmlns:a="http://schemas.openxmlformats.org/drawingml/2006/main">
            <a:off x="5105400" y="2609850"/>
            <a:ext cx="1752600" cy="2095500"/>
          </a:xfrm>
          <a:prstGeom xmlns:a="http://schemas.openxmlformats.org/drawingml/2006/main" prst="rect">
            <a:avLst/>
          </a:prstGeom>
          <a:solidFill xmlns:a="http://schemas.openxmlformats.org/drawingml/2006/main">
            <a:srgbClr val="12001E"/>
          </a:solidFill>
          <a:ln xmlns:a="http://schemas.openxmlformats.org/drawingml/2006/main" w="9525">
            <a:solidFill>
              <a:srgbClr val="342043"/>
            </a:solidFill>
            <a:prstDash val="solid"/>
          </a:ln>
        </p:spPr>
      </p:sp>
      <p:sp>
        <p:nvSpPr>
          <p:cNvPr id="18" name="">
            <a:extLst xmlns:a="http://schemas.openxmlformats.org/drawingml/2006/main">
              <a:ext uri="{FF2B5EF4-FFF2-40B4-BE49-F238E27FC236}">
                <a16:creationId xmlns:a16="http://schemas.microsoft.com/office/drawing/2014/main" id="{7E59A337-C912-4F8E-A9BE-FC32B74F30DB}"/>
              </a:ext>
            </a:extLst>
          </p:cNvPr>
          <p:cNvSpPr>
            <a:spLocks xmlns:a="http://schemas.openxmlformats.org/drawingml/2006/main" noGrp="1"/>
          </p:cNvSpPr>
          <p:nvPr/>
        </p:nvSpPr>
        <p:spPr>
          <a:xfrm xmlns:a="http://schemas.openxmlformats.org/drawingml/2006/main">
            <a:off x="5105400" y="2609850"/>
            <a:ext cx="38100" cy="2095500"/>
          </a:xfrm>
          <a:prstGeom xmlns:a="http://schemas.openxmlformats.org/drawingml/2006/main" prst="rect">
            <a:avLst/>
          </a:prstGeom>
          <a:solidFill xmlns:a="http://schemas.openxmlformats.org/drawingml/2006/main">
            <a:srgbClr val="2CFF9B"/>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9537FF52-5D7B-4A28-B988-12AF6067AAF5}"/>
              </a:ext>
            </a:extLst>
          </p:cNvPr>
          <p:cNvSpPr>
            <a:spLocks xmlns:a="http://schemas.openxmlformats.org/drawingml/2006/main" noGrp="1"/>
          </p:cNvSpPr>
          <p:nvPr/>
        </p:nvSpPr>
        <p:spPr>
          <a:xfrm xmlns:a="http://schemas.openxmlformats.org/drawingml/2006/main">
            <a:off x="5276850" y="2895600"/>
            <a:ext cx="1352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2CFF9B"/>
                </a:solidFill>
                <a:latin typeface="Aptos"/>
                <a:ea typeface="Aptos"/>
                <a:cs typeface="Aptos"/>
              </a:defRPr>
            </a:pPr>
            <a:r>
              <a:rPr sz="1275" b="1">
                <a:solidFill>
                  <a:srgbClr val="2CFF9B"/>
                </a:solidFill>
                <a:latin typeface="Aptos"/>
                <a:ea typeface="Aptos"/>
                <a:cs typeface="Aptos"/>
              </a:rPr>
              <a:t>Security Depth</a:t>
            </a:r>
          </a:p>
        </p:txBody>
      </p:sp>
      <p:sp>
        <p:nvSpPr>
          <p:cNvPr id="20" name="">
            <a:extLst xmlns:a="http://schemas.openxmlformats.org/drawingml/2006/main">
              <a:ext uri="{FF2B5EF4-FFF2-40B4-BE49-F238E27FC236}">
                <a16:creationId xmlns:a16="http://schemas.microsoft.com/office/drawing/2014/main" id="{C51DEF35-0FC7-4606-8731-8688548CE66C}"/>
              </a:ext>
            </a:extLst>
          </p:cNvPr>
          <p:cNvSpPr>
            <a:spLocks xmlns:a="http://schemas.openxmlformats.org/drawingml/2006/main" noGrp="1"/>
          </p:cNvSpPr>
          <p:nvPr/>
        </p:nvSpPr>
        <p:spPr>
          <a:xfrm xmlns:a="http://schemas.openxmlformats.org/drawingml/2006/main">
            <a:off x="5276850" y="3333750"/>
            <a:ext cx="1333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7ECFF"/>
                </a:solidFill>
                <a:latin typeface="Aptos"/>
                <a:ea typeface="Aptos"/>
                <a:cs typeface="Aptos"/>
              </a:defRPr>
            </a:pPr>
            <a:r>
              <a:rPr sz="975" b="0">
                <a:solidFill>
                  <a:srgbClr val="F7ECFF"/>
                </a:solidFill>
                <a:latin typeface="Aptos"/>
                <a:ea typeface="Aptos"/>
                <a:cs typeface="Aptos"/>
              </a:rPr>
              <a:t>Backend auth, hashed passwords, roles, audit logging</a:t>
            </a:r>
          </a:p>
        </p:txBody>
      </p:sp>
      <p:sp>
        <p:nvSpPr>
          <p:cNvPr id="21" name="">
            <a:extLst xmlns:a="http://schemas.openxmlformats.org/drawingml/2006/main">
              <a:ext uri="{FF2B5EF4-FFF2-40B4-BE49-F238E27FC236}">
                <a16:creationId xmlns:a16="http://schemas.microsoft.com/office/drawing/2014/main" id="{40155B21-7AE2-4101-AB07-BFA270E8CF2F}"/>
              </a:ext>
            </a:extLst>
          </p:cNvPr>
          <p:cNvSpPr>
            <a:spLocks xmlns:a="http://schemas.openxmlformats.org/drawingml/2006/main" noGrp="1"/>
          </p:cNvSpPr>
          <p:nvPr/>
        </p:nvSpPr>
        <p:spPr>
          <a:xfrm xmlns:a="http://schemas.openxmlformats.org/drawingml/2006/main">
            <a:off x="7239000" y="2609850"/>
            <a:ext cx="1752600" cy="2095500"/>
          </a:xfrm>
          <a:prstGeom xmlns:a="http://schemas.openxmlformats.org/drawingml/2006/main" prst="rect">
            <a:avLst/>
          </a:prstGeom>
          <a:solidFill xmlns:a="http://schemas.openxmlformats.org/drawingml/2006/main">
            <a:srgbClr val="12001E"/>
          </a:solidFill>
          <a:ln xmlns:a="http://schemas.openxmlformats.org/drawingml/2006/main" w="9525">
            <a:solidFill>
              <a:srgbClr val="342043"/>
            </a:solidFill>
            <a:prstDash val="solid"/>
          </a:ln>
        </p:spPr>
      </p:sp>
      <p:sp>
        <p:nvSpPr>
          <p:cNvPr id="22" name="">
            <a:extLst xmlns:a="http://schemas.openxmlformats.org/drawingml/2006/main">
              <a:ext uri="{FF2B5EF4-FFF2-40B4-BE49-F238E27FC236}">
                <a16:creationId xmlns:a16="http://schemas.microsoft.com/office/drawing/2014/main" id="{7DD98BBE-DFC2-4F11-96E8-C653F8853803}"/>
              </a:ext>
            </a:extLst>
          </p:cNvPr>
          <p:cNvSpPr>
            <a:spLocks xmlns:a="http://schemas.openxmlformats.org/drawingml/2006/main" noGrp="1"/>
          </p:cNvSpPr>
          <p:nvPr/>
        </p:nvSpPr>
        <p:spPr>
          <a:xfrm xmlns:a="http://schemas.openxmlformats.org/drawingml/2006/main">
            <a:off x="7239000" y="2609850"/>
            <a:ext cx="38100" cy="2095500"/>
          </a:xfrm>
          <a:prstGeom xmlns:a="http://schemas.openxmlformats.org/drawingml/2006/main" prst="rect">
            <a:avLst/>
          </a:prstGeom>
          <a:solidFill xmlns:a="http://schemas.openxmlformats.org/drawingml/2006/main">
            <a:srgbClr val="FF9F1C"/>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68A99102-E53F-40ED-A6C8-1DDF3992B29B}"/>
              </a:ext>
            </a:extLst>
          </p:cNvPr>
          <p:cNvSpPr>
            <a:spLocks xmlns:a="http://schemas.openxmlformats.org/drawingml/2006/main" noGrp="1"/>
          </p:cNvSpPr>
          <p:nvPr/>
        </p:nvSpPr>
        <p:spPr>
          <a:xfrm xmlns:a="http://schemas.openxmlformats.org/drawingml/2006/main">
            <a:off x="7410450" y="2895600"/>
            <a:ext cx="1352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F9F1C"/>
                </a:solidFill>
                <a:latin typeface="Aptos"/>
                <a:ea typeface="Aptos"/>
                <a:cs typeface="Aptos"/>
              </a:defRPr>
            </a:pPr>
            <a:r>
              <a:rPr sz="1275" b="1">
                <a:solidFill>
                  <a:srgbClr val="FF9F1C"/>
                </a:solidFill>
                <a:latin typeface="Aptos"/>
                <a:ea typeface="Aptos"/>
                <a:cs typeface="Aptos"/>
              </a:rPr>
              <a:t>Data Depth</a:t>
            </a:r>
          </a:p>
        </p:txBody>
      </p:sp>
      <p:sp>
        <p:nvSpPr>
          <p:cNvPr id="24" name="">
            <a:extLst xmlns:a="http://schemas.openxmlformats.org/drawingml/2006/main">
              <a:ext uri="{FF2B5EF4-FFF2-40B4-BE49-F238E27FC236}">
                <a16:creationId xmlns:a16="http://schemas.microsoft.com/office/drawing/2014/main" id="{B662687F-0C0F-48E9-A059-1A6459AFD1B4}"/>
              </a:ext>
            </a:extLst>
          </p:cNvPr>
          <p:cNvSpPr>
            <a:spLocks xmlns:a="http://schemas.openxmlformats.org/drawingml/2006/main" noGrp="1"/>
          </p:cNvSpPr>
          <p:nvPr/>
        </p:nvSpPr>
        <p:spPr>
          <a:xfrm xmlns:a="http://schemas.openxmlformats.org/drawingml/2006/main">
            <a:off x="7410450" y="3333750"/>
            <a:ext cx="1333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7ECFF"/>
                </a:solidFill>
                <a:latin typeface="Aptos"/>
                <a:ea typeface="Aptos"/>
                <a:cs typeface="Aptos"/>
              </a:defRPr>
            </a:pPr>
            <a:r>
              <a:rPr sz="975" b="0">
                <a:solidFill>
                  <a:srgbClr val="F7ECFF"/>
                </a:solidFill>
                <a:latin typeface="Aptos"/>
                <a:ea typeface="Aptos"/>
                <a:cs typeface="Aptos"/>
              </a:rPr>
              <a:t>PostgreSQL, event retention, real log ingestion, SIEM-style search</a:t>
            </a:r>
          </a:p>
        </p:txBody>
      </p:sp>
      <p:sp>
        <p:nvSpPr>
          <p:cNvPr id="25" name="">
            <a:extLst xmlns:a="http://schemas.openxmlformats.org/drawingml/2006/main">
              <a:ext uri="{FF2B5EF4-FFF2-40B4-BE49-F238E27FC236}">
                <a16:creationId xmlns:a16="http://schemas.microsoft.com/office/drawing/2014/main" id="{BA194286-E728-4E3A-8070-946565AD7AA6}"/>
              </a:ext>
            </a:extLst>
          </p:cNvPr>
          <p:cNvSpPr>
            <a:spLocks xmlns:a="http://schemas.openxmlformats.org/drawingml/2006/main" noGrp="1"/>
          </p:cNvSpPr>
          <p:nvPr/>
        </p:nvSpPr>
        <p:spPr>
          <a:xfrm xmlns:a="http://schemas.openxmlformats.org/drawingml/2006/main">
            <a:off x="9372600" y="2609850"/>
            <a:ext cx="1752600" cy="2095500"/>
          </a:xfrm>
          <a:prstGeom xmlns:a="http://schemas.openxmlformats.org/drawingml/2006/main" prst="rect">
            <a:avLst/>
          </a:prstGeom>
          <a:solidFill xmlns:a="http://schemas.openxmlformats.org/drawingml/2006/main">
            <a:srgbClr val="12001E"/>
          </a:solidFill>
          <a:ln xmlns:a="http://schemas.openxmlformats.org/drawingml/2006/main" w="9525">
            <a:solidFill>
              <a:srgbClr val="342043"/>
            </a:solidFill>
            <a:prstDash val="solid"/>
          </a:ln>
        </p:spPr>
      </p:sp>
      <p:sp>
        <p:nvSpPr>
          <p:cNvPr id="26" name="">
            <a:extLst xmlns:a="http://schemas.openxmlformats.org/drawingml/2006/main">
              <a:ext uri="{FF2B5EF4-FFF2-40B4-BE49-F238E27FC236}">
                <a16:creationId xmlns:a16="http://schemas.microsoft.com/office/drawing/2014/main" id="{0B94B777-B57D-4E9D-9AAE-73BE4F266CAD}"/>
              </a:ext>
            </a:extLst>
          </p:cNvPr>
          <p:cNvSpPr>
            <a:spLocks xmlns:a="http://schemas.openxmlformats.org/drawingml/2006/main" noGrp="1"/>
          </p:cNvSpPr>
          <p:nvPr/>
        </p:nvSpPr>
        <p:spPr>
          <a:xfrm xmlns:a="http://schemas.openxmlformats.org/drawingml/2006/main">
            <a:off x="9372600" y="2609850"/>
            <a:ext cx="38100" cy="2095500"/>
          </a:xfrm>
          <a:prstGeom xmlns:a="http://schemas.openxmlformats.org/drawingml/2006/main" prst="rect">
            <a:avLst/>
          </a:prstGeom>
          <a:solidFill xmlns:a="http://schemas.openxmlformats.org/drawingml/2006/main">
            <a:srgbClr val="7C3CFF"/>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0A75361B-4EA0-4B86-964D-E02C749E52B6}"/>
              </a:ext>
            </a:extLst>
          </p:cNvPr>
          <p:cNvSpPr>
            <a:spLocks xmlns:a="http://schemas.openxmlformats.org/drawingml/2006/main" noGrp="1"/>
          </p:cNvSpPr>
          <p:nvPr/>
        </p:nvSpPr>
        <p:spPr>
          <a:xfrm xmlns:a="http://schemas.openxmlformats.org/drawingml/2006/main">
            <a:off x="9544050" y="2895600"/>
            <a:ext cx="1352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7C3CFF"/>
                </a:solidFill>
                <a:latin typeface="Aptos"/>
                <a:ea typeface="Aptos"/>
                <a:cs typeface="Aptos"/>
              </a:defRPr>
            </a:pPr>
            <a:r>
              <a:rPr sz="1275" b="1">
                <a:solidFill>
                  <a:srgbClr val="7C3CFF"/>
                </a:solidFill>
                <a:latin typeface="Aptos"/>
                <a:ea typeface="Aptos"/>
                <a:cs typeface="Aptos"/>
              </a:rPr>
              <a:t>Cloud Depth</a:t>
            </a:r>
          </a:p>
        </p:txBody>
      </p:sp>
      <p:sp>
        <p:nvSpPr>
          <p:cNvPr id="28" name="">
            <a:extLst xmlns:a="http://schemas.openxmlformats.org/drawingml/2006/main">
              <a:ext uri="{FF2B5EF4-FFF2-40B4-BE49-F238E27FC236}">
                <a16:creationId xmlns:a16="http://schemas.microsoft.com/office/drawing/2014/main" id="{A5D175D3-34EF-4900-B37F-6CB36CB84E5D}"/>
              </a:ext>
            </a:extLst>
          </p:cNvPr>
          <p:cNvSpPr>
            <a:spLocks xmlns:a="http://schemas.openxmlformats.org/drawingml/2006/main" noGrp="1"/>
          </p:cNvSpPr>
          <p:nvPr/>
        </p:nvSpPr>
        <p:spPr>
          <a:xfrm xmlns:a="http://schemas.openxmlformats.org/drawingml/2006/main">
            <a:off x="9544050" y="3333750"/>
            <a:ext cx="1333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7ECFF"/>
                </a:solidFill>
                <a:latin typeface="Aptos"/>
                <a:ea typeface="Aptos"/>
                <a:cs typeface="Aptos"/>
              </a:defRPr>
            </a:pPr>
            <a:r>
              <a:rPr sz="975" b="0">
                <a:solidFill>
                  <a:srgbClr val="F7ECFF"/>
                </a:solidFill>
                <a:latin typeface="Aptos"/>
                <a:ea typeface="Aptos"/>
                <a:cs typeface="Aptos"/>
              </a:rPr>
              <a:t>Docker, managed secrets, deployment monitoring, stable hosting</a:t>
            </a:r>
          </a:p>
        </p:txBody>
      </p:sp>
      <p:sp>
        <p:nvSpPr>
          <p:cNvPr id="29" name="">
            <a:extLst xmlns:a="http://schemas.openxmlformats.org/drawingml/2006/main">
              <a:ext uri="{FF2B5EF4-FFF2-40B4-BE49-F238E27FC236}">
                <a16:creationId xmlns:a16="http://schemas.microsoft.com/office/drawing/2014/main" id="{05BA148F-904A-4154-B479-2E960FB05EF7}"/>
              </a:ext>
            </a:extLst>
          </p:cNvPr>
          <p:cNvSpPr>
            <a:spLocks xmlns:a="http://schemas.openxmlformats.org/drawingml/2006/main" noGrp="1"/>
          </p:cNvSpPr>
          <p:nvPr/>
        </p:nvSpPr>
        <p:spPr>
          <a:xfrm xmlns:a="http://schemas.openxmlformats.org/drawingml/2006/main">
            <a:off x="990600" y="5429250"/>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0FFE0"/>
                </a:solidFill>
                <a:latin typeface="Aptos"/>
                <a:ea typeface="Aptos"/>
                <a:cs typeface="Aptos"/>
              </a:defRPr>
            </a:pPr>
            <a:r>
              <a:rPr sz="1350" b="1">
                <a:solidFill>
                  <a:srgbClr val="00FFE0"/>
                </a:solidFill>
                <a:latin typeface="Aptos"/>
                <a:ea typeface="Aptos"/>
                <a:cs typeface="Aptos"/>
              </a:rPr>
              <a:t>Evaluator takeaway</a:t>
            </a:r>
          </a:p>
        </p:txBody>
      </p:sp>
      <p:sp>
        <p:nvSpPr>
          <p:cNvPr id="30" name="">
            <a:extLst xmlns:a="http://schemas.openxmlformats.org/drawingml/2006/main">
              <a:ext uri="{FF2B5EF4-FFF2-40B4-BE49-F238E27FC236}">
                <a16:creationId xmlns:a16="http://schemas.microsoft.com/office/drawing/2014/main" id="{5978ED22-DAAC-4A42-9D3E-41BC0E5680E4}"/>
              </a:ext>
            </a:extLst>
          </p:cNvPr>
          <p:cNvSpPr>
            <a:spLocks xmlns:a="http://schemas.openxmlformats.org/drawingml/2006/main" noGrp="1"/>
          </p:cNvSpPr>
          <p:nvPr/>
        </p:nvSpPr>
        <p:spPr>
          <a:xfrm xmlns:a="http://schemas.openxmlformats.org/drawingml/2006/main">
            <a:off x="990600" y="5753100"/>
            <a:ext cx="8763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7ECFF"/>
                </a:solidFill>
                <a:latin typeface="Aptos"/>
                <a:ea typeface="Aptos"/>
                <a:cs typeface="Aptos"/>
              </a:defRPr>
            </a:pPr>
            <a:r>
              <a:rPr sz="1200" b="0">
                <a:solidFill>
                  <a:srgbClr val="F7ECFF"/>
                </a:solidFill>
                <a:latin typeface="Aptos"/>
                <a:ea typeface="Aptos"/>
                <a:cs typeface="Aptos"/>
              </a:rPr>
              <a:t>EvoGuard is already an advanced prototype with a real frontend, backend, database, AI analysis logic, realtime events, reports, public deployment, screenshots, and a clear path toward a production-style SOC platform.</a:t>
            </a:r>
          </a:p>
        </p:txBody>
      </p:sp>
      <p:sp>
        <p:nvSpPr>
          <p:cNvPr id="31" name="">
            <a:extLst xmlns:a="http://schemas.openxmlformats.org/drawingml/2006/main">
              <a:ext uri="{FF2B5EF4-FFF2-40B4-BE49-F238E27FC236}">
                <a16:creationId xmlns:a16="http://schemas.microsoft.com/office/drawing/2014/main" id="{3C1A6E96-08F3-46EA-82A2-C347C5CB7666}"/>
              </a:ext>
            </a:extLst>
          </p:cNvPr>
          <p:cNvSpPr>
            <a:spLocks xmlns:a="http://schemas.openxmlformats.org/drawingml/2006/main" noGrp="1"/>
          </p:cNvSpPr>
          <p:nvPr/>
        </p:nvSpPr>
        <p:spPr>
          <a:xfrm xmlns:a="http://schemas.openxmlformats.org/drawingml/2006/main">
            <a:off x="685800" y="6400800"/>
            <a:ext cx="590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A997BA"/>
                </a:solidFill>
                <a:latin typeface="Aptos"/>
                <a:ea typeface="Aptos"/>
                <a:cs typeface="Aptos"/>
              </a:defRPr>
            </a:pPr>
            <a:r>
              <a:rPr sz="750" b="0">
                <a:solidFill>
                  <a:srgbClr val="A997BA"/>
                </a:solidFill>
                <a:latin typeface="Aptos"/>
                <a:ea typeface="Aptos"/>
                <a:cs typeface="Aptos"/>
              </a:rPr>
              <a:t>EvoGuard Enterprise - Agentic AI Cyber Defense Platform</a:t>
            </a:r>
          </a:p>
        </p:txBody>
      </p:sp>
      <p:sp>
        <p:nvSpPr>
          <p:cNvPr id="32" name="">
            <a:extLst xmlns:a="http://schemas.openxmlformats.org/drawingml/2006/main">
              <a:ext uri="{FF2B5EF4-FFF2-40B4-BE49-F238E27FC236}">
                <a16:creationId xmlns:a16="http://schemas.microsoft.com/office/drawing/2014/main" id="{EDD5C7F0-A80D-422D-B039-565E3C967F03}"/>
              </a:ext>
            </a:extLst>
          </p:cNvPr>
          <p:cNvSpPr>
            <a:spLocks xmlns:a="http://schemas.openxmlformats.org/drawingml/2006/main" noGrp="1"/>
          </p:cNvSpPr>
          <p:nvPr/>
        </p:nvSpPr>
        <p:spPr>
          <a:xfrm xmlns:a="http://schemas.openxmlformats.org/drawingml/2006/main">
            <a:off x="11125200" y="636270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00FFE0"/>
                </a:solidFill>
                <a:latin typeface="Aptos"/>
                <a:ea typeface="Aptos"/>
                <a:cs typeface="Aptos"/>
              </a:defRPr>
            </a:pPr>
            <a:r>
              <a:rPr sz="975" b="1">
                <a:solidFill>
                  <a:srgbClr val="00FFE0"/>
                </a:solidFill>
                <a:latin typeface="Aptos"/>
                <a:ea typeface="Aptos"/>
                <a:cs typeface="Aptos"/>
              </a:rPr>
              <a:t>12</a:t>
            </a:r>
          </a:p>
        </p:txBody>
      </p:sp>
    </p:spTree>
    <p:extLst>
      <p:ext uri="{BB962C8B-B14F-4D97-AF65-F5344CB8AC3E}">
        <p14:creationId xmlns:p14="http://schemas.microsoft.com/office/powerpoint/2010/main" val="6941555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2026-05-27T21:30:44.5530000Z</dcterms:created>
  <dcterms:modified xsi:type="dcterms:W3CDTF">2026-05-27T21:30:44.5530000Z</dcterms:modified>
</coreProperties>
</file>